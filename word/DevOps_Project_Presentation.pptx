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2770b68-b3b9-99f8-73c8-9c781f244406}">
          <p14:sldIdLst>
            <p14:sldId id="256"/>
            <p14:sldId id="257"/>
            <p14:sldId id="258"/>
          </p14:sldIdLst>
        </p14:section>
        <p14:section name="Design" id="{ce387df8-09ca-5880-b988-bb5aa5bb2e26}">
          <p14:sldIdLst>
            <p14:sldId id="259"/>
            <p14:sldId id="260"/>
            <p14:sldId id="261"/>
          </p14:sldIdLst>
        </p14:section>
        <p14:section name="Pipeline" id="{418e9528-a3d4-5482-2973-474a0d141be4}">
          <p14:sldIdLst>
            <p14:sldId id="262"/>
            <p14:sldId id="263"/>
            <p14:sldId id="264"/>
            <p14:sldId id="265"/>
            <p14:sldId id="266"/>
            <p14:sldId id="267"/>
          </p14:sldIdLst>
        </p14:section>
        <p14:section name="Outcome" id="{e6870d28-61e1-10e8-4595-0fe2251d0369}">
          <p14:sldIdLst>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respected evaluators. Today I will present my DevOps project, the Travel Insurance Claim System with a complete automated Continuous Delivery and Infrastructure lifecycle. I will show how modern DevOps practices turn a manual insurance process into an automated, zero-downtime deployment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Historically, travel insurance claim verification required couriering paperwork and took weeks, with a high rate of manual error. In this project we removed the bottlenecks on two fronts: first by digitizing the claim workflow, and second by automating the whole build, test, containerization and deployment lifecycle with DevOps.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primary objective is not just a working web app, but an enterprise-grade automated pipeline that covers the 15 prescribed DevOps lab tasks: Git workflows, Jenkins CI, Selenium automation, Docker packaging and Ansible configuration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follows a clean 3-tier separation. The frontend talks to Spring Boot REST endpoints on port 8081. Every commit goes through the DevOps toolchain: Git for versioning, Jenkins for CI, Selenium for UI checks, Docker for portable execution and Ansible for server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organized the project into 5 Agile sprints covering 15 tasks. Each sprint produced a verified deliverable with its own tests, configuration files and screenshots.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Tasks 5 and 6 we enforced industry-standard source control hygiene. We created feature branches for isolated work, merged through pull requests, and resolved a real merge conflict between two concurrent branches by inspecting the markers, choosing the correct configuration and committing the merge.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Tasks 8 and 10 implement Jenkins Pipeline as Code. Using a declarative Jenkinsfile we automate Checkout, Build, Testing and Packaging. Jenkins runs on port 8080 and records test trends with the JUnit Surefire plugin.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Tasks 9 and 10 we automated end-to-end user journeys with Selenium WebDriver in headless Chrome. We verify that a customer can submit a claim, that reviewers can approve or reject with a reason, and that validation catches invalid entries, all running automatically inside Jenkins.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11 focuses on container optimization and security. A multi-stage build discards the heavy JDK and build tools and leaves only a slim JRE runtime. The container also runs under a non-root devops user, which reduces the risk of container breakout.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Task 12, Continuous Deployment promotes every passing build to the production container. It stops the old container, launches the new image, and checks the live HTTP response before the build is marked successful.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13 introduces Ansible for configuration management. We manage the application state, JDK prerequisites and systemd service files declaratively. Because Ansible is idempotent, running a playbook again keeps the server in the same state without causing instability.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Task 14 we engineered fault tolerance. Every deployment is followed by an automated health check. If an error occurs, Ansible runs rollback.yml and restores the previous stable build within seconds, which gives us self-healing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verified results. Claim processing dropped from about 15 days to under 5 minutes. On the engineering side, build and testing went from hours of manual QA to under 30 seconds of automated execution with a 100% test pass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screens from the live environment show both ends of the platform: travelers submitting flight and baggage claims, and insurance officers auditing them with one-click approve and reject actions. Replace each dashed frame with the matching screenshot from docs/screenshots.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this project meets all the academic objectives while demonstrating enterprise DevOps practice. In the future we plan to extend the pipeline to Kubernetes clusters with GitOps and Prometheus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would like to thank Dr. Snehal Andhare and the Department of Computer Engineering for their continuous guidance. I am now open to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100" dirty="0">
                <a:solidFill>
                  <a:schemeClr val="accent6"/>
                </a:solidFill>
              </a:rPr>
              <a:t>Hasnain Khan  |  23102A0075  |  DevOps</a:t>
            </a:r>
            <a:endParaRPr lang="en-US" sz="1100" dirty="0"/>
          </a:p>
        </p:txBody>
      </p:sp>
      <p:sp>
        <p:nvSpPr>
          <p:cNvPr id="3" name="Text 1"/>
          <p:cNvSpPr/>
          <p:nvPr>
            <p:ph idx="101" type="title" hasCustomPrompt="1"/>
          </p:nvPr>
        </p:nvSpPr>
        <p:spPr>
          <a:xfrm>
            <a:off x="548640" y="365760"/>
            <a:ext cx="11091672" cy="868680"/>
          </a:xfrm>
          <a:prstGeom prst="rect">
            <a:avLst/>
          </a:prstGeom>
          <a:noFill/>
          <a:ln/>
        </p:spPr>
        <p:txBody>
          <a:bodyPr wrap="square" rtlCol="0"/>
          <a:lstStyle>
            <a:lvl1pPr indent="0" marL="0">
              <a:buNone/>
              <a:defRPr lang="en-US" sz="3400" b="1" dirty="0">
                <a:solidFill>
                  <a:schemeClr val="tx1"/>
                </a:solidFill>
              </a:defRPr>
            </a:lvl1pPr>
          </a:lstStyle>
          <a:p>
            <a:pPr indent="0" marL="0">
              <a:buNone/>
            </a:pPr>
            <a:endParaRPr lang="en-US" sz="3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100" dirty="0">
                <a:solidFill>
                  <a:schemeClr val="accent3"/>
                </a:solidFill>
              </a:rPr>
              <a:t>Hasnain Khan  |  23102A0075  |  DevOps</a:t>
            </a:r>
            <a:endParaRPr lang="en-US" sz="1100" dirty="0"/>
          </a:p>
        </p:txBody>
      </p:sp>
      <p:sp>
        <p:nvSpPr>
          <p:cNvPr id="3" name="Text 1"/>
          <p:cNvSpPr/>
          <p:nvPr>
            <p:ph idx="101" type="title" hasCustomPrompt="1"/>
          </p:nvPr>
        </p:nvSpPr>
        <p:spPr>
          <a:xfrm>
            <a:off x="548640" y="365760"/>
            <a:ext cx="11091672" cy="868680"/>
          </a:xfrm>
          <a:prstGeom prst="rect">
            <a:avLst/>
          </a:prstGeom>
          <a:noFill/>
          <a:ln/>
        </p:spPr>
        <p:txBody>
          <a:bodyPr wrap="square" rtlCol="0"/>
          <a:lstStyle>
            <a:lvl1pPr indent="0" marL="0">
              <a:buNone/>
              <a:defRPr lang="en-US" sz="3400" b="1" dirty="0">
                <a:solidFill>
                  <a:schemeClr val="bg1"/>
                </a:solidFill>
              </a:defRPr>
            </a:lvl1pPr>
          </a:lstStyle>
          <a:p>
            <a:pPr indent="0" marL="0">
              <a:buNone/>
            </a:pPr>
            <a:endParaRPr lang="en-US" sz="3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r circle 1"/>
          <p:cNvSpPr/>
          <p:nvPr/>
        </p:nvSpPr>
        <p:spPr>
          <a:xfrm>
            <a:off x="8229600" y="822960"/>
            <a:ext cx="3291840" cy="3291840"/>
          </a:xfrm>
          <a:prstGeom prst="ellipse">
            <a:avLst/>
          </a:prstGeom>
          <a:solidFill>
            <a:schemeClr val="accent1">
              <a:alpha val="28000"/>
            </a:schemeClr>
          </a:solidFill>
          <a:ln/>
        </p:spPr>
      </p:sp>
      <p:sp>
        <p:nvSpPr>
          <p:cNvPr id="3" name="Decor circle 2"/>
          <p:cNvSpPr/>
          <p:nvPr/>
        </p:nvSpPr>
        <p:spPr>
          <a:xfrm>
            <a:off x="9784080" y="3383280"/>
            <a:ext cx="2194560" cy="2194560"/>
          </a:xfrm>
          <a:prstGeom prst="ellipse">
            <a:avLst/>
          </a:prstGeom>
          <a:solidFill>
            <a:schemeClr val="accent2">
              <a:alpha val="38000"/>
            </a:schemeClr>
          </a:solidFill>
          <a:ln/>
        </p:spPr>
      </p:sp>
      <p:sp>
        <p:nvSpPr>
          <p:cNvPr id="4" name="Decor circle 3"/>
          <p:cNvSpPr/>
          <p:nvPr/>
        </p:nvSpPr>
        <p:spPr>
          <a:xfrm>
            <a:off x="7772400" y="3840480"/>
            <a:ext cx="1554480" cy="1554480"/>
          </a:xfrm>
          <a:prstGeom prst="ellipse">
            <a:avLst/>
          </a:prstGeom>
          <a:solidFill>
            <a:schemeClr val="accent3">
              <a:alpha val="38000"/>
            </a:schemeClr>
          </a:solidFill>
          <a:ln/>
        </p:spPr>
      </p:sp>
      <p:pic>
        <p:nvPicPr>
          <p:cNvPr id="5" name="Docker icon" descr="Docker">    </p:cNvPr>
          <p:cNvPicPr>
            <a:picLocks noChangeAspect="1"/>
          </p:cNvPicPr>
          <p:nvPr/>
        </p:nvPicPr>
        <p:blipFill>
          <a:blip r:embed="rId1"/>
          <a:stretch>
            <a:fillRect/>
          </a:stretch>
        </p:blipFill>
        <p:spPr>
          <a:xfrm>
            <a:off x="9281160" y="1691640"/>
            <a:ext cx="1371600" cy="1371600"/>
          </a:xfrm>
          <a:prstGeom prst="rect">
            <a:avLst/>
          </a:prstGeom>
        </p:spPr>
      </p:pic>
      <p:pic>
        <p:nvPicPr>
          <p:cNvPr id="6" name="Gear icon" descr="Automation">    </p:cNvPr>
          <p:cNvPicPr>
            <a:picLocks noChangeAspect="1"/>
          </p:cNvPicPr>
          <p:nvPr/>
        </p:nvPicPr>
        <p:blipFill>
          <a:blip r:embed="rId2"/>
          <a:stretch>
            <a:fillRect/>
          </a:stretch>
        </p:blipFill>
        <p:spPr>
          <a:xfrm>
            <a:off x="10287000" y="3931920"/>
            <a:ext cx="822960" cy="822960"/>
          </a:xfrm>
          <a:prstGeom prst="rect">
            <a:avLst/>
          </a:prstGeom>
        </p:spPr>
      </p:pic>
      <p:pic>
        <p:nvPicPr>
          <p:cNvPr id="7" name="Git icon" descr="Git">    </p:cNvPr>
          <p:cNvPicPr>
            <a:picLocks noChangeAspect="1"/>
          </p:cNvPicPr>
          <p:nvPr/>
        </p:nvPicPr>
        <p:blipFill>
          <a:blip r:embed="rId3"/>
          <a:stretch>
            <a:fillRect/>
          </a:stretch>
        </p:blipFill>
        <p:spPr>
          <a:xfrm>
            <a:off x="8138160" y="4160520"/>
            <a:ext cx="822960" cy="822960"/>
          </a:xfrm>
          <a:prstGeom prst="rect">
            <a:avLst/>
          </a:prstGeom>
        </p:spPr>
      </p:pic>
      <p:sp>
        <p:nvSpPr>
          <p:cNvPr id="8" name="Text 3"/>
          <p:cNvSpPr txBox="1"/>
          <p:nvPr/>
        </p:nvSpPr>
        <p:spPr>
          <a:xfrm>
            <a:off x="731520" y="731520"/>
            <a:ext cx="7315200" cy="365760"/>
          </a:xfrm>
          <a:prstGeom prst="rect">
            <a:avLst/>
          </a:prstGeom>
          <a:noFill/>
          <a:ln/>
        </p:spPr>
        <p:txBody>
          <a:bodyPr wrap="square" lIns="0" tIns="0" rIns="0" bIns="0" rtlCol="0" anchor="t"/>
          <a:lstStyle/>
          <a:p>
            <a:pPr indent="0" marL="0">
              <a:buNone/>
            </a:pPr>
            <a:r>
              <a:rPr lang="en-US" sz="1400" b="1" spc="200" kern="0" dirty="0">
                <a:solidFill>
                  <a:schemeClr val="accent3"/>
                </a:solidFill>
              </a:rPr>
              <a:t>DEVOPS PRACTICAL  |  PROJECT PRESENTATION</a:t>
            </a:r>
            <a:endParaRPr lang="en-US" sz="1400" dirty="0"/>
          </a:p>
        </p:txBody>
      </p:sp>
      <p:sp>
        <p:nvSpPr>
          <p:cNvPr id="9" name="Text 4"/>
          <p:cNvSpPr/>
          <p:nvPr/>
        </p:nvSpPr>
        <p:spPr>
          <a:xfrm>
            <a:off x="731520" y="1371600"/>
            <a:ext cx="7315200" cy="1005840"/>
          </a:xfrm>
          <a:prstGeom prst="rect">
            <a:avLst/>
          </a:prstGeom>
          <a:noFill/>
          <a:ln/>
        </p:spPr>
        <p:txBody>
          <a:bodyPr wrap="square" lIns="0" tIns="0" rIns="0" bIns="0" rtlCol="0" anchor="t"/>
          <a:lstStyle/>
          <a:p>
            <a:pPr indent="0" marL="0">
              <a:buNone/>
            </a:pPr>
            <a:r>
              <a:rPr lang="en-US" sz="4400" b="1" dirty="0">
                <a:solidFill>
                  <a:schemeClr val="bg1"/>
                </a:solidFill>
              </a:rPr>
              <a:t>Travel Insurance Claim System</a:t>
            </a:r>
            <a:endParaRPr lang="en-US" sz="4400" dirty="0"/>
          </a:p>
        </p:txBody>
      </p:sp>
      <p:sp>
        <p:nvSpPr>
          <p:cNvPr id="10" name="Text 5"/>
          <p:cNvSpPr txBox="1"/>
          <p:nvPr/>
        </p:nvSpPr>
        <p:spPr>
          <a:xfrm>
            <a:off x="731520" y="2423160"/>
            <a:ext cx="7315200" cy="640080"/>
          </a:xfrm>
          <a:prstGeom prst="rect">
            <a:avLst/>
          </a:prstGeom>
          <a:noFill/>
          <a:ln/>
        </p:spPr>
        <p:txBody>
          <a:bodyPr wrap="square" lIns="0" tIns="0" rIns="0" bIns="0" rtlCol="0" anchor="t"/>
          <a:lstStyle/>
          <a:p>
            <a:pPr indent="0" marL="0">
              <a:buNone/>
            </a:pPr>
            <a:r>
              <a:rPr lang="en-US" sz="3000" b="1" dirty="0">
                <a:solidFill>
                  <a:schemeClr val="accent3"/>
                </a:solidFill>
              </a:rPr>
              <a:t>Automated DevOps CI/CD Lifecycle</a:t>
            </a:r>
            <a:endParaRPr lang="en-US" sz="3000" dirty="0"/>
          </a:p>
        </p:txBody>
      </p:sp>
      <p:sp>
        <p:nvSpPr>
          <p:cNvPr id="11" name="Text 6"/>
          <p:cNvSpPr txBox="1"/>
          <p:nvPr/>
        </p:nvSpPr>
        <p:spPr>
          <a:xfrm>
            <a:off x="731520" y="3383280"/>
            <a:ext cx="7315200" cy="1188720"/>
          </a:xfrm>
          <a:prstGeom prst="rect">
            <a:avLst/>
          </a:prstGeom>
          <a:noFill/>
          <a:ln/>
        </p:spPr>
        <p:txBody>
          <a:bodyPr wrap="square" lIns="0" tIns="0" rIns="0" bIns="0" rtlCol="0" anchor="t"/>
          <a:lstStyle/>
          <a:p>
            <a:pPr indent="0" marL="0">
              <a:spcAft>
                <a:spcPts val="600"/>
              </a:spcAft>
              <a:buNone/>
            </a:pPr>
            <a:r>
              <a:rPr lang="en-US" sz="1800" b="1" dirty="0">
                <a:solidFill>
                  <a:schemeClr val="bg1"/>
                </a:solidFill>
              </a:rPr>
              <a:t>Hasnain Khan  |  Roll No: 23102A0075  |  CMPN A</a:t>
            </a:r>
            <a:endParaRPr lang="en-US" sz="1400" dirty="0"/>
          </a:p>
          <a:p>
            <a:pPr indent="0" marL="0">
              <a:spcAft>
                <a:spcPts val="600"/>
              </a:spcAft>
              <a:buNone/>
            </a:pPr>
            <a:r>
              <a:rPr lang="en-US" sz="1600" dirty="0">
                <a:solidFill>
                  <a:schemeClr val="bg2"/>
                </a:solidFill>
              </a:rPr>
              <a:t>Subject: DevOps  |  Faculty: Dr. Snehal Andhare  |  Lab: M310B</a:t>
            </a:r>
            <a:endParaRPr lang="en-US" sz="1400" dirty="0"/>
          </a:p>
          <a:p>
            <a:pPr indent="0" marL="0">
              <a:spcAft>
                <a:spcPts val="600"/>
              </a:spcAft>
              <a:buNone/>
            </a:pPr>
            <a:r>
              <a:rPr lang="en-US" sz="1600" dirty="0">
                <a:solidFill>
                  <a:schemeClr val="bg2"/>
                </a:solidFill>
              </a:rPr>
              <a:t>B.E. Computer Engineering, Sem VII  |  AY 2026-27</a:t>
            </a:r>
            <a:endParaRPr lang="en-US" sz="1400" dirty="0"/>
          </a:p>
        </p:txBody>
      </p:sp>
      <p:sp>
        <p:nvSpPr>
          <p:cNvPr id="12" name="Tool badge Spring Boot"/>
          <p:cNvSpPr/>
          <p:nvPr/>
        </p:nvSpPr>
        <p:spPr>
          <a:xfrm>
            <a:off x="731520" y="5212080"/>
            <a:ext cx="1463040" cy="457200"/>
          </a:xfrm>
          <a:prstGeom prst="roundRect">
            <a:avLst>
              <a:gd name="adj" fmla="val 50000"/>
            </a:avLst>
          </a:prstGeom>
          <a:solidFill>
            <a:schemeClr val="accent1">
              <a:alpha val="20000"/>
            </a:schemeClr>
          </a:solidFill>
          <a:ln w="12700">
            <a:solidFill>
              <a:schemeClr val="accent3"/>
            </a:solidFill>
            <a:prstDash val="solid"/>
          </a:ln>
        </p:spPr>
      </p:sp>
      <p:sp>
        <p:nvSpPr>
          <p:cNvPr id="13" name="Text 8"/>
          <p:cNvSpPr txBox="1"/>
          <p:nvPr/>
        </p:nvSpPr>
        <p:spPr>
          <a:xfrm>
            <a:off x="731520" y="5212080"/>
            <a:ext cx="1463040" cy="457200"/>
          </a:xfrm>
          <a:prstGeom prst="rect">
            <a:avLst/>
          </a:prstGeom>
          <a:noFill/>
          <a:ln/>
        </p:spPr>
        <p:txBody>
          <a:bodyPr wrap="square" lIns="0" tIns="0" rIns="0" bIns="0" rtlCol="0" anchor="ctr"/>
          <a:lstStyle/>
          <a:p>
            <a:pPr algn="ctr" indent="0" marL="0">
              <a:buNone/>
            </a:pPr>
            <a:r>
              <a:rPr lang="en-US" sz="1400" b="1" dirty="0">
                <a:solidFill>
                  <a:schemeClr val="bg1"/>
                </a:solidFill>
              </a:rPr>
              <a:t>Spring Boot</a:t>
            </a:r>
            <a:endParaRPr lang="en-US" sz="1400" dirty="0"/>
          </a:p>
        </p:txBody>
      </p:sp>
      <p:sp>
        <p:nvSpPr>
          <p:cNvPr id="14" name="Tool badge Jenkins"/>
          <p:cNvSpPr/>
          <p:nvPr/>
        </p:nvSpPr>
        <p:spPr>
          <a:xfrm>
            <a:off x="2304288" y="5212080"/>
            <a:ext cx="1463040" cy="457200"/>
          </a:xfrm>
          <a:prstGeom prst="roundRect">
            <a:avLst>
              <a:gd name="adj" fmla="val 50000"/>
            </a:avLst>
          </a:prstGeom>
          <a:solidFill>
            <a:schemeClr val="accent1">
              <a:alpha val="20000"/>
            </a:schemeClr>
          </a:solidFill>
          <a:ln w="12700">
            <a:solidFill>
              <a:schemeClr val="accent3"/>
            </a:solidFill>
            <a:prstDash val="solid"/>
          </a:ln>
        </p:spPr>
      </p:sp>
      <p:sp>
        <p:nvSpPr>
          <p:cNvPr id="15" name="Text 10"/>
          <p:cNvSpPr txBox="1"/>
          <p:nvPr/>
        </p:nvSpPr>
        <p:spPr>
          <a:xfrm>
            <a:off x="2304288" y="5212080"/>
            <a:ext cx="1463040" cy="457200"/>
          </a:xfrm>
          <a:prstGeom prst="rect">
            <a:avLst/>
          </a:prstGeom>
          <a:noFill/>
          <a:ln/>
        </p:spPr>
        <p:txBody>
          <a:bodyPr wrap="square" lIns="0" tIns="0" rIns="0" bIns="0" rtlCol="0" anchor="ctr"/>
          <a:lstStyle/>
          <a:p>
            <a:pPr algn="ctr" indent="0" marL="0">
              <a:buNone/>
            </a:pPr>
            <a:r>
              <a:rPr lang="en-US" sz="1400" b="1" dirty="0">
                <a:solidFill>
                  <a:schemeClr val="bg1"/>
                </a:solidFill>
              </a:rPr>
              <a:t>Jenkins</a:t>
            </a:r>
            <a:endParaRPr lang="en-US" sz="1400" dirty="0"/>
          </a:p>
        </p:txBody>
      </p:sp>
      <p:sp>
        <p:nvSpPr>
          <p:cNvPr id="16" name="Tool badge Docker"/>
          <p:cNvSpPr/>
          <p:nvPr/>
        </p:nvSpPr>
        <p:spPr>
          <a:xfrm>
            <a:off x="3877056" y="5212080"/>
            <a:ext cx="1463040" cy="457200"/>
          </a:xfrm>
          <a:prstGeom prst="roundRect">
            <a:avLst>
              <a:gd name="adj" fmla="val 50000"/>
            </a:avLst>
          </a:prstGeom>
          <a:solidFill>
            <a:schemeClr val="accent1">
              <a:alpha val="20000"/>
            </a:schemeClr>
          </a:solidFill>
          <a:ln w="12700">
            <a:solidFill>
              <a:schemeClr val="accent3"/>
            </a:solidFill>
            <a:prstDash val="solid"/>
          </a:ln>
        </p:spPr>
      </p:sp>
      <p:sp>
        <p:nvSpPr>
          <p:cNvPr id="17" name="Text 12"/>
          <p:cNvSpPr txBox="1"/>
          <p:nvPr/>
        </p:nvSpPr>
        <p:spPr>
          <a:xfrm>
            <a:off x="3877056" y="5212080"/>
            <a:ext cx="1463040" cy="457200"/>
          </a:xfrm>
          <a:prstGeom prst="rect">
            <a:avLst/>
          </a:prstGeom>
          <a:noFill/>
          <a:ln/>
        </p:spPr>
        <p:txBody>
          <a:bodyPr wrap="square" lIns="0" tIns="0" rIns="0" bIns="0" rtlCol="0" anchor="ctr"/>
          <a:lstStyle/>
          <a:p>
            <a:pPr algn="ctr" indent="0" marL="0">
              <a:buNone/>
            </a:pPr>
            <a:r>
              <a:rPr lang="en-US" sz="1400" b="1" dirty="0">
                <a:solidFill>
                  <a:schemeClr val="bg1"/>
                </a:solidFill>
              </a:rPr>
              <a:t>Docker</a:t>
            </a:r>
            <a:endParaRPr lang="en-US" sz="1400" dirty="0"/>
          </a:p>
        </p:txBody>
      </p:sp>
      <p:sp>
        <p:nvSpPr>
          <p:cNvPr id="18" name="Tool badge Ansible"/>
          <p:cNvSpPr/>
          <p:nvPr/>
        </p:nvSpPr>
        <p:spPr>
          <a:xfrm>
            <a:off x="5449824" y="5212080"/>
            <a:ext cx="1463040" cy="457200"/>
          </a:xfrm>
          <a:prstGeom prst="roundRect">
            <a:avLst>
              <a:gd name="adj" fmla="val 50000"/>
            </a:avLst>
          </a:prstGeom>
          <a:solidFill>
            <a:schemeClr val="accent1">
              <a:alpha val="20000"/>
            </a:schemeClr>
          </a:solidFill>
          <a:ln w="12700">
            <a:solidFill>
              <a:schemeClr val="accent3"/>
            </a:solidFill>
            <a:prstDash val="solid"/>
          </a:ln>
        </p:spPr>
      </p:sp>
      <p:sp>
        <p:nvSpPr>
          <p:cNvPr id="19" name="Text 14"/>
          <p:cNvSpPr txBox="1"/>
          <p:nvPr/>
        </p:nvSpPr>
        <p:spPr>
          <a:xfrm>
            <a:off x="5449824" y="5212080"/>
            <a:ext cx="1463040" cy="457200"/>
          </a:xfrm>
          <a:prstGeom prst="rect">
            <a:avLst/>
          </a:prstGeom>
          <a:noFill/>
          <a:ln/>
        </p:spPr>
        <p:txBody>
          <a:bodyPr wrap="square" lIns="0" tIns="0" rIns="0" bIns="0" rtlCol="0" anchor="ctr"/>
          <a:lstStyle/>
          <a:p>
            <a:pPr algn="ctr" indent="0" marL="0">
              <a:buNone/>
            </a:pPr>
            <a:r>
              <a:rPr lang="en-US" sz="1400" b="1" dirty="0">
                <a:solidFill>
                  <a:schemeClr val="bg1"/>
                </a:solidFill>
              </a:rPr>
              <a:t>Ansible</a:t>
            </a:r>
            <a:endParaRPr lang="en-US" sz="1400" dirty="0"/>
          </a:p>
        </p:txBody>
      </p:sp>
      <p:sp>
        <p:nvSpPr>
          <p:cNvPr id="20" name="Tool badge Selenium"/>
          <p:cNvSpPr/>
          <p:nvPr/>
        </p:nvSpPr>
        <p:spPr>
          <a:xfrm>
            <a:off x="7022592" y="5212080"/>
            <a:ext cx="1463040" cy="457200"/>
          </a:xfrm>
          <a:prstGeom prst="roundRect">
            <a:avLst>
              <a:gd name="adj" fmla="val 50000"/>
            </a:avLst>
          </a:prstGeom>
          <a:solidFill>
            <a:schemeClr val="accent1">
              <a:alpha val="20000"/>
            </a:schemeClr>
          </a:solidFill>
          <a:ln w="12700">
            <a:solidFill>
              <a:schemeClr val="accent3"/>
            </a:solidFill>
            <a:prstDash val="solid"/>
          </a:ln>
        </p:spPr>
      </p:sp>
      <p:sp>
        <p:nvSpPr>
          <p:cNvPr id="21" name="Text 16"/>
          <p:cNvSpPr txBox="1"/>
          <p:nvPr/>
        </p:nvSpPr>
        <p:spPr>
          <a:xfrm>
            <a:off x="7022592" y="5212080"/>
            <a:ext cx="1463040" cy="457200"/>
          </a:xfrm>
          <a:prstGeom prst="rect">
            <a:avLst/>
          </a:prstGeom>
          <a:noFill/>
          <a:ln/>
        </p:spPr>
        <p:txBody>
          <a:bodyPr wrap="square" lIns="0" tIns="0" rIns="0" bIns="0" rtlCol="0" anchor="ctr"/>
          <a:lstStyle/>
          <a:p>
            <a:pPr algn="ctr" indent="0" marL="0">
              <a:buNone/>
            </a:pPr>
            <a:r>
              <a:rPr lang="en-US" sz="1400" b="1" dirty="0">
                <a:solidFill>
                  <a:schemeClr val="bg1"/>
                </a:solidFill>
              </a:rPr>
              <a:t>Selenium</a:t>
            </a:r>
            <a:endParaRPr lang="en-US" sz="1400" dirty="0"/>
          </a:p>
        </p:txBody>
      </p:sp>
      <p:sp>
        <p:nvSpPr>
          <p:cNvPr id="22" name="Tool badge Git"/>
          <p:cNvSpPr/>
          <p:nvPr/>
        </p:nvSpPr>
        <p:spPr>
          <a:xfrm>
            <a:off x="8595360" y="5212080"/>
            <a:ext cx="1463040" cy="457200"/>
          </a:xfrm>
          <a:prstGeom prst="roundRect">
            <a:avLst>
              <a:gd name="adj" fmla="val 50000"/>
            </a:avLst>
          </a:prstGeom>
          <a:solidFill>
            <a:schemeClr val="accent1">
              <a:alpha val="20000"/>
            </a:schemeClr>
          </a:solidFill>
          <a:ln w="12700">
            <a:solidFill>
              <a:schemeClr val="accent3"/>
            </a:solidFill>
            <a:prstDash val="solid"/>
          </a:ln>
        </p:spPr>
      </p:sp>
      <p:sp>
        <p:nvSpPr>
          <p:cNvPr id="23" name="Text 18"/>
          <p:cNvSpPr txBox="1"/>
          <p:nvPr/>
        </p:nvSpPr>
        <p:spPr>
          <a:xfrm>
            <a:off x="8595360" y="5212080"/>
            <a:ext cx="1463040" cy="457200"/>
          </a:xfrm>
          <a:prstGeom prst="rect">
            <a:avLst/>
          </a:prstGeom>
          <a:noFill/>
          <a:ln/>
        </p:spPr>
        <p:txBody>
          <a:bodyPr wrap="square" lIns="0" tIns="0" rIns="0" bIns="0" rtlCol="0" anchor="ctr"/>
          <a:lstStyle/>
          <a:p>
            <a:pPr algn="ctr" indent="0" marL="0">
              <a:buNone/>
            </a:pPr>
            <a:r>
              <a:rPr lang="en-US" sz="1400" b="1" dirty="0">
                <a:solidFill>
                  <a:schemeClr val="bg1"/>
                </a:solidFill>
              </a:rPr>
              <a:t>Git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68680"/>
          </a:xfrm>
          <a:prstGeom prst="rect">
            <a:avLst/>
          </a:prstGeom>
          <a:noFill/>
          <a:ln/>
        </p:spPr>
        <p:txBody>
          <a:bodyPr wrap="square" lIns="0" tIns="0" rIns="0" bIns="0" rtlCol="0" anchor="ctr"/>
          <a:lstStyle/>
          <a:p>
            <a:pPr indent="0" marL="0">
              <a:buNone/>
            </a:pPr>
            <a:r>
              <a:rPr lang="en-US" sz="3400" b="1" dirty="0">
                <a:solidFill>
                  <a:schemeClr val="tx1"/>
                </a:solidFill>
              </a:rPr>
              <a:t>Legacy claims vs DevOps automation</a:t>
            </a:r>
            <a:endParaRPr lang="en-US" sz="3400" dirty="0"/>
          </a:p>
        </p:txBody>
      </p:sp>
      <p:sp>
        <p:nvSpPr>
          <p:cNvPr id="3" name="Card Manual process today"/>
          <p:cNvSpPr/>
          <p:nvPr/>
        </p:nvSpPr>
        <p:spPr>
          <a:xfrm>
            <a:off x="548640" y="1463040"/>
            <a:ext cx="5394960" cy="4526280"/>
          </a:xfrm>
          <a:prstGeom prst="roundRect">
            <a:avLst>
              <a:gd name="adj" fmla="val 2020"/>
            </a:avLst>
          </a:prstGeom>
          <a:solidFill>
            <a:schemeClr val="bg1"/>
          </a:solidFill>
          <a:ln/>
          <a:effectLst>
            <a:outerShdw sx="100000" sy="100000" kx="0" ky="0" algn="bl" rotWithShape="0" blurRad="101600" dist="25400" dir="5400000">
              <a:srgbClr val="000000">
                <a:alpha val="14000"/>
              </a:srgbClr>
            </a:outerShdw>
          </a:effectLst>
        </p:spPr>
      </p:sp>
      <p:sp>
        <p:nvSpPr>
          <p:cNvPr id="4" name="Icon Manual process today bg"/>
          <p:cNvSpPr/>
          <p:nvPr/>
        </p:nvSpPr>
        <p:spPr>
          <a:xfrm>
            <a:off x="822960" y="1737360"/>
            <a:ext cx="548640" cy="548640"/>
          </a:xfrm>
          <a:prstGeom prst="ellipse">
            <a:avLst/>
          </a:prstGeom>
          <a:solidFill>
            <a:schemeClr val="accent4"/>
          </a:solidFill>
          <a:ln/>
        </p:spPr>
      </p:sp>
      <p:pic>
        <p:nvPicPr>
          <p:cNvPr id="5" name="Icon Manual process today" descr="Icon Manual process today">    </p:cNvPr>
          <p:cNvPicPr>
            <a:picLocks noChangeAspect="1"/>
          </p:cNvPicPr>
          <p:nvPr/>
        </p:nvPicPr>
        <p:blipFill>
          <a:blip r:embed="rId1"/>
          <a:stretch>
            <a:fillRect/>
          </a:stretch>
        </p:blipFill>
        <p:spPr>
          <a:xfrm>
            <a:off x="965606" y="1880006"/>
            <a:ext cx="263347" cy="263347"/>
          </a:xfrm>
          <a:prstGeom prst="rect">
            <a:avLst/>
          </a:prstGeom>
        </p:spPr>
      </p:pic>
      <p:sp>
        <p:nvSpPr>
          <p:cNvPr id="6" name="Text 3"/>
          <p:cNvSpPr txBox="1"/>
          <p:nvPr/>
        </p:nvSpPr>
        <p:spPr>
          <a:xfrm>
            <a:off x="1554480" y="1737360"/>
            <a:ext cx="4114800" cy="548640"/>
          </a:xfrm>
          <a:prstGeom prst="rect">
            <a:avLst/>
          </a:prstGeom>
          <a:noFill/>
          <a:ln/>
        </p:spPr>
        <p:txBody>
          <a:bodyPr wrap="square" lIns="0" tIns="0" rIns="0" bIns="0" rtlCol="0" anchor="ctr"/>
          <a:lstStyle/>
          <a:p>
            <a:pPr indent="0" marL="0">
              <a:buNone/>
            </a:pPr>
            <a:r>
              <a:rPr lang="en-US" sz="2200" b="1" dirty="0">
                <a:solidFill>
                  <a:schemeClr val="tx1"/>
                </a:solidFill>
              </a:rPr>
              <a:t>Manual process today</a:t>
            </a:r>
            <a:endParaRPr lang="en-US" sz="2200" dirty="0"/>
          </a:p>
        </p:txBody>
      </p:sp>
      <p:sp>
        <p:nvSpPr>
          <p:cNvPr id="7" name="Text 4"/>
          <p:cNvSpPr txBox="1"/>
          <p:nvPr/>
        </p:nvSpPr>
        <p:spPr>
          <a:xfrm>
            <a:off x="868680" y="2560320"/>
            <a:ext cx="4754880" cy="32004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Paper-heavy filing: bills and boarding passes sent by courier</a:t>
            </a:r>
            <a:endParaRPr lang="en-US" sz="1400" dirty="0"/>
          </a:p>
          <a:p>
            <a:pPr marL="342900" indent="-342900">
              <a:spcAft>
                <a:spcPts val="800"/>
              </a:spcAft>
              <a:buSzPct val="100000"/>
              <a:buChar char="•"/>
            </a:pPr>
            <a:r>
              <a:rPr lang="en-US" sz="1600" dirty="0">
                <a:solidFill>
                  <a:schemeClr val="tx1"/>
                </a:solidFill>
              </a:rPr>
              <a:t>15 to 20 days to verify a single claim</a:t>
            </a:r>
            <a:endParaRPr lang="en-US" sz="1400" dirty="0"/>
          </a:p>
          <a:p>
            <a:pPr marL="342900" indent="-342900">
              <a:spcAft>
                <a:spcPts val="800"/>
              </a:spcAft>
              <a:buSzPct val="100000"/>
              <a:buChar char="•"/>
            </a:pPr>
            <a:r>
              <a:rPr lang="en-US" sz="1600" dirty="0">
                <a:solidFill>
                  <a:schemeClr val="tx1"/>
                </a:solidFill>
              </a:rPr>
              <a:t>Manual builds and deployments cause errors and mismatched environments</a:t>
            </a:r>
            <a:endParaRPr lang="en-US" sz="1400" dirty="0"/>
          </a:p>
          <a:p>
            <a:pPr marL="342900" indent="-342900">
              <a:spcAft>
                <a:spcPts val="800"/>
              </a:spcAft>
              <a:buSzPct val="100000"/>
              <a:buChar char="•"/>
            </a:pPr>
            <a:r>
              <a:rPr lang="en-US" sz="1600" dirty="0">
                <a:solidFill>
                  <a:schemeClr val="tx1"/>
                </a:solidFill>
              </a:rPr>
              <a:t>Travelers cannot see their claim status</a:t>
            </a:r>
            <a:endParaRPr lang="en-US" sz="1400" dirty="0"/>
          </a:p>
        </p:txBody>
      </p:sp>
      <p:sp>
        <p:nvSpPr>
          <p:cNvPr id="8" name="Card Our DevOps solution"/>
          <p:cNvSpPr/>
          <p:nvPr/>
        </p:nvSpPr>
        <p:spPr>
          <a:xfrm>
            <a:off x="6245352" y="1463040"/>
            <a:ext cx="5394960" cy="4526280"/>
          </a:xfrm>
          <a:prstGeom prst="roundRect">
            <a:avLst>
              <a:gd name="adj" fmla="val 2020"/>
            </a:avLst>
          </a:prstGeom>
          <a:solidFill>
            <a:schemeClr val="bg1"/>
          </a:solidFill>
          <a:ln/>
          <a:effectLst>
            <a:outerShdw sx="100000" sy="100000" kx="0" ky="0" algn="bl" rotWithShape="0" blurRad="101600" dist="25400" dir="5400000">
              <a:srgbClr val="000000">
                <a:alpha val="14000"/>
              </a:srgbClr>
            </a:outerShdw>
          </a:effectLst>
        </p:spPr>
      </p:sp>
      <p:sp>
        <p:nvSpPr>
          <p:cNvPr id="9" name="Icon Our DevOps solution bg"/>
          <p:cNvSpPr/>
          <p:nvPr/>
        </p:nvSpPr>
        <p:spPr>
          <a:xfrm>
            <a:off x="6519672" y="1737360"/>
            <a:ext cx="548640" cy="548640"/>
          </a:xfrm>
          <a:prstGeom prst="ellipse">
            <a:avLst/>
          </a:prstGeom>
          <a:solidFill>
            <a:schemeClr val="accent2"/>
          </a:solidFill>
          <a:ln/>
        </p:spPr>
      </p:sp>
      <p:pic>
        <p:nvPicPr>
          <p:cNvPr id="10" name="Icon Our DevOps solution" descr="Icon Our DevOps solution">    </p:cNvPr>
          <p:cNvPicPr>
            <a:picLocks noChangeAspect="1"/>
          </p:cNvPicPr>
          <p:nvPr/>
        </p:nvPicPr>
        <p:blipFill>
          <a:blip r:embed="rId2"/>
          <a:stretch>
            <a:fillRect/>
          </a:stretch>
        </p:blipFill>
        <p:spPr>
          <a:xfrm>
            <a:off x="6662318" y="1880006"/>
            <a:ext cx="263347" cy="263347"/>
          </a:xfrm>
          <a:prstGeom prst="rect">
            <a:avLst/>
          </a:prstGeom>
        </p:spPr>
      </p:pic>
      <p:sp>
        <p:nvSpPr>
          <p:cNvPr id="11" name="Text 7"/>
          <p:cNvSpPr txBox="1"/>
          <p:nvPr/>
        </p:nvSpPr>
        <p:spPr>
          <a:xfrm>
            <a:off x="7251192" y="1737360"/>
            <a:ext cx="4114800" cy="548640"/>
          </a:xfrm>
          <a:prstGeom prst="rect">
            <a:avLst/>
          </a:prstGeom>
          <a:noFill/>
          <a:ln/>
        </p:spPr>
        <p:txBody>
          <a:bodyPr wrap="square" lIns="0" tIns="0" rIns="0" bIns="0" rtlCol="0" anchor="ctr"/>
          <a:lstStyle/>
          <a:p>
            <a:pPr indent="0" marL="0">
              <a:buNone/>
            </a:pPr>
            <a:r>
              <a:rPr lang="en-US" sz="2200" b="1" dirty="0">
                <a:solidFill>
                  <a:schemeClr val="tx1"/>
                </a:solidFill>
              </a:rPr>
              <a:t>Our DevOps solution</a:t>
            </a:r>
            <a:endParaRPr lang="en-US" sz="2200" dirty="0"/>
          </a:p>
        </p:txBody>
      </p:sp>
      <p:sp>
        <p:nvSpPr>
          <p:cNvPr id="12" name="Text 8"/>
          <p:cNvSpPr txBox="1"/>
          <p:nvPr/>
        </p:nvSpPr>
        <p:spPr>
          <a:xfrm>
            <a:off x="6565392" y="2560320"/>
            <a:ext cx="4754880" cy="32004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Instant digital submission on a responsive web portal</a:t>
            </a:r>
            <a:endParaRPr lang="en-US" sz="1400" dirty="0"/>
          </a:p>
          <a:p>
            <a:pPr marL="342900" indent="-342900">
              <a:spcAft>
                <a:spcPts val="800"/>
              </a:spcAft>
              <a:buSzPct val="100000"/>
              <a:buChar char="•"/>
            </a:pPr>
            <a:r>
              <a:rPr lang="en-US" sz="1600" dirty="0">
                <a:solidFill>
                  <a:schemeClr val="tx1"/>
                </a:solidFill>
              </a:rPr>
              <a:t>5-minute verification with one-click reviewer decisions</a:t>
            </a:r>
            <a:endParaRPr lang="en-US" sz="1400" dirty="0"/>
          </a:p>
          <a:p>
            <a:pPr marL="342900" indent="-342900">
              <a:spcAft>
                <a:spcPts val="800"/>
              </a:spcAft>
              <a:buSzPct val="100000"/>
              <a:buChar char="•"/>
            </a:pPr>
            <a:r>
              <a:rPr lang="en-US" sz="1600" dirty="0">
                <a:solidFill>
                  <a:schemeClr val="tx1"/>
                </a:solidFill>
              </a:rPr>
              <a:t>100% automated pipeline: Git push, test, Docker deploy</a:t>
            </a:r>
            <a:endParaRPr lang="en-US" sz="1400" dirty="0"/>
          </a:p>
          <a:p>
            <a:pPr marL="342900" indent="-342900">
              <a:spcAft>
                <a:spcPts val="800"/>
              </a:spcAft>
              <a:buSzPct val="100000"/>
              <a:buChar char="•"/>
            </a:pPr>
            <a:r>
              <a:rPr lang="en-US" sz="1600" dirty="0">
                <a:solidFill>
                  <a:schemeClr val="tx1"/>
                </a:solidFill>
              </a:rPr>
              <a:t>Automatic rollback when a deployment fails</a:t>
            </a:r>
            <a:endParaRPr lang="en-US" sz="1400" dirty="0"/>
          </a:p>
        </p:txBody>
      </p:sp>
      <p:sp>
        <p:nvSpPr>
          <p:cNvPr id="13" name="Arrow bg"/>
          <p:cNvSpPr/>
          <p:nvPr/>
        </p:nvSpPr>
        <p:spPr>
          <a:xfrm>
            <a:off x="5870448" y="3383280"/>
            <a:ext cx="457200" cy="457200"/>
          </a:xfrm>
          <a:prstGeom prst="ellipse">
            <a:avLst/>
          </a:prstGeom>
          <a:solidFill>
            <a:schemeClr val="accent1"/>
          </a:solidFill>
          <a:ln/>
        </p:spPr>
      </p:sp>
      <p:pic>
        <p:nvPicPr>
          <p:cNvPr id="14" name="Arrow icon" descr="leads to">    </p:cNvPr>
          <p:cNvPicPr>
            <a:picLocks noChangeAspect="1"/>
          </p:cNvPicPr>
          <p:nvPr/>
        </p:nvPicPr>
        <p:blipFill>
          <a:blip r:embed="rId3"/>
          <a:stretch>
            <a:fillRect/>
          </a:stretch>
        </p:blipFill>
        <p:spPr>
          <a:xfrm>
            <a:off x="5971032" y="3483864"/>
            <a:ext cx="256032" cy="256032"/>
          </a:xfrm>
          <a:prstGeom prst="rect">
            <a:avLst/>
          </a:prstGeom>
        </p:spPr>
      </p:pic>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68680"/>
          </a:xfrm>
          <a:prstGeom prst="rect">
            <a:avLst/>
          </a:prstGeom>
          <a:noFill/>
          <a:ln/>
        </p:spPr>
        <p:txBody>
          <a:bodyPr wrap="square" lIns="0" tIns="0" rIns="0" bIns="0" rtlCol="0" anchor="ctr"/>
          <a:lstStyle/>
          <a:p>
            <a:pPr indent="0" marL="0">
              <a:buNone/>
            </a:pPr>
            <a:r>
              <a:rPr lang="en-US" sz="3400" b="1" dirty="0">
                <a:solidFill>
                  <a:schemeClr val="tx1"/>
                </a:solidFill>
              </a:rPr>
              <a:t>Objectives and scope</a:t>
            </a:r>
            <a:endParaRPr lang="en-US" sz="3400" dirty="0"/>
          </a:p>
        </p:txBody>
      </p:sp>
      <p:sp>
        <p:nvSpPr>
          <p:cNvPr id="3" name="Card Automated delivery"/>
          <p:cNvSpPr/>
          <p:nvPr/>
        </p:nvSpPr>
        <p:spPr>
          <a:xfrm>
            <a:off x="548640" y="1463040"/>
            <a:ext cx="3566160" cy="2194560"/>
          </a:xfrm>
          <a:prstGeom prst="roundRect">
            <a:avLst>
              <a:gd name="adj" fmla="val 4167"/>
            </a:avLst>
          </a:prstGeom>
          <a:solidFill>
            <a:schemeClr val="bg1"/>
          </a:solidFill>
          <a:ln/>
          <a:effectLst>
            <a:outerShdw sx="100000" sy="100000" kx="0" ky="0" algn="bl" rotWithShape="0" blurRad="101600" dist="25400" dir="5400000">
              <a:srgbClr val="000000">
                <a:alpha val="14000"/>
              </a:srgbClr>
            </a:outerShdw>
          </a:effectLst>
        </p:spPr>
      </p:sp>
      <p:sp>
        <p:nvSpPr>
          <p:cNvPr id="4" name="Icon Automated delivery bg"/>
          <p:cNvSpPr/>
          <p:nvPr/>
        </p:nvSpPr>
        <p:spPr>
          <a:xfrm>
            <a:off x="822960" y="1737360"/>
            <a:ext cx="594360" cy="594360"/>
          </a:xfrm>
          <a:prstGeom prst="ellipse">
            <a:avLst/>
          </a:prstGeom>
          <a:solidFill>
            <a:schemeClr val="accent1"/>
          </a:solidFill>
          <a:ln/>
        </p:spPr>
      </p:sp>
      <p:pic>
        <p:nvPicPr>
          <p:cNvPr id="5" name="Icon Automated delivery" descr="Icon Automated delivery">    </p:cNvPr>
          <p:cNvPicPr>
            <a:picLocks noChangeAspect="1"/>
          </p:cNvPicPr>
          <p:nvPr/>
        </p:nvPicPr>
        <p:blipFill>
          <a:blip r:embed="rId1"/>
          <a:stretch>
            <a:fillRect/>
          </a:stretch>
        </p:blipFill>
        <p:spPr>
          <a:xfrm>
            <a:off x="977494" y="1891894"/>
            <a:ext cx="285293" cy="285293"/>
          </a:xfrm>
          <a:prstGeom prst="rect">
            <a:avLst/>
          </a:prstGeom>
        </p:spPr>
      </p:pic>
      <p:sp>
        <p:nvSpPr>
          <p:cNvPr id="6" name="Text 3"/>
          <p:cNvSpPr txBox="1"/>
          <p:nvPr/>
        </p:nvSpPr>
        <p:spPr>
          <a:xfrm>
            <a:off x="822960" y="2468880"/>
            <a:ext cx="3108960" cy="365760"/>
          </a:xfrm>
          <a:prstGeom prst="rect">
            <a:avLst/>
          </a:prstGeom>
          <a:noFill/>
          <a:ln/>
        </p:spPr>
        <p:txBody>
          <a:bodyPr wrap="square" lIns="0" tIns="0" rIns="0" bIns="0" rtlCol="0" anchor="t"/>
          <a:lstStyle/>
          <a:p>
            <a:pPr indent="0" marL="0">
              <a:buNone/>
            </a:pPr>
            <a:r>
              <a:rPr lang="en-US" sz="1800" b="1" dirty="0">
                <a:solidFill>
                  <a:schemeClr val="tx1"/>
                </a:solidFill>
              </a:rPr>
              <a:t>Automated delivery</a:t>
            </a:r>
            <a:endParaRPr lang="en-US" sz="1800" dirty="0"/>
          </a:p>
        </p:txBody>
      </p:sp>
      <p:sp>
        <p:nvSpPr>
          <p:cNvPr id="7" name="Text 4"/>
          <p:cNvSpPr txBox="1"/>
          <p:nvPr/>
        </p:nvSpPr>
        <p:spPr>
          <a:xfrm>
            <a:off x="822960" y="2880360"/>
            <a:ext cx="3108960" cy="731520"/>
          </a:xfrm>
          <a:prstGeom prst="rect">
            <a:avLst/>
          </a:prstGeom>
          <a:noFill/>
          <a:ln/>
        </p:spPr>
        <p:txBody>
          <a:bodyPr wrap="square" lIns="0" tIns="0" rIns="0" bIns="0" rtlCol="0" anchor="t"/>
          <a:lstStyle/>
          <a:p>
            <a:pPr indent="0" marL="0">
              <a:buNone/>
            </a:pPr>
            <a:r>
              <a:rPr lang="en-US" sz="1400" dirty="0">
                <a:solidFill>
                  <a:schemeClr val="accent6"/>
                </a:solidFill>
              </a:rPr>
              <a:t>A 100% declarative Jenkins pipeline. No manual server logins.</a:t>
            </a:r>
            <a:endParaRPr lang="en-US" sz="1400" dirty="0"/>
          </a:p>
        </p:txBody>
      </p:sp>
      <p:sp>
        <p:nvSpPr>
          <p:cNvPr id="8" name="Card Quality gates"/>
          <p:cNvSpPr/>
          <p:nvPr/>
        </p:nvSpPr>
        <p:spPr>
          <a:xfrm>
            <a:off x="4311396" y="1463040"/>
            <a:ext cx="3566160" cy="2194560"/>
          </a:xfrm>
          <a:prstGeom prst="roundRect">
            <a:avLst>
              <a:gd name="adj" fmla="val 4167"/>
            </a:avLst>
          </a:prstGeom>
          <a:solidFill>
            <a:schemeClr val="bg1"/>
          </a:solidFill>
          <a:ln/>
          <a:effectLst>
            <a:outerShdw sx="100000" sy="100000" kx="0" ky="0" algn="bl" rotWithShape="0" blurRad="101600" dist="25400" dir="5400000">
              <a:srgbClr val="000000">
                <a:alpha val="14000"/>
              </a:srgbClr>
            </a:outerShdw>
          </a:effectLst>
        </p:spPr>
      </p:sp>
      <p:sp>
        <p:nvSpPr>
          <p:cNvPr id="9" name="Icon Quality gates bg"/>
          <p:cNvSpPr/>
          <p:nvPr/>
        </p:nvSpPr>
        <p:spPr>
          <a:xfrm>
            <a:off x="4585716" y="1737360"/>
            <a:ext cx="594360" cy="594360"/>
          </a:xfrm>
          <a:prstGeom prst="ellipse">
            <a:avLst/>
          </a:prstGeom>
          <a:solidFill>
            <a:schemeClr val="accent2"/>
          </a:solidFill>
          <a:ln/>
        </p:spPr>
      </p:sp>
      <p:pic>
        <p:nvPicPr>
          <p:cNvPr id="10" name="Icon Quality gates" descr="Icon Quality gates">    </p:cNvPr>
          <p:cNvPicPr>
            <a:picLocks noChangeAspect="1"/>
          </p:cNvPicPr>
          <p:nvPr/>
        </p:nvPicPr>
        <p:blipFill>
          <a:blip r:embed="rId2"/>
          <a:stretch>
            <a:fillRect/>
          </a:stretch>
        </p:blipFill>
        <p:spPr>
          <a:xfrm>
            <a:off x="4740250" y="1891894"/>
            <a:ext cx="285293" cy="285293"/>
          </a:xfrm>
          <a:prstGeom prst="rect">
            <a:avLst/>
          </a:prstGeom>
        </p:spPr>
      </p:pic>
      <p:sp>
        <p:nvSpPr>
          <p:cNvPr id="11" name="Text 7"/>
          <p:cNvSpPr txBox="1"/>
          <p:nvPr/>
        </p:nvSpPr>
        <p:spPr>
          <a:xfrm>
            <a:off x="4585716" y="2468880"/>
            <a:ext cx="3108960" cy="365760"/>
          </a:xfrm>
          <a:prstGeom prst="rect">
            <a:avLst/>
          </a:prstGeom>
          <a:noFill/>
          <a:ln/>
        </p:spPr>
        <p:txBody>
          <a:bodyPr wrap="square" lIns="0" tIns="0" rIns="0" bIns="0" rtlCol="0" anchor="t"/>
          <a:lstStyle/>
          <a:p>
            <a:pPr indent="0" marL="0">
              <a:buNone/>
            </a:pPr>
            <a:r>
              <a:rPr lang="en-US" sz="1800" b="1" dirty="0">
                <a:solidFill>
                  <a:schemeClr val="tx1"/>
                </a:solidFill>
              </a:rPr>
              <a:t>Quality gates</a:t>
            </a:r>
            <a:endParaRPr lang="en-US" sz="1800" dirty="0"/>
          </a:p>
        </p:txBody>
      </p:sp>
      <p:sp>
        <p:nvSpPr>
          <p:cNvPr id="12" name="Text 8"/>
          <p:cNvSpPr txBox="1"/>
          <p:nvPr/>
        </p:nvSpPr>
        <p:spPr>
          <a:xfrm>
            <a:off x="4585716" y="2880360"/>
            <a:ext cx="3108960" cy="731520"/>
          </a:xfrm>
          <a:prstGeom prst="rect">
            <a:avLst/>
          </a:prstGeom>
          <a:noFill/>
          <a:ln/>
        </p:spPr>
        <p:txBody>
          <a:bodyPr wrap="square" lIns="0" tIns="0" rIns="0" bIns="0" rtlCol="0" anchor="t"/>
          <a:lstStyle/>
          <a:p>
            <a:pPr indent="0" marL="0">
              <a:buNone/>
            </a:pPr>
            <a:r>
              <a:rPr lang="en-US" sz="1400" dirty="0">
                <a:solidFill>
                  <a:schemeClr val="accent6"/>
                </a:solidFill>
              </a:rPr>
              <a:t>JUnit 5 and headless Selenium tests run in every build.</a:t>
            </a:r>
            <a:endParaRPr lang="en-US" sz="1400" dirty="0"/>
          </a:p>
        </p:txBody>
      </p:sp>
      <p:sp>
        <p:nvSpPr>
          <p:cNvPr id="13" name="Card Secure containers"/>
          <p:cNvSpPr/>
          <p:nvPr/>
        </p:nvSpPr>
        <p:spPr>
          <a:xfrm>
            <a:off x="8074152" y="1463040"/>
            <a:ext cx="3566160" cy="2194560"/>
          </a:xfrm>
          <a:prstGeom prst="roundRect">
            <a:avLst>
              <a:gd name="adj" fmla="val 4167"/>
            </a:avLst>
          </a:prstGeom>
          <a:solidFill>
            <a:schemeClr val="bg1"/>
          </a:solidFill>
          <a:ln/>
          <a:effectLst>
            <a:outerShdw sx="100000" sy="100000" kx="0" ky="0" algn="bl" rotWithShape="0" blurRad="101600" dist="25400" dir="5400000">
              <a:srgbClr val="000000">
                <a:alpha val="14000"/>
              </a:srgbClr>
            </a:outerShdw>
          </a:effectLst>
        </p:spPr>
      </p:sp>
      <p:sp>
        <p:nvSpPr>
          <p:cNvPr id="14" name="Icon Secure containers bg"/>
          <p:cNvSpPr/>
          <p:nvPr/>
        </p:nvSpPr>
        <p:spPr>
          <a:xfrm>
            <a:off x="8348472" y="1737360"/>
            <a:ext cx="594360" cy="594360"/>
          </a:xfrm>
          <a:prstGeom prst="ellipse">
            <a:avLst/>
          </a:prstGeom>
          <a:solidFill>
            <a:schemeClr val="accent1"/>
          </a:solidFill>
          <a:ln/>
        </p:spPr>
      </p:sp>
      <p:pic>
        <p:nvPicPr>
          <p:cNvPr id="15" name="Icon Secure containers" descr="Icon Secure containers">    </p:cNvPr>
          <p:cNvPicPr>
            <a:picLocks noChangeAspect="1"/>
          </p:cNvPicPr>
          <p:nvPr/>
        </p:nvPicPr>
        <p:blipFill>
          <a:blip r:embed="rId3"/>
          <a:stretch>
            <a:fillRect/>
          </a:stretch>
        </p:blipFill>
        <p:spPr>
          <a:xfrm>
            <a:off x="8503006" y="1891894"/>
            <a:ext cx="285293" cy="285293"/>
          </a:xfrm>
          <a:prstGeom prst="rect">
            <a:avLst/>
          </a:prstGeom>
        </p:spPr>
      </p:pic>
      <p:sp>
        <p:nvSpPr>
          <p:cNvPr id="16" name="Text 11"/>
          <p:cNvSpPr txBox="1"/>
          <p:nvPr/>
        </p:nvSpPr>
        <p:spPr>
          <a:xfrm>
            <a:off x="8348472" y="2468880"/>
            <a:ext cx="3108960" cy="365760"/>
          </a:xfrm>
          <a:prstGeom prst="rect">
            <a:avLst/>
          </a:prstGeom>
          <a:noFill/>
          <a:ln/>
        </p:spPr>
        <p:txBody>
          <a:bodyPr wrap="square" lIns="0" tIns="0" rIns="0" bIns="0" rtlCol="0" anchor="t"/>
          <a:lstStyle/>
          <a:p>
            <a:pPr indent="0" marL="0">
              <a:buNone/>
            </a:pPr>
            <a:r>
              <a:rPr lang="en-US" sz="1800" b="1" dirty="0">
                <a:solidFill>
                  <a:schemeClr val="tx1"/>
                </a:solidFill>
              </a:rPr>
              <a:t>Secure containers</a:t>
            </a:r>
            <a:endParaRPr lang="en-US" sz="1800" dirty="0"/>
          </a:p>
        </p:txBody>
      </p:sp>
      <p:sp>
        <p:nvSpPr>
          <p:cNvPr id="17" name="Text 12"/>
          <p:cNvSpPr txBox="1"/>
          <p:nvPr/>
        </p:nvSpPr>
        <p:spPr>
          <a:xfrm>
            <a:off x="8348472" y="2880360"/>
            <a:ext cx="3108960" cy="731520"/>
          </a:xfrm>
          <a:prstGeom prst="rect">
            <a:avLst/>
          </a:prstGeom>
          <a:noFill/>
          <a:ln/>
        </p:spPr>
        <p:txBody>
          <a:bodyPr wrap="square" lIns="0" tIns="0" rIns="0" bIns="0" rtlCol="0" anchor="t"/>
          <a:lstStyle/>
          <a:p>
            <a:pPr indent="0" marL="0">
              <a:buNone/>
            </a:pPr>
            <a:r>
              <a:rPr lang="en-US" sz="1400" dirty="0">
                <a:solidFill>
                  <a:schemeClr val="accent6"/>
                </a:solidFill>
              </a:rPr>
              <a:t>A small, immutable, multi-stage Docker image that runs as non-root.</a:t>
            </a:r>
            <a:endParaRPr lang="en-US" sz="1400" dirty="0"/>
          </a:p>
        </p:txBody>
      </p:sp>
      <p:sp>
        <p:nvSpPr>
          <p:cNvPr id="18" name="Card Infrastructure as code"/>
          <p:cNvSpPr/>
          <p:nvPr/>
        </p:nvSpPr>
        <p:spPr>
          <a:xfrm>
            <a:off x="548640" y="3886200"/>
            <a:ext cx="3566160" cy="2194560"/>
          </a:xfrm>
          <a:prstGeom prst="roundRect">
            <a:avLst>
              <a:gd name="adj" fmla="val 4167"/>
            </a:avLst>
          </a:prstGeom>
          <a:solidFill>
            <a:schemeClr val="bg1"/>
          </a:solidFill>
          <a:ln/>
          <a:effectLst>
            <a:outerShdw sx="100000" sy="100000" kx="0" ky="0" algn="bl" rotWithShape="0" blurRad="101600" dist="25400" dir="5400000">
              <a:srgbClr val="000000">
                <a:alpha val="14000"/>
              </a:srgbClr>
            </a:outerShdw>
          </a:effectLst>
        </p:spPr>
      </p:sp>
      <p:sp>
        <p:nvSpPr>
          <p:cNvPr id="19" name="Icon Infrastructure as code bg"/>
          <p:cNvSpPr/>
          <p:nvPr/>
        </p:nvSpPr>
        <p:spPr>
          <a:xfrm>
            <a:off x="822960" y="4160520"/>
            <a:ext cx="594360" cy="594360"/>
          </a:xfrm>
          <a:prstGeom prst="ellipse">
            <a:avLst/>
          </a:prstGeom>
          <a:solidFill>
            <a:schemeClr val="accent2"/>
          </a:solidFill>
          <a:ln/>
        </p:spPr>
      </p:sp>
      <p:pic>
        <p:nvPicPr>
          <p:cNvPr id="20" name="Icon Infrastructure as code" descr="Icon Infrastructure as code">    </p:cNvPr>
          <p:cNvPicPr>
            <a:picLocks noChangeAspect="1"/>
          </p:cNvPicPr>
          <p:nvPr/>
        </p:nvPicPr>
        <p:blipFill>
          <a:blip r:embed="rId4"/>
          <a:stretch>
            <a:fillRect/>
          </a:stretch>
        </p:blipFill>
        <p:spPr>
          <a:xfrm>
            <a:off x="977494" y="4315054"/>
            <a:ext cx="285293" cy="285293"/>
          </a:xfrm>
          <a:prstGeom prst="rect">
            <a:avLst/>
          </a:prstGeom>
        </p:spPr>
      </p:pic>
      <p:sp>
        <p:nvSpPr>
          <p:cNvPr id="21" name="Text 15"/>
          <p:cNvSpPr txBox="1"/>
          <p:nvPr/>
        </p:nvSpPr>
        <p:spPr>
          <a:xfrm>
            <a:off x="822960" y="4892040"/>
            <a:ext cx="3108960" cy="365760"/>
          </a:xfrm>
          <a:prstGeom prst="rect">
            <a:avLst/>
          </a:prstGeom>
          <a:noFill/>
          <a:ln/>
        </p:spPr>
        <p:txBody>
          <a:bodyPr wrap="square" lIns="0" tIns="0" rIns="0" bIns="0" rtlCol="0" anchor="t"/>
          <a:lstStyle/>
          <a:p>
            <a:pPr indent="0" marL="0">
              <a:buNone/>
            </a:pPr>
            <a:r>
              <a:rPr lang="en-US" sz="1800" b="1" dirty="0">
                <a:solidFill>
                  <a:schemeClr val="tx1"/>
                </a:solidFill>
              </a:rPr>
              <a:t>Infrastructure as code</a:t>
            </a:r>
            <a:endParaRPr lang="en-US" sz="1800" dirty="0"/>
          </a:p>
        </p:txBody>
      </p:sp>
      <p:sp>
        <p:nvSpPr>
          <p:cNvPr id="22" name="Text 16"/>
          <p:cNvSpPr txBox="1"/>
          <p:nvPr/>
        </p:nvSpPr>
        <p:spPr>
          <a:xfrm>
            <a:off x="822960" y="5303520"/>
            <a:ext cx="3108960" cy="731520"/>
          </a:xfrm>
          <a:prstGeom prst="rect">
            <a:avLst/>
          </a:prstGeom>
          <a:noFill/>
          <a:ln/>
        </p:spPr>
        <p:txBody>
          <a:bodyPr wrap="square" lIns="0" tIns="0" rIns="0" bIns="0" rtlCol="0" anchor="t"/>
          <a:lstStyle/>
          <a:p>
            <a:pPr indent="0" marL="0">
              <a:buNone/>
            </a:pPr>
            <a:r>
              <a:rPr lang="en-US" sz="1400" dirty="0">
                <a:solidFill>
                  <a:schemeClr val="accent6"/>
                </a:solidFill>
              </a:rPr>
              <a:t>Idempotent Ansible playbooks set up servers the same way every time.</a:t>
            </a:r>
            <a:endParaRPr lang="en-US" sz="1400" dirty="0"/>
          </a:p>
        </p:txBody>
      </p:sp>
      <p:sp>
        <p:nvSpPr>
          <p:cNvPr id="23" name="Card High availability"/>
          <p:cNvSpPr/>
          <p:nvPr/>
        </p:nvSpPr>
        <p:spPr>
          <a:xfrm>
            <a:off x="4311396" y="3886200"/>
            <a:ext cx="3566160" cy="2194560"/>
          </a:xfrm>
          <a:prstGeom prst="roundRect">
            <a:avLst>
              <a:gd name="adj" fmla="val 4167"/>
            </a:avLst>
          </a:prstGeom>
          <a:solidFill>
            <a:schemeClr val="bg1"/>
          </a:solidFill>
          <a:ln/>
          <a:effectLst>
            <a:outerShdw sx="100000" sy="100000" kx="0" ky="0" algn="bl" rotWithShape="0" blurRad="101600" dist="25400" dir="5400000">
              <a:srgbClr val="000000">
                <a:alpha val="14000"/>
              </a:srgbClr>
            </a:outerShdw>
          </a:effectLst>
        </p:spPr>
      </p:sp>
      <p:sp>
        <p:nvSpPr>
          <p:cNvPr id="24" name="Icon High availability bg"/>
          <p:cNvSpPr/>
          <p:nvPr/>
        </p:nvSpPr>
        <p:spPr>
          <a:xfrm>
            <a:off x="4585716" y="4160520"/>
            <a:ext cx="594360" cy="594360"/>
          </a:xfrm>
          <a:prstGeom prst="ellipse">
            <a:avLst/>
          </a:prstGeom>
          <a:solidFill>
            <a:schemeClr val="accent1"/>
          </a:solidFill>
          <a:ln/>
        </p:spPr>
      </p:sp>
      <p:pic>
        <p:nvPicPr>
          <p:cNvPr id="25" name="Icon High availability" descr="Icon High availability">    </p:cNvPr>
          <p:cNvPicPr>
            <a:picLocks noChangeAspect="1"/>
          </p:cNvPicPr>
          <p:nvPr/>
        </p:nvPicPr>
        <p:blipFill>
          <a:blip r:embed="rId5"/>
          <a:stretch>
            <a:fillRect/>
          </a:stretch>
        </p:blipFill>
        <p:spPr>
          <a:xfrm>
            <a:off x="4740250" y="4315054"/>
            <a:ext cx="285293" cy="285293"/>
          </a:xfrm>
          <a:prstGeom prst="rect">
            <a:avLst/>
          </a:prstGeom>
        </p:spPr>
      </p:pic>
      <p:sp>
        <p:nvSpPr>
          <p:cNvPr id="26" name="Text 19"/>
          <p:cNvSpPr txBox="1"/>
          <p:nvPr/>
        </p:nvSpPr>
        <p:spPr>
          <a:xfrm>
            <a:off x="4585716" y="4892040"/>
            <a:ext cx="3108960" cy="365760"/>
          </a:xfrm>
          <a:prstGeom prst="rect">
            <a:avLst/>
          </a:prstGeom>
          <a:noFill/>
          <a:ln/>
        </p:spPr>
        <p:txBody>
          <a:bodyPr wrap="square" lIns="0" tIns="0" rIns="0" bIns="0" rtlCol="0" anchor="t"/>
          <a:lstStyle/>
          <a:p>
            <a:pPr indent="0" marL="0">
              <a:buNone/>
            </a:pPr>
            <a:r>
              <a:rPr lang="en-US" sz="1800" b="1" dirty="0">
                <a:solidFill>
                  <a:schemeClr val="tx1"/>
                </a:solidFill>
              </a:rPr>
              <a:t>High availability</a:t>
            </a:r>
            <a:endParaRPr lang="en-US" sz="1800" dirty="0"/>
          </a:p>
        </p:txBody>
      </p:sp>
      <p:sp>
        <p:nvSpPr>
          <p:cNvPr id="27" name="Text 20"/>
          <p:cNvSpPr txBox="1"/>
          <p:nvPr/>
        </p:nvSpPr>
        <p:spPr>
          <a:xfrm>
            <a:off x="4585716" y="5303520"/>
            <a:ext cx="3108960" cy="731520"/>
          </a:xfrm>
          <a:prstGeom prst="rect">
            <a:avLst/>
          </a:prstGeom>
          <a:noFill/>
          <a:ln/>
        </p:spPr>
        <p:txBody>
          <a:bodyPr wrap="square" lIns="0" tIns="0" rIns="0" bIns="0" rtlCol="0" anchor="t"/>
          <a:lstStyle/>
          <a:p>
            <a:pPr indent="0" marL="0">
              <a:buNone/>
            </a:pPr>
            <a:r>
              <a:rPr lang="en-US" sz="1400" dirty="0">
                <a:solidFill>
                  <a:schemeClr val="accent6"/>
                </a:solidFill>
              </a:rPr>
              <a:t>HTTP health checks and automatic rollback when a deployment fails.</a:t>
            </a:r>
            <a:endParaRPr lang="en-US" sz="1400" dirty="0"/>
          </a:p>
        </p:txBody>
      </p:sp>
      <p:sp>
        <p:nvSpPr>
          <p:cNvPr id="28" name="Card Scope boundary"/>
          <p:cNvSpPr/>
          <p:nvPr/>
        </p:nvSpPr>
        <p:spPr>
          <a:xfrm>
            <a:off x="8074152" y="3886200"/>
            <a:ext cx="3566160" cy="2194560"/>
          </a:xfrm>
          <a:prstGeom prst="roundRect">
            <a:avLst>
              <a:gd name="adj" fmla="val 4167"/>
            </a:avLst>
          </a:prstGeom>
          <a:solidFill>
            <a:schemeClr val="bg1"/>
          </a:solidFill>
          <a:ln/>
          <a:effectLst>
            <a:outerShdw sx="100000" sy="100000" kx="0" ky="0" algn="bl" rotWithShape="0" blurRad="101600" dist="25400" dir="5400000">
              <a:srgbClr val="000000">
                <a:alpha val="14000"/>
              </a:srgbClr>
            </a:outerShdw>
          </a:effectLst>
        </p:spPr>
      </p:sp>
      <p:sp>
        <p:nvSpPr>
          <p:cNvPr id="29" name="Icon Scope boundary bg"/>
          <p:cNvSpPr/>
          <p:nvPr/>
        </p:nvSpPr>
        <p:spPr>
          <a:xfrm>
            <a:off x="8348472" y="4160520"/>
            <a:ext cx="594360" cy="594360"/>
          </a:xfrm>
          <a:prstGeom prst="ellipse">
            <a:avLst/>
          </a:prstGeom>
          <a:solidFill>
            <a:schemeClr val="accent2"/>
          </a:solidFill>
          <a:ln/>
        </p:spPr>
      </p:sp>
      <p:pic>
        <p:nvPicPr>
          <p:cNvPr id="30" name="Icon Scope boundary" descr="Icon Scope boundary">    </p:cNvPr>
          <p:cNvPicPr>
            <a:picLocks noChangeAspect="1"/>
          </p:cNvPicPr>
          <p:nvPr/>
        </p:nvPicPr>
        <p:blipFill>
          <a:blip r:embed="rId6"/>
          <a:stretch>
            <a:fillRect/>
          </a:stretch>
        </p:blipFill>
        <p:spPr>
          <a:xfrm>
            <a:off x="8503006" y="4315054"/>
            <a:ext cx="285293" cy="285293"/>
          </a:xfrm>
          <a:prstGeom prst="rect">
            <a:avLst/>
          </a:prstGeom>
        </p:spPr>
      </p:pic>
      <p:sp>
        <p:nvSpPr>
          <p:cNvPr id="31" name="Text 23"/>
          <p:cNvSpPr txBox="1"/>
          <p:nvPr/>
        </p:nvSpPr>
        <p:spPr>
          <a:xfrm>
            <a:off x="8348472" y="4892040"/>
            <a:ext cx="3108960" cy="365760"/>
          </a:xfrm>
          <a:prstGeom prst="rect">
            <a:avLst/>
          </a:prstGeom>
          <a:noFill/>
          <a:ln/>
        </p:spPr>
        <p:txBody>
          <a:bodyPr wrap="square" lIns="0" tIns="0" rIns="0" bIns="0" rtlCol="0" anchor="t"/>
          <a:lstStyle/>
          <a:p>
            <a:pPr indent="0" marL="0">
              <a:buNone/>
            </a:pPr>
            <a:r>
              <a:rPr lang="en-US" sz="1800" b="1" dirty="0">
                <a:solidFill>
                  <a:schemeClr val="tx1"/>
                </a:solidFill>
              </a:rPr>
              <a:t>Scope boundary</a:t>
            </a:r>
            <a:endParaRPr lang="en-US" sz="1800" dirty="0"/>
          </a:p>
        </p:txBody>
      </p:sp>
      <p:sp>
        <p:nvSpPr>
          <p:cNvPr id="32" name="Text 24"/>
          <p:cNvSpPr txBox="1"/>
          <p:nvPr/>
        </p:nvSpPr>
        <p:spPr>
          <a:xfrm>
            <a:off x="8348472" y="5303520"/>
            <a:ext cx="3108960" cy="731520"/>
          </a:xfrm>
          <a:prstGeom prst="rect">
            <a:avLst/>
          </a:prstGeom>
          <a:noFill/>
          <a:ln/>
        </p:spPr>
        <p:txBody>
          <a:bodyPr wrap="square" lIns="0" tIns="0" rIns="0" bIns="0" rtlCol="0" anchor="t"/>
          <a:lstStyle/>
          <a:p>
            <a:pPr indent="0" marL="0">
              <a:buNone/>
            </a:pPr>
            <a:r>
              <a:rPr lang="en-US" sz="1400" dirty="0">
                <a:solidFill>
                  <a:schemeClr val="accent6"/>
                </a:solidFill>
              </a:rPr>
              <a:t>A light Spring Boot service with in-memory H2 for easy evaluation.</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68680"/>
          </a:xfrm>
          <a:prstGeom prst="rect">
            <a:avLst/>
          </a:prstGeom>
          <a:noFill/>
          <a:ln/>
        </p:spPr>
        <p:txBody>
          <a:bodyPr wrap="square" lIns="0" tIns="0" rIns="0" bIns="0" rtlCol="0" anchor="ctr"/>
          <a:lstStyle/>
          <a:p>
            <a:pPr indent="0" marL="0">
              <a:buNone/>
            </a:pPr>
            <a:r>
              <a:rPr lang="en-US" sz="3400" b="1" dirty="0">
                <a:solidFill>
                  <a:schemeClr val="tx1"/>
                </a:solidFill>
              </a:rPr>
              <a:t>System architecture and tech stack</a:t>
            </a:r>
            <a:endParaRPr lang="en-US" sz="3400" dirty="0"/>
          </a:p>
        </p:txBody>
      </p:sp>
      <p:sp>
        <p:nvSpPr>
          <p:cNvPr id="3" name="Tier Presentation layer"/>
          <p:cNvSpPr/>
          <p:nvPr/>
        </p:nvSpPr>
        <p:spPr>
          <a:xfrm>
            <a:off x="548640" y="1463040"/>
            <a:ext cx="5120640" cy="1097280"/>
          </a:xfrm>
          <a:prstGeom prst="roundRect">
            <a:avLst>
              <a:gd name="adj" fmla="val 8333"/>
            </a:avLst>
          </a:prstGeom>
          <a:solidFill>
            <a:schemeClr val="bg1"/>
          </a:solidFill>
          <a:ln/>
          <a:effectLst>
            <a:outerShdw sx="100000" sy="100000" kx="0" ky="0" algn="bl" rotWithShape="0" blurRad="101600" dist="25400" dir="5400000">
              <a:srgbClr val="000000">
                <a:alpha val="14000"/>
              </a:srgbClr>
            </a:outerShdw>
          </a:effectLst>
        </p:spPr>
      </p:sp>
      <p:sp>
        <p:nvSpPr>
          <p:cNvPr id="4" name="Icon Presentation layer bg"/>
          <p:cNvSpPr/>
          <p:nvPr/>
        </p:nvSpPr>
        <p:spPr>
          <a:xfrm>
            <a:off x="777240" y="1737360"/>
            <a:ext cx="548640" cy="548640"/>
          </a:xfrm>
          <a:prstGeom prst="ellipse">
            <a:avLst/>
          </a:prstGeom>
          <a:solidFill>
            <a:schemeClr val="accent1"/>
          </a:solidFill>
          <a:ln/>
        </p:spPr>
      </p:sp>
      <p:pic>
        <p:nvPicPr>
          <p:cNvPr id="5" name="Icon Presentation layer" descr="Icon Presentation layer">    </p:cNvPr>
          <p:cNvPicPr>
            <a:picLocks noChangeAspect="1"/>
          </p:cNvPicPr>
          <p:nvPr/>
        </p:nvPicPr>
        <p:blipFill>
          <a:blip r:embed="rId1"/>
          <a:stretch>
            <a:fillRect/>
          </a:stretch>
        </p:blipFill>
        <p:spPr>
          <a:xfrm>
            <a:off x="919886" y="1880006"/>
            <a:ext cx="263347" cy="263347"/>
          </a:xfrm>
          <a:prstGeom prst="rect">
            <a:avLst/>
          </a:prstGeom>
        </p:spPr>
      </p:pic>
      <p:sp>
        <p:nvSpPr>
          <p:cNvPr id="6" name="Text 3"/>
          <p:cNvSpPr txBox="1"/>
          <p:nvPr/>
        </p:nvSpPr>
        <p:spPr>
          <a:xfrm>
            <a:off x="1554480" y="1618488"/>
            <a:ext cx="3931920" cy="320040"/>
          </a:xfrm>
          <a:prstGeom prst="rect">
            <a:avLst/>
          </a:prstGeom>
          <a:noFill/>
          <a:ln/>
        </p:spPr>
        <p:txBody>
          <a:bodyPr wrap="square" lIns="0" tIns="0" rIns="0" bIns="0" rtlCol="0" anchor="t"/>
          <a:lstStyle/>
          <a:p>
            <a:pPr indent="0" marL="0">
              <a:buNone/>
            </a:pPr>
            <a:r>
              <a:rPr lang="en-US" sz="1700" b="1" dirty="0">
                <a:solidFill>
                  <a:schemeClr val="tx1"/>
                </a:solidFill>
              </a:rPr>
              <a:t>Presentation layer</a:t>
            </a:r>
            <a:endParaRPr lang="en-US" sz="1700" dirty="0"/>
          </a:p>
        </p:txBody>
      </p:sp>
      <p:sp>
        <p:nvSpPr>
          <p:cNvPr id="7" name="Text 4"/>
          <p:cNvSpPr txBox="1"/>
          <p:nvPr/>
        </p:nvSpPr>
        <p:spPr>
          <a:xfrm>
            <a:off x="1554480" y="1965960"/>
            <a:ext cx="3931920" cy="548640"/>
          </a:xfrm>
          <a:prstGeom prst="rect">
            <a:avLst/>
          </a:prstGeom>
          <a:noFill/>
          <a:ln/>
        </p:spPr>
        <p:txBody>
          <a:bodyPr wrap="square" lIns="0" tIns="0" rIns="0" bIns="0" rtlCol="0" anchor="t"/>
          <a:lstStyle/>
          <a:p>
            <a:pPr indent="0" marL="0">
              <a:buNone/>
            </a:pPr>
            <a:r>
              <a:rPr lang="en-US" sz="1400" b="1" dirty="0">
                <a:solidFill>
                  <a:schemeClr val="tx1"/>
                </a:solidFill>
              </a:rPr>
              <a:t>HTML5, CSS3, JavaScript</a:t>
            </a:r>
            <a:endParaRPr lang="en-US" sz="1400" dirty="0"/>
          </a:p>
          <a:p>
            <a:pPr indent="0" marL="0">
              <a:buNone/>
            </a:pPr>
            <a:r>
              <a:rPr lang="en-US" sz="1400" dirty="0">
                <a:solidFill>
                  <a:schemeClr val="accent6"/>
                </a:solidFill>
              </a:rPr>
              <a:t>Customer portal and reviewer dashboard</a:t>
            </a:r>
            <a:endParaRPr lang="en-US" sz="1400" dirty="0"/>
          </a:p>
        </p:txBody>
      </p:sp>
      <p:sp>
        <p:nvSpPr>
          <p:cNvPr id="8" name="Tier arrow 1"/>
          <p:cNvSpPr/>
          <p:nvPr/>
        </p:nvSpPr>
        <p:spPr>
          <a:xfrm>
            <a:off x="2926080" y="2587752"/>
            <a:ext cx="365760" cy="274320"/>
          </a:xfrm>
          <a:prstGeom prst="downArrow">
            <a:avLst/>
          </a:prstGeom>
          <a:solidFill>
            <a:schemeClr val="accent2"/>
          </a:solidFill>
          <a:ln/>
        </p:spPr>
      </p:sp>
      <p:sp>
        <p:nvSpPr>
          <p:cNvPr id="9" name="Tier Application layer"/>
          <p:cNvSpPr/>
          <p:nvPr/>
        </p:nvSpPr>
        <p:spPr>
          <a:xfrm>
            <a:off x="548640" y="2880360"/>
            <a:ext cx="5120640" cy="1097280"/>
          </a:xfrm>
          <a:prstGeom prst="roundRect">
            <a:avLst>
              <a:gd name="adj" fmla="val 8333"/>
            </a:avLst>
          </a:prstGeom>
          <a:solidFill>
            <a:schemeClr val="bg1"/>
          </a:solidFill>
          <a:ln/>
          <a:effectLst>
            <a:outerShdw sx="100000" sy="100000" kx="0" ky="0" algn="bl" rotWithShape="0" blurRad="101600" dist="25400" dir="5400000">
              <a:srgbClr val="000000">
                <a:alpha val="14000"/>
              </a:srgbClr>
            </a:outerShdw>
          </a:effectLst>
        </p:spPr>
      </p:sp>
      <p:sp>
        <p:nvSpPr>
          <p:cNvPr id="10" name="Icon Application layer bg"/>
          <p:cNvSpPr/>
          <p:nvPr/>
        </p:nvSpPr>
        <p:spPr>
          <a:xfrm>
            <a:off x="777240" y="3154680"/>
            <a:ext cx="548640" cy="548640"/>
          </a:xfrm>
          <a:prstGeom prst="ellipse">
            <a:avLst/>
          </a:prstGeom>
          <a:solidFill>
            <a:schemeClr val="accent1"/>
          </a:solidFill>
          <a:ln/>
        </p:spPr>
      </p:sp>
      <p:pic>
        <p:nvPicPr>
          <p:cNvPr id="11" name="Icon Application layer" descr="Icon Application layer">    </p:cNvPr>
          <p:cNvPicPr>
            <a:picLocks noChangeAspect="1"/>
          </p:cNvPicPr>
          <p:nvPr/>
        </p:nvPicPr>
        <p:blipFill>
          <a:blip r:embed="rId2"/>
          <a:stretch>
            <a:fillRect/>
          </a:stretch>
        </p:blipFill>
        <p:spPr>
          <a:xfrm>
            <a:off x="919886" y="3297326"/>
            <a:ext cx="263347" cy="263347"/>
          </a:xfrm>
          <a:prstGeom prst="rect">
            <a:avLst/>
          </a:prstGeom>
        </p:spPr>
      </p:pic>
      <p:sp>
        <p:nvSpPr>
          <p:cNvPr id="12" name="Text 8"/>
          <p:cNvSpPr txBox="1"/>
          <p:nvPr/>
        </p:nvSpPr>
        <p:spPr>
          <a:xfrm>
            <a:off x="1554480" y="3035808"/>
            <a:ext cx="3931920" cy="320040"/>
          </a:xfrm>
          <a:prstGeom prst="rect">
            <a:avLst/>
          </a:prstGeom>
          <a:noFill/>
          <a:ln/>
        </p:spPr>
        <p:txBody>
          <a:bodyPr wrap="square" lIns="0" tIns="0" rIns="0" bIns="0" rtlCol="0" anchor="t"/>
          <a:lstStyle/>
          <a:p>
            <a:pPr indent="0" marL="0">
              <a:buNone/>
            </a:pPr>
            <a:r>
              <a:rPr lang="en-US" sz="1700" b="1" dirty="0">
                <a:solidFill>
                  <a:schemeClr val="tx1"/>
                </a:solidFill>
              </a:rPr>
              <a:t>Application layer</a:t>
            </a:r>
            <a:endParaRPr lang="en-US" sz="1700" dirty="0"/>
          </a:p>
        </p:txBody>
      </p:sp>
      <p:sp>
        <p:nvSpPr>
          <p:cNvPr id="13" name="Text 9"/>
          <p:cNvSpPr txBox="1"/>
          <p:nvPr/>
        </p:nvSpPr>
        <p:spPr>
          <a:xfrm>
            <a:off x="1554480" y="3383280"/>
            <a:ext cx="3931920" cy="548640"/>
          </a:xfrm>
          <a:prstGeom prst="rect">
            <a:avLst/>
          </a:prstGeom>
          <a:noFill/>
          <a:ln/>
        </p:spPr>
        <p:txBody>
          <a:bodyPr wrap="square" lIns="0" tIns="0" rIns="0" bIns="0" rtlCol="0" anchor="t"/>
          <a:lstStyle/>
          <a:p>
            <a:pPr indent="0" marL="0">
              <a:buNone/>
            </a:pPr>
            <a:r>
              <a:rPr lang="en-US" sz="1400" b="1" dirty="0">
                <a:solidFill>
                  <a:schemeClr val="tx1"/>
                </a:solidFill>
              </a:rPr>
              <a:t>Java 21, Spring Boot 3.3.4</a:t>
            </a:r>
            <a:endParaRPr lang="en-US" sz="1400" dirty="0"/>
          </a:p>
          <a:p>
            <a:pPr indent="0" marL="0">
              <a:buNone/>
            </a:pPr>
            <a:r>
              <a:rPr lang="en-US" sz="1400" dirty="0">
                <a:solidFill>
                  <a:schemeClr val="accent6"/>
                </a:solidFill>
              </a:rPr>
              <a:t>REST APIs, validation, business logic</a:t>
            </a:r>
            <a:endParaRPr lang="en-US" sz="1400" dirty="0"/>
          </a:p>
        </p:txBody>
      </p:sp>
      <p:sp>
        <p:nvSpPr>
          <p:cNvPr id="14" name="Tier arrow 2"/>
          <p:cNvSpPr/>
          <p:nvPr/>
        </p:nvSpPr>
        <p:spPr>
          <a:xfrm>
            <a:off x="2926080" y="4005072"/>
            <a:ext cx="365760" cy="274320"/>
          </a:xfrm>
          <a:prstGeom prst="downArrow">
            <a:avLst/>
          </a:prstGeom>
          <a:solidFill>
            <a:schemeClr val="accent2"/>
          </a:solidFill>
          <a:ln/>
        </p:spPr>
      </p:sp>
      <p:sp>
        <p:nvSpPr>
          <p:cNvPr id="15" name="Tier Persistence layer"/>
          <p:cNvSpPr/>
          <p:nvPr/>
        </p:nvSpPr>
        <p:spPr>
          <a:xfrm>
            <a:off x="548640" y="4297680"/>
            <a:ext cx="5120640" cy="1097280"/>
          </a:xfrm>
          <a:prstGeom prst="roundRect">
            <a:avLst>
              <a:gd name="adj" fmla="val 8333"/>
            </a:avLst>
          </a:prstGeom>
          <a:solidFill>
            <a:schemeClr val="bg1"/>
          </a:solidFill>
          <a:ln/>
          <a:effectLst>
            <a:outerShdw sx="100000" sy="100000" kx="0" ky="0" algn="bl" rotWithShape="0" blurRad="101600" dist="25400" dir="5400000">
              <a:srgbClr val="000000">
                <a:alpha val="14000"/>
              </a:srgbClr>
            </a:outerShdw>
          </a:effectLst>
        </p:spPr>
      </p:sp>
      <p:sp>
        <p:nvSpPr>
          <p:cNvPr id="16" name="Icon Persistence layer bg"/>
          <p:cNvSpPr/>
          <p:nvPr/>
        </p:nvSpPr>
        <p:spPr>
          <a:xfrm>
            <a:off x="777240" y="4572000"/>
            <a:ext cx="548640" cy="548640"/>
          </a:xfrm>
          <a:prstGeom prst="ellipse">
            <a:avLst/>
          </a:prstGeom>
          <a:solidFill>
            <a:schemeClr val="accent1"/>
          </a:solidFill>
          <a:ln/>
        </p:spPr>
      </p:sp>
      <p:pic>
        <p:nvPicPr>
          <p:cNvPr id="17" name="Icon Persistence layer" descr="Icon Persistence layer">    </p:cNvPr>
          <p:cNvPicPr>
            <a:picLocks noChangeAspect="1"/>
          </p:cNvPicPr>
          <p:nvPr/>
        </p:nvPicPr>
        <p:blipFill>
          <a:blip r:embed="rId3"/>
          <a:stretch>
            <a:fillRect/>
          </a:stretch>
        </p:blipFill>
        <p:spPr>
          <a:xfrm>
            <a:off x="919886" y="4714646"/>
            <a:ext cx="263347" cy="263347"/>
          </a:xfrm>
          <a:prstGeom prst="rect">
            <a:avLst/>
          </a:prstGeom>
        </p:spPr>
      </p:pic>
      <p:sp>
        <p:nvSpPr>
          <p:cNvPr id="18" name="Text 13"/>
          <p:cNvSpPr txBox="1"/>
          <p:nvPr/>
        </p:nvSpPr>
        <p:spPr>
          <a:xfrm>
            <a:off x="1554480" y="4453128"/>
            <a:ext cx="3931920" cy="320040"/>
          </a:xfrm>
          <a:prstGeom prst="rect">
            <a:avLst/>
          </a:prstGeom>
          <a:noFill/>
          <a:ln/>
        </p:spPr>
        <p:txBody>
          <a:bodyPr wrap="square" lIns="0" tIns="0" rIns="0" bIns="0" rtlCol="0" anchor="t"/>
          <a:lstStyle/>
          <a:p>
            <a:pPr indent="0" marL="0">
              <a:buNone/>
            </a:pPr>
            <a:r>
              <a:rPr lang="en-US" sz="1700" b="1" dirty="0">
                <a:solidFill>
                  <a:schemeClr val="tx1"/>
                </a:solidFill>
              </a:rPr>
              <a:t>Persistence layer</a:t>
            </a:r>
            <a:endParaRPr lang="en-US" sz="1700" dirty="0"/>
          </a:p>
        </p:txBody>
      </p:sp>
      <p:sp>
        <p:nvSpPr>
          <p:cNvPr id="19" name="Text 14"/>
          <p:cNvSpPr txBox="1"/>
          <p:nvPr/>
        </p:nvSpPr>
        <p:spPr>
          <a:xfrm>
            <a:off x="1554480" y="4800600"/>
            <a:ext cx="3931920" cy="548640"/>
          </a:xfrm>
          <a:prstGeom prst="rect">
            <a:avLst/>
          </a:prstGeom>
          <a:noFill/>
          <a:ln/>
        </p:spPr>
        <p:txBody>
          <a:bodyPr wrap="square" lIns="0" tIns="0" rIns="0" bIns="0" rtlCol="0" anchor="t"/>
          <a:lstStyle/>
          <a:p>
            <a:pPr indent="0" marL="0">
              <a:buNone/>
            </a:pPr>
            <a:r>
              <a:rPr lang="en-US" sz="1400" b="1" dirty="0">
                <a:solidFill>
                  <a:schemeClr val="tx1"/>
                </a:solidFill>
              </a:rPr>
              <a:t>H2 in-memory database</a:t>
            </a:r>
            <a:endParaRPr lang="en-US" sz="1400" dirty="0"/>
          </a:p>
          <a:p>
            <a:pPr indent="0" marL="0">
              <a:buNone/>
            </a:pPr>
            <a:r>
              <a:rPr lang="en-US" sz="1400" dirty="0">
                <a:solidFill>
                  <a:schemeClr val="accent6"/>
                </a:solidFill>
              </a:rPr>
              <a:t>Zero setup, fast and easy to reset</a:t>
            </a:r>
            <a:endParaRPr lang="en-US" sz="1400" dirty="0"/>
          </a:p>
        </p:txBody>
      </p:sp>
      <p:sp>
        <p:nvSpPr>
          <p:cNvPr id="20" name="Text 15"/>
          <p:cNvSpPr txBox="1"/>
          <p:nvPr/>
        </p:nvSpPr>
        <p:spPr>
          <a:xfrm>
            <a:off x="6126480" y="1463040"/>
            <a:ext cx="5486400" cy="457200"/>
          </a:xfrm>
          <a:prstGeom prst="rect">
            <a:avLst/>
          </a:prstGeom>
          <a:noFill/>
          <a:ln/>
        </p:spPr>
        <p:txBody>
          <a:bodyPr wrap="square" lIns="0" tIns="0" rIns="0" bIns="0" rtlCol="0" anchor="t"/>
          <a:lstStyle/>
          <a:p>
            <a:pPr indent="0" marL="0">
              <a:buNone/>
            </a:pPr>
            <a:r>
              <a:rPr lang="en-US" sz="2200" b="1" dirty="0">
                <a:solidFill>
                  <a:schemeClr val="tx1"/>
                </a:solidFill>
              </a:rPr>
              <a:t>DevOps toolchain</a:t>
            </a:r>
            <a:endParaRPr lang="en-US" sz="2200" dirty="0"/>
          </a:p>
        </p:txBody>
      </p:sp>
      <p:sp>
        <p:nvSpPr>
          <p:cNvPr id="21" name="Tool label SCM"/>
          <p:cNvSpPr/>
          <p:nvPr/>
        </p:nvSpPr>
        <p:spPr>
          <a:xfrm>
            <a:off x="6126480" y="2103120"/>
            <a:ext cx="1554480" cy="621792"/>
          </a:xfrm>
          <a:prstGeom prst="roundRect">
            <a:avLst>
              <a:gd name="adj" fmla="val 14706"/>
            </a:avLst>
          </a:prstGeom>
          <a:solidFill>
            <a:schemeClr val="accent1"/>
          </a:solidFill>
          <a:ln/>
        </p:spPr>
      </p:sp>
      <p:sp>
        <p:nvSpPr>
          <p:cNvPr id="22" name="Text 17"/>
          <p:cNvSpPr txBox="1"/>
          <p:nvPr/>
        </p:nvSpPr>
        <p:spPr>
          <a:xfrm>
            <a:off x="6126480" y="2103120"/>
            <a:ext cx="1554480" cy="621792"/>
          </a:xfrm>
          <a:prstGeom prst="rect">
            <a:avLst/>
          </a:prstGeom>
          <a:noFill/>
          <a:ln/>
        </p:spPr>
        <p:txBody>
          <a:bodyPr wrap="square" lIns="0" tIns="0" rIns="0" bIns="0" rtlCol="0" anchor="ctr"/>
          <a:lstStyle/>
          <a:p>
            <a:pPr algn="ctr" indent="0" marL="0">
              <a:buNone/>
            </a:pPr>
            <a:r>
              <a:rPr lang="en-US" sz="1500" b="1" dirty="0">
                <a:solidFill>
                  <a:schemeClr val="bg1"/>
                </a:solidFill>
              </a:rPr>
              <a:t>SCM</a:t>
            </a:r>
            <a:endParaRPr lang="en-US" sz="1500" dirty="0"/>
          </a:p>
        </p:txBody>
      </p:sp>
      <p:sp>
        <p:nvSpPr>
          <p:cNvPr id="23" name="Tool detail SCM"/>
          <p:cNvSpPr/>
          <p:nvPr/>
        </p:nvSpPr>
        <p:spPr>
          <a:xfrm>
            <a:off x="7818120" y="2103120"/>
            <a:ext cx="3822192" cy="621792"/>
          </a:xfrm>
          <a:prstGeom prst="roundRect">
            <a:avLst>
              <a:gd name="adj" fmla="val 14706"/>
            </a:avLst>
          </a:prstGeom>
          <a:solidFill>
            <a:schemeClr val="bg1"/>
          </a:solidFill>
          <a:ln/>
        </p:spPr>
      </p:sp>
      <p:sp>
        <p:nvSpPr>
          <p:cNvPr id="24" name="Text 19"/>
          <p:cNvSpPr txBox="1"/>
          <p:nvPr/>
        </p:nvSpPr>
        <p:spPr>
          <a:xfrm>
            <a:off x="7955280" y="2103120"/>
            <a:ext cx="3611880" cy="621792"/>
          </a:xfrm>
          <a:prstGeom prst="rect">
            <a:avLst/>
          </a:prstGeom>
          <a:noFill/>
          <a:ln/>
        </p:spPr>
        <p:txBody>
          <a:bodyPr wrap="square" lIns="0" tIns="0" rIns="0" bIns="0" rtlCol="0" anchor="ctr"/>
          <a:lstStyle/>
          <a:p>
            <a:pPr indent="0" marL="0">
              <a:buNone/>
            </a:pPr>
            <a:r>
              <a:rPr lang="en-US" sz="1400" dirty="0">
                <a:solidFill>
                  <a:schemeClr val="tx1"/>
                </a:solidFill>
              </a:rPr>
              <a:t>Git and GitHub, reviewed Pull Requests</a:t>
            </a:r>
            <a:endParaRPr lang="en-US" sz="1400" dirty="0"/>
          </a:p>
        </p:txBody>
      </p:sp>
      <p:sp>
        <p:nvSpPr>
          <p:cNvPr id="25" name="Tool label CI"/>
          <p:cNvSpPr/>
          <p:nvPr/>
        </p:nvSpPr>
        <p:spPr>
          <a:xfrm>
            <a:off x="6126480" y="2907792"/>
            <a:ext cx="1554480" cy="621792"/>
          </a:xfrm>
          <a:prstGeom prst="roundRect">
            <a:avLst>
              <a:gd name="adj" fmla="val 14706"/>
            </a:avLst>
          </a:prstGeom>
          <a:solidFill>
            <a:schemeClr val="accent1"/>
          </a:solidFill>
          <a:ln/>
        </p:spPr>
      </p:sp>
      <p:sp>
        <p:nvSpPr>
          <p:cNvPr id="26" name="Text 21"/>
          <p:cNvSpPr txBox="1"/>
          <p:nvPr/>
        </p:nvSpPr>
        <p:spPr>
          <a:xfrm>
            <a:off x="6126480" y="2907792"/>
            <a:ext cx="1554480" cy="621792"/>
          </a:xfrm>
          <a:prstGeom prst="rect">
            <a:avLst/>
          </a:prstGeom>
          <a:noFill/>
          <a:ln/>
        </p:spPr>
        <p:txBody>
          <a:bodyPr wrap="square" lIns="0" tIns="0" rIns="0" bIns="0" rtlCol="0" anchor="ctr"/>
          <a:lstStyle/>
          <a:p>
            <a:pPr algn="ctr" indent="0" marL="0">
              <a:buNone/>
            </a:pPr>
            <a:r>
              <a:rPr lang="en-US" sz="1500" b="1" dirty="0">
                <a:solidFill>
                  <a:schemeClr val="bg1"/>
                </a:solidFill>
              </a:rPr>
              <a:t>CI</a:t>
            </a:r>
            <a:endParaRPr lang="en-US" sz="1500" dirty="0"/>
          </a:p>
        </p:txBody>
      </p:sp>
      <p:sp>
        <p:nvSpPr>
          <p:cNvPr id="27" name="Tool detail CI"/>
          <p:cNvSpPr/>
          <p:nvPr/>
        </p:nvSpPr>
        <p:spPr>
          <a:xfrm>
            <a:off x="7818120" y="2907792"/>
            <a:ext cx="3822192" cy="621792"/>
          </a:xfrm>
          <a:prstGeom prst="roundRect">
            <a:avLst>
              <a:gd name="adj" fmla="val 14706"/>
            </a:avLst>
          </a:prstGeom>
          <a:solidFill>
            <a:schemeClr val="bg1"/>
          </a:solidFill>
          <a:ln/>
        </p:spPr>
      </p:sp>
      <p:sp>
        <p:nvSpPr>
          <p:cNvPr id="28" name="Text 23"/>
          <p:cNvSpPr txBox="1"/>
          <p:nvPr/>
        </p:nvSpPr>
        <p:spPr>
          <a:xfrm>
            <a:off x="7955280" y="2907792"/>
            <a:ext cx="3611880" cy="621792"/>
          </a:xfrm>
          <a:prstGeom prst="rect">
            <a:avLst/>
          </a:prstGeom>
          <a:noFill/>
          <a:ln/>
        </p:spPr>
        <p:txBody>
          <a:bodyPr wrap="square" lIns="0" tIns="0" rIns="0" bIns="0" rtlCol="0" anchor="ctr"/>
          <a:lstStyle/>
          <a:p>
            <a:pPr indent="0" marL="0">
              <a:buNone/>
            </a:pPr>
            <a:r>
              <a:rPr lang="en-US" sz="1400" dirty="0">
                <a:solidFill>
                  <a:schemeClr val="tx1"/>
                </a:solidFill>
              </a:rPr>
              <a:t>Jenkins with a declarative Jenkinsfile</a:t>
            </a:r>
            <a:endParaRPr lang="en-US" sz="1400" dirty="0"/>
          </a:p>
        </p:txBody>
      </p:sp>
      <p:sp>
        <p:nvSpPr>
          <p:cNvPr id="29" name="Tool label Testing"/>
          <p:cNvSpPr/>
          <p:nvPr/>
        </p:nvSpPr>
        <p:spPr>
          <a:xfrm>
            <a:off x="6126480" y="3712464"/>
            <a:ext cx="1554480" cy="621792"/>
          </a:xfrm>
          <a:prstGeom prst="roundRect">
            <a:avLst>
              <a:gd name="adj" fmla="val 14706"/>
            </a:avLst>
          </a:prstGeom>
          <a:solidFill>
            <a:schemeClr val="accent1"/>
          </a:solidFill>
          <a:ln/>
        </p:spPr>
      </p:sp>
      <p:sp>
        <p:nvSpPr>
          <p:cNvPr id="30" name="Text 25"/>
          <p:cNvSpPr txBox="1"/>
          <p:nvPr/>
        </p:nvSpPr>
        <p:spPr>
          <a:xfrm>
            <a:off x="6126480" y="3712464"/>
            <a:ext cx="1554480" cy="621792"/>
          </a:xfrm>
          <a:prstGeom prst="rect">
            <a:avLst/>
          </a:prstGeom>
          <a:noFill/>
          <a:ln/>
        </p:spPr>
        <p:txBody>
          <a:bodyPr wrap="square" lIns="0" tIns="0" rIns="0" bIns="0" rtlCol="0" anchor="ctr"/>
          <a:lstStyle/>
          <a:p>
            <a:pPr algn="ctr" indent="0" marL="0">
              <a:buNone/>
            </a:pPr>
            <a:r>
              <a:rPr lang="en-US" sz="1500" b="1" dirty="0">
                <a:solidFill>
                  <a:schemeClr val="bg1"/>
                </a:solidFill>
              </a:rPr>
              <a:t>Testing</a:t>
            </a:r>
            <a:endParaRPr lang="en-US" sz="1500" dirty="0"/>
          </a:p>
        </p:txBody>
      </p:sp>
      <p:sp>
        <p:nvSpPr>
          <p:cNvPr id="31" name="Tool detail Testing"/>
          <p:cNvSpPr/>
          <p:nvPr/>
        </p:nvSpPr>
        <p:spPr>
          <a:xfrm>
            <a:off x="7818120" y="3712464"/>
            <a:ext cx="3822192" cy="621792"/>
          </a:xfrm>
          <a:prstGeom prst="roundRect">
            <a:avLst>
              <a:gd name="adj" fmla="val 14706"/>
            </a:avLst>
          </a:prstGeom>
          <a:solidFill>
            <a:schemeClr val="bg1"/>
          </a:solidFill>
          <a:ln/>
        </p:spPr>
      </p:sp>
      <p:sp>
        <p:nvSpPr>
          <p:cNvPr id="32" name="Text 27"/>
          <p:cNvSpPr txBox="1"/>
          <p:nvPr/>
        </p:nvSpPr>
        <p:spPr>
          <a:xfrm>
            <a:off x="7955280" y="3712464"/>
            <a:ext cx="3611880" cy="621792"/>
          </a:xfrm>
          <a:prstGeom prst="rect">
            <a:avLst/>
          </a:prstGeom>
          <a:noFill/>
          <a:ln/>
        </p:spPr>
        <p:txBody>
          <a:bodyPr wrap="square" lIns="0" tIns="0" rIns="0" bIns="0" rtlCol="0" anchor="ctr"/>
          <a:lstStyle/>
          <a:p>
            <a:pPr indent="0" marL="0">
              <a:buNone/>
            </a:pPr>
            <a:r>
              <a:rPr lang="en-US" sz="1400" dirty="0">
                <a:solidFill>
                  <a:schemeClr val="tx1"/>
                </a:solidFill>
              </a:rPr>
              <a:t>JUnit 5 and Selenium WebDriver 4</a:t>
            </a:r>
            <a:endParaRPr lang="en-US" sz="1400" dirty="0"/>
          </a:p>
        </p:txBody>
      </p:sp>
      <p:sp>
        <p:nvSpPr>
          <p:cNvPr id="33" name="Tool label Containers"/>
          <p:cNvSpPr/>
          <p:nvPr/>
        </p:nvSpPr>
        <p:spPr>
          <a:xfrm>
            <a:off x="6126480" y="4517136"/>
            <a:ext cx="1554480" cy="621792"/>
          </a:xfrm>
          <a:prstGeom prst="roundRect">
            <a:avLst>
              <a:gd name="adj" fmla="val 14706"/>
            </a:avLst>
          </a:prstGeom>
          <a:solidFill>
            <a:schemeClr val="accent1"/>
          </a:solidFill>
          <a:ln/>
        </p:spPr>
      </p:sp>
      <p:sp>
        <p:nvSpPr>
          <p:cNvPr id="34" name="Text 29"/>
          <p:cNvSpPr txBox="1"/>
          <p:nvPr/>
        </p:nvSpPr>
        <p:spPr>
          <a:xfrm>
            <a:off x="6126480" y="4517136"/>
            <a:ext cx="1554480" cy="621792"/>
          </a:xfrm>
          <a:prstGeom prst="rect">
            <a:avLst/>
          </a:prstGeom>
          <a:noFill/>
          <a:ln/>
        </p:spPr>
        <p:txBody>
          <a:bodyPr wrap="square" lIns="0" tIns="0" rIns="0" bIns="0" rtlCol="0" anchor="ctr"/>
          <a:lstStyle/>
          <a:p>
            <a:pPr algn="ctr" indent="0" marL="0">
              <a:buNone/>
            </a:pPr>
            <a:r>
              <a:rPr lang="en-US" sz="1500" b="1" dirty="0">
                <a:solidFill>
                  <a:schemeClr val="bg1"/>
                </a:solidFill>
              </a:rPr>
              <a:t>Containers</a:t>
            </a:r>
            <a:endParaRPr lang="en-US" sz="1500" dirty="0"/>
          </a:p>
        </p:txBody>
      </p:sp>
      <p:sp>
        <p:nvSpPr>
          <p:cNvPr id="35" name="Tool detail Containers"/>
          <p:cNvSpPr/>
          <p:nvPr/>
        </p:nvSpPr>
        <p:spPr>
          <a:xfrm>
            <a:off x="7818120" y="4517136"/>
            <a:ext cx="3822192" cy="621792"/>
          </a:xfrm>
          <a:prstGeom prst="roundRect">
            <a:avLst>
              <a:gd name="adj" fmla="val 14706"/>
            </a:avLst>
          </a:prstGeom>
          <a:solidFill>
            <a:schemeClr val="bg1"/>
          </a:solidFill>
          <a:ln/>
        </p:spPr>
      </p:sp>
      <p:sp>
        <p:nvSpPr>
          <p:cNvPr id="36" name="Text 31"/>
          <p:cNvSpPr txBox="1"/>
          <p:nvPr/>
        </p:nvSpPr>
        <p:spPr>
          <a:xfrm>
            <a:off x="7955280" y="4517136"/>
            <a:ext cx="3611880" cy="621792"/>
          </a:xfrm>
          <a:prstGeom prst="rect">
            <a:avLst/>
          </a:prstGeom>
          <a:noFill/>
          <a:ln/>
        </p:spPr>
        <p:txBody>
          <a:bodyPr wrap="square" lIns="0" tIns="0" rIns="0" bIns="0" rtlCol="0" anchor="ctr"/>
          <a:lstStyle/>
          <a:p>
            <a:pPr indent="0" marL="0">
              <a:buNone/>
            </a:pPr>
            <a:r>
              <a:rPr lang="en-US" sz="1400" dirty="0">
                <a:solidFill>
                  <a:schemeClr val="tx1"/>
                </a:solidFill>
              </a:rPr>
              <a:t>Docker with a Temurin JRE 21 runtime</a:t>
            </a:r>
            <a:endParaRPr lang="en-US" sz="1400" dirty="0"/>
          </a:p>
        </p:txBody>
      </p:sp>
      <p:sp>
        <p:nvSpPr>
          <p:cNvPr id="37" name="Tool label Config"/>
          <p:cNvSpPr/>
          <p:nvPr/>
        </p:nvSpPr>
        <p:spPr>
          <a:xfrm>
            <a:off x="6126480" y="5321808"/>
            <a:ext cx="1554480" cy="621792"/>
          </a:xfrm>
          <a:prstGeom prst="roundRect">
            <a:avLst>
              <a:gd name="adj" fmla="val 14706"/>
            </a:avLst>
          </a:prstGeom>
          <a:solidFill>
            <a:schemeClr val="accent1"/>
          </a:solidFill>
          <a:ln/>
        </p:spPr>
      </p:sp>
      <p:sp>
        <p:nvSpPr>
          <p:cNvPr id="38" name="Text 33"/>
          <p:cNvSpPr txBox="1"/>
          <p:nvPr/>
        </p:nvSpPr>
        <p:spPr>
          <a:xfrm>
            <a:off x="6126480" y="5321808"/>
            <a:ext cx="1554480" cy="621792"/>
          </a:xfrm>
          <a:prstGeom prst="rect">
            <a:avLst/>
          </a:prstGeom>
          <a:noFill/>
          <a:ln/>
        </p:spPr>
        <p:txBody>
          <a:bodyPr wrap="square" lIns="0" tIns="0" rIns="0" bIns="0" rtlCol="0" anchor="ctr"/>
          <a:lstStyle/>
          <a:p>
            <a:pPr algn="ctr" indent="0" marL="0">
              <a:buNone/>
            </a:pPr>
            <a:r>
              <a:rPr lang="en-US" sz="1500" b="1" dirty="0">
                <a:solidFill>
                  <a:schemeClr val="bg1"/>
                </a:solidFill>
              </a:rPr>
              <a:t>Config</a:t>
            </a:r>
            <a:endParaRPr lang="en-US" sz="1500" dirty="0"/>
          </a:p>
        </p:txBody>
      </p:sp>
      <p:sp>
        <p:nvSpPr>
          <p:cNvPr id="39" name="Tool detail Config"/>
          <p:cNvSpPr/>
          <p:nvPr/>
        </p:nvSpPr>
        <p:spPr>
          <a:xfrm>
            <a:off x="7818120" y="5321808"/>
            <a:ext cx="3822192" cy="621792"/>
          </a:xfrm>
          <a:prstGeom prst="roundRect">
            <a:avLst>
              <a:gd name="adj" fmla="val 14706"/>
            </a:avLst>
          </a:prstGeom>
          <a:solidFill>
            <a:schemeClr val="bg1"/>
          </a:solidFill>
          <a:ln/>
        </p:spPr>
      </p:sp>
      <p:sp>
        <p:nvSpPr>
          <p:cNvPr id="40" name="Text 35"/>
          <p:cNvSpPr txBox="1"/>
          <p:nvPr/>
        </p:nvSpPr>
        <p:spPr>
          <a:xfrm>
            <a:off x="7955280" y="5321808"/>
            <a:ext cx="3611880" cy="621792"/>
          </a:xfrm>
          <a:prstGeom prst="rect">
            <a:avLst/>
          </a:prstGeom>
          <a:noFill/>
          <a:ln/>
        </p:spPr>
        <p:txBody>
          <a:bodyPr wrap="square" lIns="0" tIns="0" rIns="0" bIns="0" rtlCol="0" anchor="ctr"/>
          <a:lstStyle/>
          <a:p>
            <a:pPr indent="0" marL="0">
              <a:buNone/>
            </a:pPr>
            <a:r>
              <a:rPr lang="en-US" sz="1400" dirty="0">
                <a:solidFill>
                  <a:schemeClr val="tx1"/>
                </a:solidFill>
              </a:rPr>
              <a:t>Ansible with Jinja2 systemd templates</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68680"/>
          </a:xfrm>
          <a:prstGeom prst="rect">
            <a:avLst/>
          </a:prstGeom>
          <a:noFill/>
          <a:ln/>
        </p:spPr>
        <p:txBody>
          <a:bodyPr wrap="square" lIns="0" tIns="0" rIns="0" bIns="0" rtlCol="0" anchor="ctr"/>
          <a:lstStyle/>
          <a:p>
            <a:pPr indent="0" marL="0">
              <a:buNone/>
            </a:pPr>
            <a:r>
              <a:rPr lang="en-US" sz="3400" b="1" dirty="0">
                <a:solidFill>
                  <a:schemeClr val="tx1"/>
                </a:solidFill>
              </a:rPr>
              <a:t>Agile roadmap: 15 tasks in 5 sprints</a:t>
            </a:r>
            <a:endParaRPr lang="en-US" sz="3400" dirty="0"/>
          </a:p>
        </p:txBody>
      </p:sp>
      <p:sp>
        <p:nvSpPr>
          <p:cNvPr id="3" name="Timeline line"/>
          <p:cNvSpPr/>
          <p:nvPr/>
        </p:nvSpPr>
        <p:spPr>
          <a:xfrm>
            <a:off x="1554480" y="1920240"/>
            <a:ext cx="9052560" cy="0"/>
          </a:xfrm>
          <a:prstGeom prst="line">
            <a:avLst/>
          </a:prstGeom>
          <a:noFill/>
          <a:ln w="38100">
            <a:solidFill>
              <a:schemeClr val="accent3"/>
            </a:solidFill>
            <a:prstDash val="solid"/>
          </a:ln>
        </p:spPr>
      </p:sp>
      <p:sp>
        <p:nvSpPr>
          <p:cNvPr id="4" name="Sprint dot 1"/>
          <p:cNvSpPr/>
          <p:nvPr/>
        </p:nvSpPr>
        <p:spPr>
          <a:xfrm>
            <a:off x="1266444" y="1600200"/>
            <a:ext cx="640080" cy="640080"/>
          </a:xfrm>
          <a:prstGeom prst="ellipse">
            <a:avLst/>
          </a:prstGeom>
          <a:solidFill>
            <a:schemeClr val="accent1"/>
          </a:solidFill>
          <a:ln/>
        </p:spPr>
      </p:sp>
      <p:sp>
        <p:nvSpPr>
          <p:cNvPr id="5" name="Text 3"/>
          <p:cNvSpPr txBox="1"/>
          <p:nvPr/>
        </p:nvSpPr>
        <p:spPr>
          <a:xfrm>
            <a:off x="1266444" y="160020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6" name="Sprint card 1"/>
          <p:cNvSpPr/>
          <p:nvPr/>
        </p:nvSpPr>
        <p:spPr>
          <a:xfrm>
            <a:off x="548640" y="2514600"/>
            <a:ext cx="2075688" cy="3383280"/>
          </a:xfrm>
          <a:prstGeom prst="roundRect">
            <a:avLst>
              <a:gd name="adj" fmla="val 4405"/>
            </a:avLst>
          </a:prstGeom>
          <a:solidFill>
            <a:schemeClr val="bg1"/>
          </a:solidFill>
          <a:ln/>
          <a:effectLst>
            <a:outerShdw sx="100000" sy="100000" kx="0" ky="0" algn="bl" rotWithShape="0" blurRad="101600" dist="25400" dir="5400000">
              <a:srgbClr val="000000">
                <a:alpha val="14000"/>
              </a:srgbClr>
            </a:outerShdw>
          </a:effectLst>
        </p:spPr>
      </p:sp>
      <p:sp>
        <p:nvSpPr>
          <p:cNvPr id="7" name="Text 5"/>
          <p:cNvSpPr txBox="1"/>
          <p:nvPr/>
        </p:nvSpPr>
        <p:spPr>
          <a:xfrm>
            <a:off x="731520" y="2697480"/>
            <a:ext cx="1737360" cy="365760"/>
          </a:xfrm>
          <a:prstGeom prst="rect">
            <a:avLst/>
          </a:prstGeom>
          <a:noFill/>
          <a:ln/>
        </p:spPr>
        <p:txBody>
          <a:bodyPr wrap="square" lIns="0" tIns="0" rIns="0" bIns="0" rtlCol="0" anchor="t"/>
          <a:lstStyle/>
          <a:p>
            <a:pPr indent="0" marL="0">
              <a:buNone/>
            </a:pPr>
            <a:r>
              <a:rPr lang="en-US" sz="2000" b="1" dirty="0">
                <a:solidFill>
                  <a:schemeClr val="accent1"/>
                </a:solidFill>
              </a:rPr>
              <a:t>Sprint 1</a:t>
            </a:r>
            <a:endParaRPr lang="en-US" sz="2000" dirty="0"/>
          </a:p>
        </p:txBody>
      </p:sp>
      <p:sp>
        <p:nvSpPr>
          <p:cNvPr id="8" name="Text 6"/>
          <p:cNvSpPr txBox="1"/>
          <p:nvPr/>
        </p:nvSpPr>
        <p:spPr>
          <a:xfrm>
            <a:off x="731520" y="3154680"/>
            <a:ext cx="1737360" cy="320040"/>
          </a:xfrm>
          <a:prstGeom prst="rect">
            <a:avLst/>
          </a:prstGeom>
          <a:noFill/>
          <a:ln/>
        </p:spPr>
        <p:txBody>
          <a:bodyPr wrap="square" lIns="0" tIns="0" rIns="0" bIns="0" rtlCol="0" anchor="t"/>
          <a:lstStyle/>
          <a:p>
            <a:pPr indent="0" marL="0">
              <a:buNone/>
            </a:pPr>
            <a:r>
              <a:rPr lang="en-US" sz="1400" b="1" dirty="0">
                <a:solidFill>
                  <a:schemeClr val="tx1"/>
                </a:solidFill>
              </a:rPr>
              <a:t>Tasks 1-3</a:t>
            </a:r>
            <a:endParaRPr lang="en-US" sz="1400" dirty="0"/>
          </a:p>
        </p:txBody>
      </p:sp>
      <p:sp>
        <p:nvSpPr>
          <p:cNvPr id="9" name="Text 7"/>
          <p:cNvSpPr txBox="1"/>
          <p:nvPr/>
        </p:nvSpPr>
        <p:spPr>
          <a:xfrm>
            <a:off x="731520" y="3611880"/>
            <a:ext cx="1737360" cy="2103120"/>
          </a:xfrm>
          <a:prstGeom prst="rect">
            <a:avLst/>
          </a:prstGeom>
          <a:noFill/>
          <a:ln/>
        </p:spPr>
        <p:txBody>
          <a:bodyPr wrap="square" lIns="0" tIns="0" rIns="0" bIns="0" rtlCol="0" anchor="t"/>
          <a:lstStyle/>
          <a:p>
            <a:pPr indent="0" marL="0">
              <a:buNone/>
            </a:pPr>
            <a:r>
              <a:rPr lang="en-US" sz="1500" dirty="0">
                <a:solidFill>
                  <a:schemeClr val="accent6"/>
                </a:solidFill>
              </a:rPr>
              <a:t>Problem definition, Agile backlog and 3-tier design</a:t>
            </a:r>
            <a:endParaRPr lang="en-US" sz="1500" dirty="0"/>
          </a:p>
        </p:txBody>
      </p:sp>
      <p:sp>
        <p:nvSpPr>
          <p:cNvPr id="10" name="Sprint dot 2"/>
          <p:cNvSpPr/>
          <p:nvPr/>
        </p:nvSpPr>
        <p:spPr>
          <a:xfrm>
            <a:off x="3520440" y="1600200"/>
            <a:ext cx="640080" cy="640080"/>
          </a:xfrm>
          <a:prstGeom prst="ellipse">
            <a:avLst/>
          </a:prstGeom>
          <a:solidFill>
            <a:schemeClr val="accent2"/>
          </a:solidFill>
          <a:ln/>
        </p:spPr>
      </p:sp>
      <p:sp>
        <p:nvSpPr>
          <p:cNvPr id="11" name="Text 9"/>
          <p:cNvSpPr txBox="1"/>
          <p:nvPr/>
        </p:nvSpPr>
        <p:spPr>
          <a:xfrm>
            <a:off x="3520440" y="160020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2" name="Sprint card 2"/>
          <p:cNvSpPr/>
          <p:nvPr/>
        </p:nvSpPr>
        <p:spPr>
          <a:xfrm>
            <a:off x="2802636" y="2514600"/>
            <a:ext cx="2075688" cy="3383280"/>
          </a:xfrm>
          <a:prstGeom prst="roundRect">
            <a:avLst>
              <a:gd name="adj" fmla="val 4405"/>
            </a:avLst>
          </a:prstGeom>
          <a:solidFill>
            <a:schemeClr val="bg1"/>
          </a:solidFill>
          <a:ln/>
          <a:effectLst>
            <a:outerShdw sx="100000" sy="100000" kx="0" ky="0" algn="bl" rotWithShape="0" blurRad="101600" dist="25400" dir="5400000">
              <a:srgbClr val="000000">
                <a:alpha val="14000"/>
              </a:srgbClr>
            </a:outerShdw>
          </a:effectLst>
        </p:spPr>
      </p:sp>
      <p:sp>
        <p:nvSpPr>
          <p:cNvPr id="13" name="Text 11"/>
          <p:cNvSpPr txBox="1"/>
          <p:nvPr/>
        </p:nvSpPr>
        <p:spPr>
          <a:xfrm>
            <a:off x="2985516" y="2697480"/>
            <a:ext cx="1737360" cy="365760"/>
          </a:xfrm>
          <a:prstGeom prst="rect">
            <a:avLst/>
          </a:prstGeom>
          <a:noFill/>
          <a:ln/>
        </p:spPr>
        <p:txBody>
          <a:bodyPr wrap="square" lIns="0" tIns="0" rIns="0" bIns="0" rtlCol="0" anchor="t"/>
          <a:lstStyle/>
          <a:p>
            <a:pPr indent="0" marL="0">
              <a:buNone/>
            </a:pPr>
            <a:r>
              <a:rPr lang="en-US" sz="2000" b="1" dirty="0">
                <a:solidFill>
                  <a:schemeClr val="accent2"/>
                </a:solidFill>
              </a:rPr>
              <a:t>Sprint 2</a:t>
            </a:r>
            <a:endParaRPr lang="en-US" sz="2000" dirty="0"/>
          </a:p>
        </p:txBody>
      </p:sp>
      <p:sp>
        <p:nvSpPr>
          <p:cNvPr id="14" name="Text 12"/>
          <p:cNvSpPr txBox="1"/>
          <p:nvPr/>
        </p:nvSpPr>
        <p:spPr>
          <a:xfrm>
            <a:off x="2985516" y="3154680"/>
            <a:ext cx="1737360" cy="320040"/>
          </a:xfrm>
          <a:prstGeom prst="rect">
            <a:avLst/>
          </a:prstGeom>
          <a:noFill/>
          <a:ln/>
        </p:spPr>
        <p:txBody>
          <a:bodyPr wrap="square" lIns="0" tIns="0" rIns="0" bIns="0" rtlCol="0" anchor="t"/>
          <a:lstStyle/>
          <a:p>
            <a:pPr indent="0" marL="0">
              <a:buNone/>
            </a:pPr>
            <a:r>
              <a:rPr lang="en-US" sz="1400" b="1" dirty="0">
                <a:solidFill>
                  <a:schemeClr val="tx1"/>
                </a:solidFill>
              </a:rPr>
              <a:t>Tasks 4-6</a:t>
            </a:r>
            <a:endParaRPr lang="en-US" sz="1400" dirty="0"/>
          </a:p>
        </p:txBody>
      </p:sp>
      <p:sp>
        <p:nvSpPr>
          <p:cNvPr id="15" name="Text 13"/>
          <p:cNvSpPr txBox="1"/>
          <p:nvPr/>
        </p:nvSpPr>
        <p:spPr>
          <a:xfrm>
            <a:off x="2985516" y="3611880"/>
            <a:ext cx="1737360" cy="2103120"/>
          </a:xfrm>
          <a:prstGeom prst="rect">
            <a:avLst/>
          </a:prstGeom>
          <a:noFill/>
          <a:ln/>
        </p:spPr>
        <p:txBody>
          <a:bodyPr wrap="square" lIns="0" tIns="0" rIns="0" bIns="0" rtlCol="0" anchor="t"/>
          <a:lstStyle/>
          <a:p>
            <a:pPr indent="0" marL="0">
              <a:buNone/>
            </a:pPr>
            <a:r>
              <a:rPr lang="en-US" sz="1500" dirty="0">
                <a:solidFill>
                  <a:schemeClr val="accent6"/>
                </a:solidFill>
              </a:rPr>
              <a:t>Git setup, feature branching and conflict resolution</a:t>
            </a:r>
            <a:endParaRPr lang="en-US" sz="1500" dirty="0"/>
          </a:p>
        </p:txBody>
      </p:sp>
      <p:sp>
        <p:nvSpPr>
          <p:cNvPr id="16" name="Sprint dot 3"/>
          <p:cNvSpPr/>
          <p:nvPr/>
        </p:nvSpPr>
        <p:spPr>
          <a:xfrm>
            <a:off x="5774436" y="1600200"/>
            <a:ext cx="640080" cy="640080"/>
          </a:xfrm>
          <a:prstGeom prst="ellipse">
            <a:avLst/>
          </a:prstGeom>
          <a:solidFill>
            <a:schemeClr val="accent1"/>
          </a:solidFill>
          <a:ln/>
        </p:spPr>
      </p:sp>
      <p:sp>
        <p:nvSpPr>
          <p:cNvPr id="17" name="Text 15"/>
          <p:cNvSpPr txBox="1"/>
          <p:nvPr/>
        </p:nvSpPr>
        <p:spPr>
          <a:xfrm>
            <a:off x="5774436" y="160020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8" name="Sprint card 3"/>
          <p:cNvSpPr/>
          <p:nvPr/>
        </p:nvSpPr>
        <p:spPr>
          <a:xfrm>
            <a:off x="5056632" y="2514600"/>
            <a:ext cx="2075688" cy="3383280"/>
          </a:xfrm>
          <a:prstGeom prst="roundRect">
            <a:avLst>
              <a:gd name="adj" fmla="val 4405"/>
            </a:avLst>
          </a:prstGeom>
          <a:solidFill>
            <a:schemeClr val="bg1"/>
          </a:solidFill>
          <a:ln/>
          <a:effectLst>
            <a:outerShdw sx="100000" sy="100000" kx="0" ky="0" algn="bl" rotWithShape="0" blurRad="101600" dist="25400" dir="5400000">
              <a:srgbClr val="000000">
                <a:alpha val="14000"/>
              </a:srgbClr>
            </a:outerShdw>
          </a:effectLst>
        </p:spPr>
      </p:sp>
      <p:sp>
        <p:nvSpPr>
          <p:cNvPr id="19" name="Text 17"/>
          <p:cNvSpPr txBox="1"/>
          <p:nvPr/>
        </p:nvSpPr>
        <p:spPr>
          <a:xfrm>
            <a:off x="5239512" y="2697480"/>
            <a:ext cx="1737360" cy="365760"/>
          </a:xfrm>
          <a:prstGeom prst="rect">
            <a:avLst/>
          </a:prstGeom>
          <a:noFill/>
          <a:ln/>
        </p:spPr>
        <p:txBody>
          <a:bodyPr wrap="square" lIns="0" tIns="0" rIns="0" bIns="0" rtlCol="0" anchor="t"/>
          <a:lstStyle/>
          <a:p>
            <a:pPr indent="0" marL="0">
              <a:buNone/>
            </a:pPr>
            <a:r>
              <a:rPr lang="en-US" sz="2000" b="1" dirty="0">
                <a:solidFill>
                  <a:schemeClr val="accent1"/>
                </a:solidFill>
              </a:rPr>
              <a:t>Sprint 3</a:t>
            </a:r>
            <a:endParaRPr lang="en-US" sz="2000" dirty="0"/>
          </a:p>
        </p:txBody>
      </p:sp>
      <p:sp>
        <p:nvSpPr>
          <p:cNvPr id="20" name="Text 18"/>
          <p:cNvSpPr txBox="1"/>
          <p:nvPr/>
        </p:nvSpPr>
        <p:spPr>
          <a:xfrm>
            <a:off x="5239512" y="3154680"/>
            <a:ext cx="1737360" cy="320040"/>
          </a:xfrm>
          <a:prstGeom prst="rect">
            <a:avLst/>
          </a:prstGeom>
          <a:noFill/>
          <a:ln/>
        </p:spPr>
        <p:txBody>
          <a:bodyPr wrap="square" lIns="0" tIns="0" rIns="0" bIns="0" rtlCol="0" anchor="t"/>
          <a:lstStyle/>
          <a:p>
            <a:pPr indent="0" marL="0">
              <a:buNone/>
            </a:pPr>
            <a:r>
              <a:rPr lang="en-US" sz="1400" b="1" dirty="0">
                <a:solidFill>
                  <a:schemeClr val="tx1"/>
                </a:solidFill>
              </a:rPr>
              <a:t>Tasks 7-10</a:t>
            </a:r>
            <a:endParaRPr lang="en-US" sz="1400" dirty="0"/>
          </a:p>
        </p:txBody>
      </p:sp>
      <p:sp>
        <p:nvSpPr>
          <p:cNvPr id="21" name="Text 19"/>
          <p:cNvSpPr txBox="1"/>
          <p:nvPr/>
        </p:nvSpPr>
        <p:spPr>
          <a:xfrm>
            <a:off x="5239512" y="3611880"/>
            <a:ext cx="1737360" cy="2103120"/>
          </a:xfrm>
          <a:prstGeom prst="rect">
            <a:avLst/>
          </a:prstGeom>
          <a:noFill/>
          <a:ln/>
        </p:spPr>
        <p:txBody>
          <a:bodyPr wrap="square" lIns="0" tIns="0" rIns="0" bIns="0" rtlCol="0" anchor="t"/>
          <a:lstStyle/>
          <a:p>
            <a:pPr indent="0" marL="0">
              <a:buNone/>
            </a:pPr>
            <a:r>
              <a:rPr lang="en-US" sz="1500" dirty="0">
                <a:solidFill>
                  <a:schemeClr val="accent6"/>
                </a:solidFill>
              </a:rPr>
              <a:t>Jenkins install, Pipeline-as-Code and Selenium automation</a:t>
            </a:r>
            <a:endParaRPr lang="en-US" sz="1500" dirty="0"/>
          </a:p>
        </p:txBody>
      </p:sp>
      <p:sp>
        <p:nvSpPr>
          <p:cNvPr id="22" name="Sprint dot 4"/>
          <p:cNvSpPr/>
          <p:nvPr/>
        </p:nvSpPr>
        <p:spPr>
          <a:xfrm>
            <a:off x="8028432" y="1600200"/>
            <a:ext cx="640080" cy="640080"/>
          </a:xfrm>
          <a:prstGeom prst="ellipse">
            <a:avLst/>
          </a:prstGeom>
          <a:solidFill>
            <a:schemeClr val="accent2"/>
          </a:solidFill>
          <a:ln/>
        </p:spPr>
      </p:sp>
      <p:sp>
        <p:nvSpPr>
          <p:cNvPr id="23" name="Text 21"/>
          <p:cNvSpPr txBox="1"/>
          <p:nvPr/>
        </p:nvSpPr>
        <p:spPr>
          <a:xfrm>
            <a:off x="8028432" y="160020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24" name="Sprint card 4"/>
          <p:cNvSpPr/>
          <p:nvPr/>
        </p:nvSpPr>
        <p:spPr>
          <a:xfrm>
            <a:off x="7310628" y="2514600"/>
            <a:ext cx="2075688" cy="3383280"/>
          </a:xfrm>
          <a:prstGeom prst="roundRect">
            <a:avLst>
              <a:gd name="adj" fmla="val 4405"/>
            </a:avLst>
          </a:prstGeom>
          <a:solidFill>
            <a:schemeClr val="bg1"/>
          </a:solidFill>
          <a:ln/>
          <a:effectLst>
            <a:outerShdw sx="100000" sy="100000" kx="0" ky="0" algn="bl" rotWithShape="0" blurRad="101600" dist="25400" dir="5400000">
              <a:srgbClr val="000000">
                <a:alpha val="14000"/>
              </a:srgbClr>
            </a:outerShdw>
          </a:effectLst>
        </p:spPr>
      </p:sp>
      <p:sp>
        <p:nvSpPr>
          <p:cNvPr id="25" name="Text 23"/>
          <p:cNvSpPr txBox="1"/>
          <p:nvPr/>
        </p:nvSpPr>
        <p:spPr>
          <a:xfrm>
            <a:off x="7493508" y="2697480"/>
            <a:ext cx="1737360" cy="365760"/>
          </a:xfrm>
          <a:prstGeom prst="rect">
            <a:avLst/>
          </a:prstGeom>
          <a:noFill/>
          <a:ln/>
        </p:spPr>
        <p:txBody>
          <a:bodyPr wrap="square" lIns="0" tIns="0" rIns="0" bIns="0" rtlCol="0" anchor="t"/>
          <a:lstStyle/>
          <a:p>
            <a:pPr indent="0" marL="0">
              <a:buNone/>
            </a:pPr>
            <a:r>
              <a:rPr lang="en-US" sz="2000" b="1" dirty="0">
                <a:solidFill>
                  <a:schemeClr val="accent2"/>
                </a:solidFill>
              </a:rPr>
              <a:t>Sprint 4</a:t>
            </a:r>
            <a:endParaRPr lang="en-US" sz="2000" dirty="0"/>
          </a:p>
        </p:txBody>
      </p:sp>
      <p:sp>
        <p:nvSpPr>
          <p:cNvPr id="26" name="Text 24"/>
          <p:cNvSpPr txBox="1"/>
          <p:nvPr/>
        </p:nvSpPr>
        <p:spPr>
          <a:xfrm>
            <a:off x="7493508" y="3154680"/>
            <a:ext cx="1737360" cy="320040"/>
          </a:xfrm>
          <a:prstGeom prst="rect">
            <a:avLst/>
          </a:prstGeom>
          <a:noFill/>
          <a:ln/>
        </p:spPr>
        <p:txBody>
          <a:bodyPr wrap="square" lIns="0" tIns="0" rIns="0" bIns="0" rtlCol="0" anchor="t"/>
          <a:lstStyle/>
          <a:p>
            <a:pPr indent="0" marL="0">
              <a:buNone/>
            </a:pPr>
            <a:r>
              <a:rPr lang="en-US" sz="1400" b="1" dirty="0">
                <a:solidFill>
                  <a:schemeClr val="tx1"/>
                </a:solidFill>
              </a:rPr>
              <a:t>Tasks 11-12</a:t>
            </a:r>
            <a:endParaRPr lang="en-US" sz="1400" dirty="0"/>
          </a:p>
        </p:txBody>
      </p:sp>
      <p:sp>
        <p:nvSpPr>
          <p:cNvPr id="27" name="Text 25"/>
          <p:cNvSpPr txBox="1"/>
          <p:nvPr/>
        </p:nvSpPr>
        <p:spPr>
          <a:xfrm>
            <a:off x="7493508" y="3611880"/>
            <a:ext cx="1737360" cy="2103120"/>
          </a:xfrm>
          <a:prstGeom prst="rect">
            <a:avLst/>
          </a:prstGeom>
          <a:noFill/>
          <a:ln/>
        </p:spPr>
        <p:txBody>
          <a:bodyPr wrap="square" lIns="0" tIns="0" rIns="0" bIns="0" rtlCol="0" anchor="t"/>
          <a:lstStyle/>
          <a:p>
            <a:pPr indent="0" marL="0">
              <a:buNone/>
            </a:pPr>
            <a:r>
              <a:rPr lang="en-US" sz="1500" dirty="0">
                <a:solidFill>
                  <a:schemeClr val="accent6"/>
                </a:solidFill>
              </a:rPr>
              <a:t>Multi-stage Docker packaging and Jenkins-Docker deployment</a:t>
            </a:r>
            <a:endParaRPr lang="en-US" sz="1500" dirty="0"/>
          </a:p>
        </p:txBody>
      </p:sp>
      <p:sp>
        <p:nvSpPr>
          <p:cNvPr id="28" name="Sprint dot 5"/>
          <p:cNvSpPr/>
          <p:nvPr/>
        </p:nvSpPr>
        <p:spPr>
          <a:xfrm>
            <a:off x="10282428" y="1600200"/>
            <a:ext cx="640080" cy="640080"/>
          </a:xfrm>
          <a:prstGeom prst="ellipse">
            <a:avLst/>
          </a:prstGeom>
          <a:solidFill>
            <a:schemeClr val="accent1"/>
          </a:solidFill>
          <a:ln/>
        </p:spPr>
      </p:sp>
      <p:sp>
        <p:nvSpPr>
          <p:cNvPr id="29" name="Text 27"/>
          <p:cNvSpPr txBox="1"/>
          <p:nvPr/>
        </p:nvSpPr>
        <p:spPr>
          <a:xfrm>
            <a:off x="10282428" y="160020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5</a:t>
            </a:r>
            <a:endParaRPr lang="en-US" sz="2200" dirty="0"/>
          </a:p>
        </p:txBody>
      </p:sp>
      <p:sp>
        <p:nvSpPr>
          <p:cNvPr id="30" name="Sprint card 5"/>
          <p:cNvSpPr/>
          <p:nvPr/>
        </p:nvSpPr>
        <p:spPr>
          <a:xfrm>
            <a:off x="9564624" y="2514600"/>
            <a:ext cx="2075688" cy="3383280"/>
          </a:xfrm>
          <a:prstGeom prst="roundRect">
            <a:avLst>
              <a:gd name="adj" fmla="val 4405"/>
            </a:avLst>
          </a:prstGeom>
          <a:solidFill>
            <a:schemeClr val="bg1"/>
          </a:solidFill>
          <a:ln/>
          <a:effectLst>
            <a:outerShdw sx="100000" sy="100000" kx="0" ky="0" algn="bl" rotWithShape="0" blurRad="101600" dist="25400" dir="5400000">
              <a:srgbClr val="000000">
                <a:alpha val="14000"/>
              </a:srgbClr>
            </a:outerShdw>
          </a:effectLst>
        </p:spPr>
      </p:sp>
      <p:sp>
        <p:nvSpPr>
          <p:cNvPr id="31" name="Text 29"/>
          <p:cNvSpPr txBox="1"/>
          <p:nvPr/>
        </p:nvSpPr>
        <p:spPr>
          <a:xfrm>
            <a:off x="9747504" y="2697480"/>
            <a:ext cx="1737360" cy="365760"/>
          </a:xfrm>
          <a:prstGeom prst="rect">
            <a:avLst/>
          </a:prstGeom>
          <a:noFill/>
          <a:ln/>
        </p:spPr>
        <p:txBody>
          <a:bodyPr wrap="square" lIns="0" tIns="0" rIns="0" bIns="0" rtlCol="0" anchor="t"/>
          <a:lstStyle/>
          <a:p>
            <a:pPr indent="0" marL="0">
              <a:buNone/>
            </a:pPr>
            <a:r>
              <a:rPr lang="en-US" sz="2000" b="1" dirty="0">
                <a:solidFill>
                  <a:schemeClr val="accent1"/>
                </a:solidFill>
              </a:rPr>
              <a:t>Sprint 5</a:t>
            </a:r>
            <a:endParaRPr lang="en-US" sz="2000" dirty="0"/>
          </a:p>
        </p:txBody>
      </p:sp>
      <p:sp>
        <p:nvSpPr>
          <p:cNvPr id="32" name="Text 30"/>
          <p:cNvSpPr txBox="1"/>
          <p:nvPr/>
        </p:nvSpPr>
        <p:spPr>
          <a:xfrm>
            <a:off x="9747504" y="3154680"/>
            <a:ext cx="1737360" cy="320040"/>
          </a:xfrm>
          <a:prstGeom prst="rect">
            <a:avLst/>
          </a:prstGeom>
          <a:noFill/>
          <a:ln/>
        </p:spPr>
        <p:txBody>
          <a:bodyPr wrap="square" lIns="0" tIns="0" rIns="0" bIns="0" rtlCol="0" anchor="t"/>
          <a:lstStyle/>
          <a:p>
            <a:pPr indent="0" marL="0">
              <a:buNone/>
            </a:pPr>
            <a:r>
              <a:rPr lang="en-US" sz="1400" b="1" dirty="0">
                <a:solidFill>
                  <a:schemeClr val="tx1"/>
                </a:solidFill>
              </a:rPr>
              <a:t>Tasks 13-15</a:t>
            </a:r>
            <a:endParaRPr lang="en-US" sz="1400" dirty="0"/>
          </a:p>
        </p:txBody>
      </p:sp>
      <p:sp>
        <p:nvSpPr>
          <p:cNvPr id="33" name="Text 31"/>
          <p:cNvSpPr txBox="1"/>
          <p:nvPr/>
        </p:nvSpPr>
        <p:spPr>
          <a:xfrm>
            <a:off x="9747504" y="3611880"/>
            <a:ext cx="1737360" cy="2103120"/>
          </a:xfrm>
          <a:prstGeom prst="rect">
            <a:avLst/>
          </a:prstGeom>
          <a:noFill/>
          <a:ln/>
        </p:spPr>
        <p:txBody>
          <a:bodyPr wrap="square" lIns="0" tIns="0" rIns="0" bIns="0" rtlCol="0" anchor="t"/>
          <a:lstStyle/>
          <a:p>
            <a:pPr indent="0" marL="0">
              <a:buNone/>
            </a:pPr>
            <a:r>
              <a:rPr lang="en-US" sz="1500" dirty="0">
                <a:solidFill>
                  <a:schemeClr val="accent6"/>
                </a:solidFill>
              </a:rPr>
              <a:t>Ansible setup, automated rollback and formal release</a:t>
            </a:r>
            <a:endParaRPr lang="en-US" sz="15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68680"/>
          </a:xfrm>
          <a:prstGeom prst="rect">
            <a:avLst/>
          </a:prstGeom>
          <a:noFill/>
          <a:ln/>
        </p:spPr>
        <p:txBody>
          <a:bodyPr wrap="square" lIns="0" tIns="0" rIns="0" bIns="0" rtlCol="0" anchor="ctr"/>
          <a:lstStyle/>
          <a:p>
            <a:pPr indent="0" marL="0">
              <a:buNone/>
            </a:pPr>
            <a:r>
              <a:rPr lang="en-US" sz="3400" b="1" dirty="0">
                <a:solidFill>
                  <a:schemeClr val="tx1"/>
                </a:solidFill>
              </a:rPr>
              <a:t>Git workflow and conflict resolution</a:t>
            </a:r>
            <a:endParaRPr lang="en-US" sz="3400" dirty="0"/>
          </a:p>
        </p:txBody>
      </p:sp>
      <p:sp>
        <p:nvSpPr>
          <p:cNvPr id="3" name="Row Branch isolation"/>
          <p:cNvSpPr/>
          <p:nvPr/>
        </p:nvSpPr>
        <p:spPr>
          <a:xfrm>
            <a:off x="548640" y="1463040"/>
            <a:ext cx="5760720" cy="1024128"/>
          </a:xfrm>
          <a:prstGeom prst="roundRect">
            <a:avLst>
              <a:gd name="adj" fmla="val 8929"/>
            </a:avLst>
          </a:prstGeom>
          <a:solidFill>
            <a:schemeClr val="bg1"/>
          </a:solidFill>
          <a:ln/>
          <a:effectLst>
            <a:outerShdw sx="100000" sy="100000" kx="0" ky="0" algn="bl" rotWithShape="0" blurRad="101600" dist="25400" dir="5400000">
              <a:srgbClr val="000000">
                <a:alpha val="14000"/>
              </a:srgbClr>
            </a:outerShdw>
          </a:effectLst>
        </p:spPr>
      </p:sp>
      <p:sp>
        <p:nvSpPr>
          <p:cNvPr id="4" name="Icon Branch isolation bg"/>
          <p:cNvSpPr/>
          <p:nvPr/>
        </p:nvSpPr>
        <p:spPr>
          <a:xfrm>
            <a:off x="777240" y="1700784"/>
            <a:ext cx="548640" cy="548640"/>
          </a:xfrm>
          <a:prstGeom prst="ellipse">
            <a:avLst/>
          </a:prstGeom>
          <a:solidFill>
            <a:schemeClr val="accent1"/>
          </a:solidFill>
          <a:ln/>
        </p:spPr>
      </p:sp>
      <p:pic>
        <p:nvPicPr>
          <p:cNvPr id="5" name="Icon Branch isolation" descr="Icon Branch isolation">    </p:cNvPr>
          <p:cNvPicPr>
            <a:picLocks noChangeAspect="1"/>
          </p:cNvPicPr>
          <p:nvPr/>
        </p:nvPicPr>
        <p:blipFill>
          <a:blip r:embed="rId1"/>
          <a:stretch>
            <a:fillRect/>
          </a:stretch>
        </p:blipFill>
        <p:spPr>
          <a:xfrm>
            <a:off x="919886" y="1843430"/>
            <a:ext cx="263347" cy="263347"/>
          </a:xfrm>
          <a:prstGeom prst="rect">
            <a:avLst/>
          </a:prstGeom>
        </p:spPr>
      </p:pic>
      <p:sp>
        <p:nvSpPr>
          <p:cNvPr id="6" name="Text 3"/>
          <p:cNvSpPr txBox="1"/>
          <p:nvPr/>
        </p:nvSpPr>
        <p:spPr>
          <a:xfrm>
            <a:off x="1554480" y="1591056"/>
            <a:ext cx="4572000" cy="292608"/>
          </a:xfrm>
          <a:prstGeom prst="rect">
            <a:avLst/>
          </a:prstGeom>
          <a:noFill/>
          <a:ln/>
        </p:spPr>
        <p:txBody>
          <a:bodyPr wrap="square" lIns="0" tIns="0" rIns="0" bIns="0" rtlCol="0" anchor="t"/>
          <a:lstStyle/>
          <a:p>
            <a:pPr indent="0" marL="0">
              <a:buNone/>
            </a:pPr>
            <a:r>
              <a:rPr lang="en-US" sz="1600" b="1" dirty="0">
                <a:solidFill>
                  <a:schemeClr val="tx1"/>
                </a:solidFill>
              </a:rPr>
              <a:t>Branch isolation</a:t>
            </a:r>
            <a:endParaRPr lang="en-US" sz="1600" dirty="0"/>
          </a:p>
        </p:txBody>
      </p:sp>
      <p:sp>
        <p:nvSpPr>
          <p:cNvPr id="7" name="Text 4"/>
          <p:cNvSpPr txBox="1"/>
          <p:nvPr/>
        </p:nvSpPr>
        <p:spPr>
          <a:xfrm>
            <a:off x="1554480" y="1920240"/>
            <a:ext cx="4572000" cy="548640"/>
          </a:xfrm>
          <a:prstGeom prst="rect">
            <a:avLst/>
          </a:prstGeom>
          <a:noFill/>
          <a:ln/>
        </p:spPr>
        <p:txBody>
          <a:bodyPr wrap="square" lIns="0" tIns="0" rIns="0" bIns="0" rtlCol="0" anchor="t"/>
          <a:lstStyle/>
          <a:p>
            <a:pPr indent="0" marL="0">
              <a:buNone/>
            </a:pPr>
            <a:r>
              <a:rPr lang="en-US" sz="1400" dirty="0">
                <a:solidFill>
                  <a:schemeClr val="accent6"/>
                </a:solidFill>
              </a:rPr>
              <a:t>No direct commits to main. Work happens on feature branches like feature/claim-validation.</a:t>
            </a:r>
            <a:endParaRPr lang="en-US" sz="1400" dirty="0"/>
          </a:p>
        </p:txBody>
      </p:sp>
      <p:sp>
        <p:nvSpPr>
          <p:cNvPr id="8" name="Row Pull request review"/>
          <p:cNvSpPr/>
          <p:nvPr/>
        </p:nvSpPr>
        <p:spPr>
          <a:xfrm>
            <a:off x="548640" y="2651760"/>
            <a:ext cx="5760720" cy="1024128"/>
          </a:xfrm>
          <a:prstGeom prst="roundRect">
            <a:avLst>
              <a:gd name="adj" fmla="val 8929"/>
            </a:avLst>
          </a:prstGeom>
          <a:solidFill>
            <a:schemeClr val="bg1"/>
          </a:solidFill>
          <a:ln/>
          <a:effectLst>
            <a:outerShdw sx="100000" sy="100000" kx="0" ky="0" algn="bl" rotWithShape="0" blurRad="101600" dist="25400" dir="5400000">
              <a:srgbClr val="000000">
                <a:alpha val="14000"/>
              </a:srgbClr>
            </a:outerShdw>
          </a:effectLst>
        </p:spPr>
      </p:sp>
      <p:sp>
        <p:nvSpPr>
          <p:cNvPr id="9" name="Icon Pull request review bg"/>
          <p:cNvSpPr/>
          <p:nvPr/>
        </p:nvSpPr>
        <p:spPr>
          <a:xfrm>
            <a:off x="777240" y="2889504"/>
            <a:ext cx="548640" cy="548640"/>
          </a:xfrm>
          <a:prstGeom prst="ellipse">
            <a:avLst/>
          </a:prstGeom>
          <a:solidFill>
            <a:schemeClr val="accent2"/>
          </a:solidFill>
          <a:ln/>
        </p:spPr>
      </p:sp>
      <p:pic>
        <p:nvPicPr>
          <p:cNvPr id="10" name="Icon Pull request review" descr="Icon Pull request review">    </p:cNvPr>
          <p:cNvPicPr>
            <a:picLocks noChangeAspect="1"/>
          </p:cNvPicPr>
          <p:nvPr/>
        </p:nvPicPr>
        <p:blipFill>
          <a:blip r:embed="rId2"/>
          <a:stretch>
            <a:fillRect/>
          </a:stretch>
        </p:blipFill>
        <p:spPr>
          <a:xfrm>
            <a:off x="919886" y="3032150"/>
            <a:ext cx="263347" cy="263347"/>
          </a:xfrm>
          <a:prstGeom prst="rect">
            <a:avLst/>
          </a:prstGeom>
        </p:spPr>
      </p:pic>
      <p:sp>
        <p:nvSpPr>
          <p:cNvPr id="11" name="Text 7"/>
          <p:cNvSpPr txBox="1"/>
          <p:nvPr/>
        </p:nvSpPr>
        <p:spPr>
          <a:xfrm>
            <a:off x="1554480" y="2779776"/>
            <a:ext cx="4572000" cy="292608"/>
          </a:xfrm>
          <a:prstGeom prst="rect">
            <a:avLst/>
          </a:prstGeom>
          <a:noFill/>
          <a:ln/>
        </p:spPr>
        <p:txBody>
          <a:bodyPr wrap="square" lIns="0" tIns="0" rIns="0" bIns="0" rtlCol="0" anchor="t"/>
          <a:lstStyle/>
          <a:p>
            <a:pPr indent="0" marL="0">
              <a:buNone/>
            </a:pPr>
            <a:r>
              <a:rPr lang="en-US" sz="1600" b="1" dirty="0">
                <a:solidFill>
                  <a:schemeClr val="tx1"/>
                </a:solidFill>
              </a:rPr>
              <a:t>Pull request review</a:t>
            </a:r>
            <a:endParaRPr lang="en-US" sz="1600" dirty="0"/>
          </a:p>
        </p:txBody>
      </p:sp>
      <p:sp>
        <p:nvSpPr>
          <p:cNvPr id="12" name="Text 8"/>
          <p:cNvSpPr txBox="1"/>
          <p:nvPr/>
        </p:nvSpPr>
        <p:spPr>
          <a:xfrm>
            <a:off x="1554480" y="3108960"/>
            <a:ext cx="4572000" cy="548640"/>
          </a:xfrm>
          <a:prstGeom prst="rect">
            <a:avLst/>
          </a:prstGeom>
          <a:noFill/>
          <a:ln/>
        </p:spPr>
        <p:txBody>
          <a:bodyPr wrap="square" lIns="0" tIns="0" rIns="0" bIns="0" rtlCol="0" anchor="t"/>
          <a:lstStyle/>
          <a:p>
            <a:pPr indent="0" marL="0">
              <a:buNone/>
            </a:pPr>
            <a:r>
              <a:rPr lang="en-US" sz="1400" dirty="0">
                <a:solidFill>
                  <a:schemeClr val="accent6"/>
                </a:solidFill>
              </a:rPr>
              <a:t>Every change is reviewed and merged through a GitHub Pull Request.</a:t>
            </a:r>
            <a:endParaRPr lang="en-US" sz="1400" dirty="0"/>
          </a:p>
        </p:txBody>
      </p:sp>
      <p:sp>
        <p:nvSpPr>
          <p:cNvPr id="13" name="Row Conflict simulation (Task 6)"/>
          <p:cNvSpPr/>
          <p:nvPr/>
        </p:nvSpPr>
        <p:spPr>
          <a:xfrm>
            <a:off x="548640" y="3840480"/>
            <a:ext cx="5760720" cy="1024128"/>
          </a:xfrm>
          <a:prstGeom prst="roundRect">
            <a:avLst>
              <a:gd name="adj" fmla="val 8929"/>
            </a:avLst>
          </a:prstGeom>
          <a:solidFill>
            <a:schemeClr val="bg1"/>
          </a:solidFill>
          <a:ln/>
          <a:effectLst>
            <a:outerShdw sx="100000" sy="100000" kx="0" ky="0" algn="bl" rotWithShape="0" blurRad="101600" dist="25400" dir="5400000">
              <a:srgbClr val="000000">
                <a:alpha val="14000"/>
              </a:srgbClr>
            </a:outerShdw>
          </a:effectLst>
        </p:spPr>
      </p:sp>
      <p:sp>
        <p:nvSpPr>
          <p:cNvPr id="14" name="Icon Conflict simulation (Task 6) bg"/>
          <p:cNvSpPr/>
          <p:nvPr/>
        </p:nvSpPr>
        <p:spPr>
          <a:xfrm>
            <a:off x="777240" y="4078224"/>
            <a:ext cx="548640" cy="548640"/>
          </a:xfrm>
          <a:prstGeom prst="ellipse">
            <a:avLst/>
          </a:prstGeom>
          <a:solidFill>
            <a:schemeClr val="accent1"/>
          </a:solidFill>
          <a:ln/>
        </p:spPr>
      </p:sp>
      <p:sp>
        <p:nvSpPr>
          <p:cNvPr id="15" name="Text 11"/>
          <p:cNvSpPr txBox="1"/>
          <p:nvPr/>
        </p:nvSpPr>
        <p:spPr>
          <a:xfrm>
            <a:off x="1554480" y="3968496"/>
            <a:ext cx="4572000" cy="292608"/>
          </a:xfrm>
          <a:prstGeom prst="rect">
            <a:avLst/>
          </a:prstGeom>
          <a:noFill/>
          <a:ln/>
        </p:spPr>
        <p:txBody>
          <a:bodyPr wrap="square" lIns="0" tIns="0" rIns="0" bIns="0" rtlCol="0" anchor="t"/>
          <a:lstStyle/>
          <a:p>
            <a:pPr indent="0" marL="0">
              <a:buNone/>
            </a:pPr>
            <a:r>
              <a:rPr lang="en-US" sz="1600" b="1" dirty="0">
                <a:solidFill>
                  <a:schemeClr val="tx1"/>
                </a:solidFill>
              </a:rPr>
              <a:t>Conflict simulation (Task 6)</a:t>
            </a:r>
            <a:endParaRPr lang="en-US" sz="1600" dirty="0"/>
          </a:p>
        </p:txBody>
      </p:sp>
      <p:sp>
        <p:nvSpPr>
          <p:cNvPr id="16" name="Text 12"/>
          <p:cNvSpPr txBox="1"/>
          <p:nvPr/>
        </p:nvSpPr>
        <p:spPr>
          <a:xfrm>
            <a:off x="1554480" y="4297680"/>
            <a:ext cx="4572000" cy="548640"/>
          </a:xfrm>
          <a:prstGeom prst="rect">
            <a:avLst/>
          </a:prstGeom>
          <a:noFill/>
          <a:ln/>
        </p:spPr>
        <p:txBody>
          <a:bodyPr wrap="square" lIns="0" tIns="0" rIns="0" bIns="0" rtlCol="0" anchor="t"/>
          <a:lstStyle/>
          <a:p>
            <a:pPr indent="0" marL="0">
              <a:buNone/>
            </a:pPr>
            <a:r>
              <a:rPr lang="en-US" sz="1400" dirty="0">
                <a:solidFill>
                  <a:schemeClr val="accent6"/>
                </a:solidFill>
              </a:rPr>
              <a:t>Two branches edited the same lines. We read the markers and merged by hand.</a:t>
            </a:r>
            <a:endParaRPr lang="en-US" sz="1400" dirty="0"/>
          </a:p>
        </p:txBody>
      </p:sp>
      <p:sp>
        <p:nvSpPr>
          <p:cNvPr id="17" name="Row Clean repository"/>
          <p:cNvSpPr/>
          <p:nvPr/>
        </p:nvSpPr>
        <p:spPr>
          <a:xfrm>
            <a:off x="548640" y="5029200"/>
            <a:ext cx="5760720" cy="1024128"/>
          </a:xfrm>
          <a:prstGeom prst="roundRect">
            <a:avLst>
              <a:gd name="adj" fmla="val 8929"/>
            </a:avLst>
          </a:prstGeom>
          <a:solidFill>
            <a:schemeClr val="bg1"/>
          </a:solidFill>
          <a:ln/>
          <a:effectLst>
            <a:outerShdw sx="100000" sy="100000" kx="0" ky="0" algn="bl" rotWithShape="0" blurRad="101600" dist="25400" dir="5400000">
              <a:srgbClr val="000000">
                <a:alpha val="14000"/>
              </a:srgbClr>
            </a:outerShdw>
          </a:effectLst>
        </p:spPr>
      </p:sp>
      <p:sp>
        <p:nvSpPr>
          <p:cNvPr id="18" name="Icon Clean repository bg"/>
          <p:cNvSpPr/>
          <p:nvPr/>
        </p:nvSpPr>
        <p:spPr>
          <a:xfrm>
            <a:off x="777240" y="5266944"/>
            <a:ext cx="548640" cy="548640"/>
          </a:xfrm>
          <a:prstGeom prst="ellipse">
            <a:avLst/>
          </a:prstGeom>
          <a:solidFill>
            <a:schemeClr val="accent2"/>
          </a:solidFill>
          <a:ln/>
        </p:spPr>
      </p:sp>
      <p:pic>
        <p:nvPicPr>
          <p:cNvPr id="19" name="Icon Clean repository" descr="Icon Clean repository">    </p:cNvPr>
          <p:cNvPicPr>
            <a:picLocks noChangeAspect="1"/>
          </p:cNvPicPr>
          <p:nvPr/>
        </p:nvPicPr>
        <p:blipFill>
          <a:blip r:embed="rId3"/>
          <a:stretch>
            <a:fillRect/>
          </a:stretch>
        </p:blipFill>
        <p:spPr>
          <a:xfrm>
            <a:off x="919886" y="5409590"/>
            <a:ext cx="263347" cy="263347"/>
          </a:xfrm>
          <a:prstGeom prst="rect">
            <a:avLst/>
          </a:prstGeom>
        </p:spPr>
      </p:pic>
      <p:sp>
        <p:nvSpPr>
          <p:cNvPr id="20" name="Text 15"/>
          <p:cNvSpPr txBox="1"/>
          <p:nvPr/>
        </p:nvSpPr>
        <p:spPr>
          <a:xfrm>
            <a:off x="1554480" y="5157216"/>
            <a:ext cx="4572000" cy="292608"/>
          </a:xfrm>
          <a:prstGeom prst="rect">
            <a:avLst/>
          </a:prstGeom>
          <a:noFill/>
          <a:ln/>
        </p:spPr>
        <p:txBody>
          <a:bodyPr wrap="square" lIns="0" tIns="0" rIns="0" bIns="0" rtlCol="0" anchor="t"/>
          <a:lstStyle/>
          <a:p>
            <a:pPr indent="0" marL="0">
              <a:buNone/>
            </a:pPr>
            <a:r>
              <a:rPr lang="en-US" sz="1600" b="1" dirty="0">
                <a:solidFill>
                  <a:schemeClr val="tx1"/>
                </a:solidFill>
              </a:rPr>
              <a:t>Clean repository</a:t>
            </a:r>
            <a:endParaRPr lang="en-US" sz="1600" dirty="0"/>
          </a:p>
        </p:txBody>
      </p:sp>
      <p:sp>
        <p:nvSpPr>
          <p:cNvPr id="21" name="Text 16"/>
          <p:cNvSpPr txBox="1"/>
          <p:nvPr/>
        </p:nvSpPr>
        <p:spPr>
          <a:xfrm>
            <a:off x="1554480" y="5486400"/>
            <a:ext cx="4572000" cy="548640"/>
          </a:xfrm>
          <a:prstGeom prst="rect">
            <a:avLst/>
          </a:prstGeom>
          <a:noFill/>
          <a:ln/>
        </p:spPr>
        <p:txBody>
          <a:bodyPr wrap="square" lIns="0" tIns="0" rIns="0" bIns="0" rtlCol="0" anchor="t"/>
          <a:lstStyle/>
          <a:p>
            <a:pPr indent="0" marL="0">
              <a:buNone/>
            </a:pPr>
            <a:r>
              <a:rPr lang="en-US" sz="1400" dirty="0">
                <a:solidFill>
                  <a:schemeClr val="accent6"/>
                </a:solidFill>
              </a:rPr>
              <a:t>.gitignore keeps binaries, IDE files and target/ out of Git.</a:t>
            </a:r>
            <a:endParaRPr lang="en-US" sz="1400" dirty="0"/>
          </a:p>
        </p:txBody>
      </p:sp>
      <p:sp>
        <p:nvSpPr>
          <p:cNvPr id="22" name="Text 17"/>
          <p:cNvSpPr txBox="1"/>
          <p:nvPr/>
        </p:nvSpPr>
        <p:spPr>
          <a:xfrm>
            <a:off x="6675120" y="1463040"/>
            <a:ext cx="4937760" cy="274320"/>
          </a:xfrm>
          <a:prstGeom prst="rect">
            <a:avLst/>
          </a:prstGeom>
          <a:noFill/>
          <a:ln/>
        </p:spPr>
        <p:txBody>
          <a:bodyPr wrap="square" lIns="0" tIns="0" rIns="0" bIns="0" rtlCol="0" anchor="t"/>
          <a:lstStyle/>
          <a:p>
            <a:pPr indent="0" marL="0">
              <a:buNone/>
            </a:pPr>
            <a:r>
              <a:rPr lang="en-US" sz="1400" b="1" dirty="0">
                <a:solidFill>
                  <a:schemeClr val="accent6"/>
                </a:solidFill>
              </a:rPr>
              <a:t>Example conflict markers</a:t>
            </a:r>
            <a:endParaRPr lang="en-US" sz="1400" dirty="0"/>
          </a:p>
        </p:txBody>
      </p:sp>
      <p:sp>
        <p:nvSpPr>
          <p:cNvPr id="23" name="Conflict code"/>
          <p:cNvSpPr/>
          <p:nvPr/>
        </p:nvSpPr>
        <p:spPr>
          <a:xfrm>
            <a:off x="6675120" y="1828800"/>
            <a:ext cx="4965192" cy="2194560"/>
          </a:xfrm>
          <a:prstGeom prst="roundRect">
            <a:avLst>
              <a:gd name="adj" fmla="val 4167"/>
            </a:avLst>
          </a:prstGeom>
          <a:solidFill>
            <a:schemeClr val="tx1"/>
          </a:solidFill>
          <a:ln/>
          <a:effectLst>
            <a:outerShdw sx="100000" sy="100000" kx="0" ky="0" algn="bl" rotWithShape="0" blurRad="101600" dist="25400" dir="5400000">
              <a:srgbClr val="000000">
                <a:alpha val="14000"/>
              </a:srgbClr>
            </a:outerShdw>
          </a:effectLst>
        </p:spPr>
      </p:sp>
      <p:sp>
        <p:nvSpPr>
          <p:cNvPr id="24" name="Conflict code text"/>
          <p:cNvSpPr txBox="1"/>
          <p:nvPr/>
        </p:nvSpPr>
        <p:spPr>
          <a:xfrm>
            <a:off x="6903720" y="2011680"/>
            <a:ext cx="4507992" cy="1828800"/>
          </a:xfrm>
          <a:prstGeom prst="rect">
            <a:avLst/>
          </a:prstGeom>
          <a:noFill/>
          <a:ln/>
        </p:spPr>
        <p:txBody>
          <a:bodyPr wrap="square" lIns="0" tIns="0" rIns="0" bIns="0" rtlCol="0" anchor="t"/>
          <a:lstStyle/>
          <a:p>
            <a:pPr indent="0" marL="0">
              <a:spcAft>
                <a:spcPts val="400"/>
              </a:spcAft>
              <a:buNone/>
            </a:pPr>
            <a:r>
              <a:rPr lang="en-US" sz="1500" dirty="0">
                <a:solidFill>
                  <a:schemeClr val="bg2"/>
                </a:solidFill>
                <a:latin typeface="Courier New" pitchFamily="34" charset="0"/>
                <a:ea typeface="Courier New" pitchFamily="34" charset="-122"/>
                <a:cs typeface="Courier New" pitchFamily="34" charset="-120"/>
              </a:rPr>
              <a:t>&lt;&lt;&lt;&lt;&lt;&lt;&lt; HEAD</a:t>
            </a:r>
            <a:endParaRPr lang="en-US" sz="1500" dirty="0"/>
          </a:p>
          <a:p>
            <a:pPr indent="0" marL="0">
              <a:spcAft>
                <a:spcPts val="400"/>
              </a:spcAft>
              <a:buNone/>
            </a:pPr>
            <a:r>
              <a:rPr lang="en-US" sz="1500" dirty="0">
                <a:solidFill>
                  <a:schemeClr val="bg2"/>
                </a:solidFill>
                <a:latin typeface="Courier New" pitchFamily="34" charset="0"/>
                <a:ea typeface="Courier New" pitchFamily="34" charset="-122"/>
                <a:cs typeface="Courier New" pitchFamily="34" charset="-120"/>
              </a:rPr>
              <a:t>server.port=8081</a:t>
            </a:r>
            <a:endParaRPr lang="en-US" sz="1500" dirty="0"/>
          </a:p>
          <a:p>
            <a:pPr indent="0" marL="0">
              <a:spcAft>
                <a:spcPts val="400"/>
              </a:spcAft>
              <a:buNone/>
            </a:pPr>
            <a:r>
              <a:rPr lang="en-US" sz="1500" dirty="0">
                <a:solidFill>
                  <a:schemeClr val="bg2"/>
                </a:solidFill>
                <a:latin typeface="Courier New" pitchFamily="34" charset="0"/>
                <a:ea typeface="Courier New" pitchFamily="34" charset="-122"/>
                <a:cs typeface="Courier New" pitchFamily="34" charset="-120"/>
              </a:rPr>
              <a:t>=======</a:t>
            </a:r>
            <a:endParaRPr lang="en-US" sz="1500" dirty="0"/>
          </a:p>
          <a:p>
            <a:pPr indent="0" marL="0">
              <a:spcAft>
                <a:spcPts val="400"/>
              </a:spcAft>
              <a:buNone/>
            </a:pPr>
            <a:r>
              <a:rPr lang="en-US" sz="1500" dirty="0">
                <a:solidFill>
                  <a:schemeClr val="bg2"/>
                </a:solidFill>
                <a:latin typeface="Courier New" pitchFamily="34" charset="0"/>
                <a:ea typeface="Courier New" pitchFamily="34" charset="-122"/>
                <a:cs typeface="Courier New" pitchFamily="34" charset="-120"/>
              </a:rPr>
              <a:t>server.port=8082</a:t>
            </a:r>
            <a:endParaRPr lang="en-US" sz="1500" dirty="0"/>
          </a:p>
          <a:p>
            <a:pPr indent="0" marL="0">
              <a:spcAft>
                <a:spcPts val="400"/>
              </a:spcAft>
              <a:buNone/>
            </a:pPr>
            <a:r>
              <a:rPr lang="en-US" sz="1500" dirty="0">
                <a:solidFill>
                  <a:schemeClr val="bg2"/>
                </a:solidFill>
                <a:latin typeface="Courier New" pitchFamily="34" charset="0"/>
                <a:ea typeface="Courier New" pitchFamily="34" charset="-122"/>
                <a:cs typeface="Courier New" pitchFamily="34" charset="-120"/>
              </a:rPr>
              <a:t>&gt;&gt;&gt;&gt;&gt;&gt;&gt; feature/collaboration-b</a:t>
            </a:r>
            <a:endParaRPr lang="en-US" sz="1500" dirty="0"/>
          </a:p>
        </p:txBody>
      </p:sp>
      <p:sp>
        <p:nvSpPr>
          <p:cNvPr id="25" name="Fix steps"/>
          <p:cNvSpPr/>
          <p:nvPr/>
        </p:nvSpPr>
        <p:spPr>
          <a:xfrm>
            <a:off x="6675120" y="4297680"/>
            <a:ext cx="4965192" cy="1417320"/>
          </a:xfrm>
          <a:prstGeom prst="roundRect">
            <a:avLst>
              <a:gd name="adj" fmla="val 6452"/>
            </a:avLst>
          </a:prstGeom>
          <a:solidFill>
            <a:schemeClr val="accent1">
              <a:alpha val="12000"/>
            </a:schemeClr>
          </a:solidFill>
          <a:ln/>
        </p:spPr>
      </p:sp>
      <p:sp>
        <p:nvSpPr>
          <p:cNvPr id="26" name="Text 21"/>
          <p:cNvSpPr txBox="1"/>
          <p:nvPr/>
        </p:nvSpPr>
        <p:spPr>
          <a:xfrm>
            <a:off x="6903720" y="4462272"/>
            <a:ext cx="4526280" cy="114300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How we fixed it</a:t>
            </a:r>
            <a:endParaRPr lang="en-US" sz="1400" dirty="0"/>
          </a:p>
          <a:p>
            <a:pPr indent="0" marL="0">
              <a:spcAft>
                <a:spcPts val="600"/>
              </a:spcAft>
              <a:buNone/>
            </a:pPr>
            <a:r>
              <a:rPr lang="en-US" sz="1400" dirty="0">
                <a:solidFill>
                  <a:schemeClr val="tx1"/>
                </a:solidFill>
              </a:rPr>
              <a:t>Pick the right line, remove the markers, git add the file, then git commit the merge.</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68680"/>
          </a:xfrm>
          <a:prstGeom prst="rect">
            <a:avLst/>
          </a:prstGeom>
          <a:noFill/>
          <a:ln/>
        </p:spPr>
        <p:txBody>
          <a:bodyPr wrap="square" lIns="0" tIns="0" rIns="0" bIns="0" rtlCol="0" anchor="ctr"/>
          <a:lstStyle/>
          <a:p>
            <a:pPr indent="0" marL="0">
              <a:buNone/>
            </a:pPr>
            <a:r>
              <a:rPr lang="en-US" sz="3400" b="1" dirty="0">
                <a:solidFill>
                  <a:schemeClr val="tx1"/>
                </a:solidFill>
              </a:rPr>
              <a:t>Continuous integration with Jenkins</a:t>
            </a:r>
            <a:endParaRPr lang="en-US" sz="3400" dirty="0"/>
          </a:p>
        </p:txBody>
      </p:sp>
      <p:sp>
        <p:nvSpPr>
          <p:cNvPr id="3" name="Stage Checkout"/>
          <p:cNvSpPr/>
          <p:nvPr/>
        </p:nvSpPr>
        <p:spPr>
          <a:xfrm>
            <a:off x="548640" y="1463040"/>
            <a:ext cx="2011680" cy="2651760"/>
          </a:xfrm>
          <a:prstGeom prst="roundRect">
            <a:avLst>
              <a:gd name="adj" fmla="val 4545"/>
            </a:avLst>
          </a:prstGeom>
          <a:solidFill>
            <a:schemeClr val="bg1"/>
          </a:solidFill>
          <a:ln/>
          <a:effectLst>
            <a:outerShdw sx="100000" sy="100000" kx="0" ky="0" algn="bl" rotWithShape="0" blurRad="101600" dist="25400" dir="5400000">
              <a:srgbClr val="000000">
                <a:alpha val="14000"/>
              </a:srgbClr>
            </a:outerShdw>
          </a:effectLst>
        </p:spPr>
      </p:sp>
      <p:sp>
        <p:nvSpPr>
          <p:cNvPr id="4" name="Stage dot 1"/>
          <p:cNvSpPr/>
          <p:nvPr/>
        </p:nvSpPr>
        <p:spPr>
          <a:xfrm>
            <a:off x="777240" y="1691640"/>
            <a:ext cx="548640" cy="548640"/>
          </a:xfrm>
          <a:prstGeom prst="ellipse">
            <a:avLst/>
          </a:prstGeom>
          <a:solidFill>
            <a:schemeClr val="accent1"/>
          </a:solidFill>
          <a:ln/>
        </p:spPr>
      </p:sp>
      <p:sp>
        <p:nvSpPr>
          <p:cNvPr id="5" name="Text 3"/>
          <p:cNvSpPr txBox="1"/>
          <p:nvPr/>
        </p:nvSpPr>
        <p:spPr>
          <a:xfrm>
            <a:off x="777240" y="16916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4"/>
          <p:cNvSpPr txBox="1"/>
          <p:nvPr/>
        </p:nvSpPr>
        <p:spPr>
          <a:xfrm>
            <a:off x="777240" y="2468880"/>
            <a:ext cx="1645920" cy="365760"/>
          </a:xfrm>
          <a:prstGeom prst="rect">
            <a:avLst/>
          </a:prstGeom>
          <a:noFill/>
          <a:ln/>
        </p:spPr>
        <p:txBody>
          <a:bodyPr wrap="square" lIns="0" tIns="0" rIns="0" bIns="0" rtlCol="0" anchor="t"/>
          <a:lstStyle/>
          <a:p>
            <a:pPr indent="0" marL="0">
              <a:buNone/>
            </a:pPr>
            <a:r>
              <a:rPr lang="en-US" sz="2000" b="1" dirty="0">
                <a:solidFill>
                  <a:schemeClr val="tx1"/>
                </a:solidFill>
              </a:rPr>
              <a:t>Checkout</a:t>
            </a:r>
            <a:endParaRPr lang="en-US" sz="2000" dirty="0"/>
          </a:p>
        </p:txBody>
      </p:sp>
      <p:sp>
        <p:nvSpPr>
          <p:cNvPr id="7" name="Text 5"/>
          <p:cNvSpPr txBox="1"/>
          <p:nvPr/>
        </p:nvSpPr>
        <p:spPr>
          <a:xfrm>
            <a:off x="777240" y="2926080"/>
            <a:ext cx="1600200" cy="1097280"/>
          </a:xfrm>
          <a:prstGeom prst="rect">
            <a:avLst/>
          </a:prstGeom>
          <a:noFill/>
          <a:ln/>
        </p:spPr>
        <p:txBody>
          <a:bodyPr wrap="square" lIns="0" tIns="0" rIns="0" bIns="0" rtlCol="0" anchor="t"/>
          <a:lstStyle/>
          <a:p>
            <a:pPr indent="0" marL="0">
              <a:buNone/>
            </a:pPr>
            <a:r>
              <a:rPr lang="en-US" sz="1400" dirty="0">
                <a:solidFill>
                  <a:schemeClr val="accent6"/>
                </a:solidFill>
              </a:rPr>
              <a:t>Clones the latest commit from GitHub</a:t>
            </a:r>
            <a:endParaRPr lang="en-US" sz="1400" dirty="0"/>
          </a:p>
        </p:txBody>
      </p:sp>
      <p:sp>
        <p:nvSpPr>
          <p:cNvPr id="8" name="Stage chevron 1"/>
          <p:cNvSpPr/>
          <p:nvPr/>
        </p:nvSpPr>
        <p:spPr>
          <a:xfrm>
            <a:off x="2578608" y="2606040"/>
            <a:ext cx="201168" cy="365760"/>
          </a:xfrm>
          <a:prstGeom prst="chevron">
            <a:avLst/>
          </a:prstGeom>
          <a:solidFill>
            <a:schemeClr val="accent2"/>
          </a:solidFill>
          <a:ln/>
        </p:spPr>
      </p:sp>
      <p:sp>
        <p:nvSpPr>
          <p:cNvPr id="9" name="Stage Build"/>
          <p:cNvSpPr/>
          <p:nvPr/>
        </p:nvSpPr>
        <p:spPr>
          <a:xfrm>
            <a:off x="2816352" y="1463040"/>
            <a:ext cx="2011680" cy="2651760"/>
          </a:xfrm>
          <a:prstGeom prst="roundRect">
            <a:avLst>
              <a:gd name="adj" fmla="val 4545"/>
            </a:avLst>
          </a:prstGeom>
          <a:solidFill>
            <a:schemeClr val="bg1"/>
          </a:solidFill>
          <a:ln/>
          <a:effectLst>
            <a:outerShdw sx="100000" sy="100000" kx="0" ky="0" algn="bl" rotWithShape="0" blurRad="101600" dist="25400" dir="5400000">
              <a:srgbClr val="000000">
                <a:alpha val="14000"/>
              </a:srgbClr>
            </a:outerShdw>
          </a:effectLst>
        </p:spPr>
      </p:sp>
      <p:sp>
        <p:nvSpPr>
          <p:cNvPr id="10" name="Stage dot 2"/>
          <p:cNvSpPr/>
          <p:nvPr/>
        </p:nvSpPr>
        <p:spPr>
          <a:xfrm>
            <a:off x="3044952" y="1691640"/>
            <a:ext cx="548640" cy="548640"/>
          </a:xfrm>
          <a:prstGeom prst="ellipse">
            <a:avLst/>
          </a:prstGeom>
          <a:solidFill>
            <a:schemeClr val="accent1"/>
          </a:solidFill>
          <a:ln/>
        </p:spPr>
      </p:sp>
      <p:sp>
        <p:nvSpPr>
          <p:cNvPr id="11" name="Text 9"/>
          <p:cNvSpPr txBox="1"/>
          <p:nvPr/>
        </p:nvSpPr>
        <p:spPr>
          <a:xfrm>
            <a:off x="3044952" y="16916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2" name="Text 10"/>
          <p:cNvSpPr txBox="1"/>
          <p:nvPr/>
        </p:nvSpPr>
        <p:spPr>
          <a:xfrm>
            <a:off x="3044952" y="2468880"/>
            <a:ext cx="1645920" cy="365760"/>
          </a:xfrm>
          <a:prstGeom prst="rect">
            <a:avLst/>
          </a:prstGeom>
          <a:noFill/>
          <a:ln/>
        </p:spPr>
        <p:txBody>
          <a:bodyPr wrap="square" lIns="0" tIns="0" rIns="0" bIns="0" rtlCol="0" anchor="t"/>
          <a:lstStyle/>
          <a:p>
            <a:pPr indent="0" marL="0">
              <a:buNone/>
            </a:pPr>
            <a:r>
              <a:rPr lang="en-US" sz="2000" b="1" dirty="0">
                <a:solidFill>
                  <a:schemeClr val="tx1"/>
                </a:solidFill>
              </a:rPr>
              <a:t>Build</a:t>
            </a:r>
            <a:endParaRPr lang="en-US" sz="2000" dirty="0"/>
          </a:p>
        </p:txBody>
      </p:sp>
      <p:sp>
        <p:nvSpPr>
          <p:cNvPr id="13" name="Text 11"/>
          <p:cNvSpPr txBox="1"/>
          <p:nvPr/>
        </p:nvSpPr>
        <p:spPr>
          <a:xfrm>
            <a:off x="3044952" y="2926080"/>
            <a:ext cx="1600200" cy="1097280"/>
          </a:xfrm>
          <a:prstGeom prst="rect">
            <a:avLst/>
          </a:prstGeom>
          <a:noFill/>
          <a:ln/>
        </p:spPr>
        <p:txBody>
          <a:bodyPr wrap="square" lIns="0" tIns="0" rIns="0" bIns="0" rtlCol="0" anchor="t"/>
          <a:lstStyle/>
          <a:p>
            <a:pPr indent="0" marL="0">
              <a:buNone/>
            </a:pPr>
            <a:r>
              <a:rPr lang="en-US" sz="1400" dirty="0">
                <a:solidFill>
                  <a:schemeClr val="accent6"/>
                </a:solidFill>
              </a:rPr>
              <a:t>Compiles Java 21 with mvnw clean compile</a:t>
            </a:r>
            <a:endParaRPr lang="en-US" sz="1400" dirty="0"/>
          </a:p>
        </p:txBody>
      </p:sp>
      <p:sp>
        <p:nvSpPr>
          <p:cNvPr id="14" name="Stage chevron 2"/>
          <p:cNvSpPr/>
          <p:nvPr/>
        </p:nvSpPr>
        <p:spPr>
          <a:xfrm>
            <a:off x="4846320" y="2606040"/>
            <a:ext cx="201168" cy="365760"/>
          </a:xfrm>
          <a:prstGeom prst="chevron">
            <a:avLst/>
          </a:prstGeom>
          <a:solidFill>
            <a:schemeClr val="accent2"/>
          </a:solidFill>
          <a:ln/>
        </p:spPr>
      </p:sp>
      <p:sp>
        <p:nvSpPr>
          <p:cNvPr id="15" name="Stage Test"/>
          <p:cNvSpPr/>
          <p:nvPr/>
        </p:nvSpPr>
        <p:spPr>
          <a:xfrm>
            <a:off x="5084064" y="1463040"/>
            <a:ext cx="2011680" cy="2651760"/>
          </a:xfrm>
          <a:prstGeom prst="roundRect">
            <a:avLst>
              <a:gd name="adj" fmla="val 4545"/>
            </a:avLst>
          </a:prstGeom>
          <a:solidFill>
            <a:schemeClr val="bg1"/>
          </a:solidFill>
          <a:ln/>
          <a:effectLst>
            <a:outerShdw sx="100000" sy="100000" kx="0" ky="0" algn="bl" rotWithShape="0" blurRad="101600" dist="25400" dir="5400000">
              <a:srgbClr val="000000">
                <a:alpha val="14000"/>
              </a:srgbClr>
            </a:outerShdw>
          </a:effectLst>
        </p:spPr>
      </p:sp>
      <p:sp>
        <p:nvSpPr>
          <p:cNvPr id="16" name="Stage dot 3"/>
          <p:cNvSpPr/>
          <p:nvPr/>
        </p:nvSpPr>
        <p:spPr>
          <a:xfrm>
            <a:off x="5312664" y="1691640"/>
            <a:ext cx="548640" cy="548640"/>
          </a:xfrm>
          <a:prstGeom prst="ellipse">
            <a:avLst/>
          </a:prstGeom>
          <a:solidFill>
            <a:schemeClr val="accent1"/>
          </a:solidFill>
          <a:ln/>
        </p:spPr>
      </p:sp>
      <p:sp>
        <p:nvSpPr>
          <p:cNvPr id="17" name="Text 15"/>
          <p:cNvSpPr txBox="1"/>
          <p:nvPr/>
        </p:nvSpPr>
        <p:spPr>
          <a:xfrm>
            <a:off x="5312664" y="16916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8" name="Text 16"/>
          <p:cNvSpPr txBox="1"/>
          <p:nvPr/>
        </p:nvSpPr>
        <p:spPr>
          <a:xfrm>
            <a:off x="5312664" y="2468880"/>
            <a:ext cx="1645920" cy="365760"/>
          </a:xfrm>
          <a:prstGeom prst="rect">
            <a:avLst/>
          </a:prstGeom>
          <a:noFill/>
          <a:ln/>
        </p:spPr>
        <p:txBody>
          <a:bodyPr wrap="square" lIns="0" tIns="0" rIns="0" bIns="0" rtlCol="0" anchor="t"/>
          <a:lstStyle/>
          <a:p>
            <a:pPr indent="0" marL="0">
              <a:buNone/>
            </a:pPr>
            <a:r>
              <a:rPr lang="en-US" sz="2000" b="1" dirty="0">
                <a:solidFill>
                  <a:schemeClr val="tx1"/>
                </a:solidFill>
              </a:rPr>
              <a:t>Test</a:t>
            </a:r>
            <a:endParaRPr lang="en-US" sz="2000" dirty="0"/>
          </a:p>
        </p:txBody>
      </p:sp>
      <p:sp>
        <p:nvSpPr>
          <p:cNvPr id="19" name="Text 17"/>
          <p:cNvSpPr txBox="1"/>
          <p:nvPr/>
        </p:nvSpPr>
        <p:spPr>
          <a:xfrm>
            <a:off x="5312664" y="2926080"/>
            <a:ext cx="1600200" cy="1097280"/>
          </a:xfrm>
          <a:prstGeom prst="rect">
            <a:avLst/>
          </a:prstGeom>
          <a:noFill/>
          <a:ln/>
        </p:spPr>
        <p:txBody>
          <a:bodyPr wrap="square" lIns="0" tIns="0" rIns="0" bIns="0" rtlCol="0" anchor="t"/>
          <a:lstStyle/>
          <a:p>
            <a:pPr indent="0" marL="0">
              <a:buNone/>
            </a:pPr>
            <a:r>
              <a:rPr lang="en-US" sz="1400" dirty="0">
                <a:solidFill>
                  <a:schemeClr val="accent6"/>
                </a:solidFill>
              </a:rPr>
              <a:t>Runs JUnit 5 and saves Surefire reports</a:t>
            </a:r>
            <a:endParaRPr lang="en-US" sz="1400" dirty="0"/>
          </a:p>
        </p:txBody>
      </p:sp>
      <p:sp>
        <p:nvSpPr>
          <p:cNvPr id="20" name="Stage chevron 3"/>
          <p:cNvSpPr/>
          <p:nvPr/>
        </p:nvSpPr>
        <p:spPr>
          <a:xfrm>
            <a:off x="7114032" y="2606040"/>
            <a:ext cx="201168" cy="365760"/>
          </a:xfrm>
          <a:prstGeom prst="chevron">
            <a:avLst/>
          </a:prstGeom>
          <a:solidFill>
            <a:schemeClr val="accent2"/>
          </a:solidFill>
          <a:ln/>
        </p:spPr>
      </p:sp>
      <p:sp>
        <p:nvSpPr>
          <p:cNvPr id="21" name="Stage Package"/>
          <p:cNvSpPr/>
          <p:nvPr/>
        </p:nvSpPr>
        <p:spPr>
          <a:xfrm>
            <a:off x="7351776" y="1463040"/>
            <a:ext cx="2011680" cy="2651760"/>
          </a:xfrm>
          <a:prstGeom prst="roundRect">
            <a:avLst>
              <a:gd name="adj" fmla="val 4545"/>
            </a:avLst>
          </a:prstGeom>
          <a:solidFill>
            <a:schemeClr val="bg1"/>
          </a:solidFill>
          <a:ln/>
          <a:effectLst>
            <a:outerShdw sx="100000" sy="100000" kx="0" ky="0" algn="bl" rotWithShape="0" blurRad="101600" dist="25400" dir="5400000">
              <a:srgbClr val="000000">
                <a:alpha val="14000"/>
              </a:srgbClr>
            </a:outerShdw>
          </a:effectLst>
        </p:spPr>
      </p:sp>
      <p:sp>
        <p:nvSpPr>
          <p:cNvPr id="22" name="Stage dot 4"/>
          <p:cNvSpPr/>
          <p:nvPr/>
        </p:nvSpPr>
        <p:spPr>
          <a:xfrm>
            <a:off x="7580376" y="1691640"/>
            <a:ext cx="548640" cy="548640"/>
          </a:xfrm>
          <a:prstGeom prst="ellipse">
            <a:avLst/>
          </a:prstGeom>
          <a:solidFill>
            <a:schemeClr val="accent1"/>
          </a:solidFill>
          <a:ln/>
        </p:spPr>
      </p:sp>
      <p:sp>
        <p:nvSpPr>
          <p:cNvPr id="23" name="Text 21"/>
          <p:cNvSpPr txBox="1"/>
          <p:nvPr/>
        </p:nvSpPr>
        <p:spPr>
          <a:xfrm>
            <a:off x="7580376" y="16916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4" name="Text 22"/>
          <p:cNvSpPr txBox="1"/>
          <p:nvPr/>
        </p:nvSpPr>
        <p:spPr>
          <a:xfrm>
            <a:off x="7580376" y="2468880"/>
            <a:ext cx="1645920" cy="365760"/>
          </a:xfrm>
          <a:prstGeom prst="rect">
            <a:avLst/>
          </a:prstGeom>
          <a:noFill/>
          <a:ln/>
        </p:spPr>
        <p:txBody>
          <a:bodyPr wrap="square" lIns="0" tIns="0" rIns="0" bIns="0" rtlCol="0" anchor="t"/>
          <a:lstStyle/>
          <a:p>
            <a:pPr indent="0" marL="0">
              <a:buNone/>
            </a:pPr>
            <a:r>
              <a:rPr lang="en-US" sz="2000" b="1" dirty="0">
                <a:solidFill>
                  <a:schemeClr val="tx1"/>
                </a:solidFill>
              </a:rPr>
              <a:t>Package</a:t>
            </a:r>
            <a:endParaRPr lang="en-US" sz="2000" dirty="0"/>
          </a:p>
        </p:txBody>
      </p:sp>
      <p:sp>
        <p:nvSpPr>
          <p:cNvPr id="25" name="Text 23"/>
          <p:cNvSpPr txBox="1"/>
          <p:nvPr/>
        </p:nvSpPr>
        <p:spPr>
          <a:xfrm>
            <a:off x="7580376" y="2926080"/>
            <a:ext cx="1600200" cy="1097280"/>
          </a:xfrm>
          <a:prstGeom prst="rect">
            <a:avLst/>
          </a:prstGeom>
          <a:noFill/>
          <a:ln/>
        </p:spPr>
        <p:txBody>
          <a:bodyPr wrap="square" lIns="0" tIns="0" rIns="0" bIns="0" rtlCol="0" anchor="t"/>
          <a:lstStyle/>
          <a:p>
            <a:pPr indent="0" marL="0">
              <a:buNone/>
            </a:pPr>
            <a:r>
              <a:rPr lang="en-US" sz="1400" dirty="0">
                <a:solidFill>
                  <a:schemeClr val="accent6"/>
                </a:solidFill>
              </a:rPr>
              <a:t>Builds the executable Spring Boot JAR</a:t>
            </a:r>
            <a:endParaRPr lang="en-US" sz="1400" dirty="0"/>
          </a:p>
        </p:txBody>
      </p:sp>
      <p:sp>
        <p:nvSpPr>
          <p:cNvPr id="26" name="Stage chevron 4"/>
          <p:cNvSpPr/>
          <p:nvPr/>
        </p:nvSpPr>
        <p:spPr>
          <a:xfrm>
            <a:off x="9381744" y="2606040"/>
            <a:ext cx="201168" cy="365760"/>
          </a:xfrm>
          <a:prstGeom prst="chevron">
            <a:avLst/>
          </a:prstGeom>
          <a:solidFill>
            <a:schemeClr val="accent2"/>
          </a:solidFill>
          <a:ln/>
        </p:spPr>
      </p:sp>
      <p:sp>
        <p:nvSpPr>
          <p:cNvPr id="27" name="Stage Archive"/>
          <p:cNvSpPr/>
          <p:nvPr/>
        </p:nvSpPr>
        <p:spPr>
          <a:xfrm>
            <a:off x="9619488" y="1463040"/>
            <a:ext cx="2011680" cy="2651760"/>
          </a:xfrm>
          <a:prstGeom prst="roundRect">
            <a:avLst>
              <a:gd name="adj" fmla="val 4545"/>
            </a:avLst>
          </a:prstGeom>
          <a:solidFill>
            <a:schemeClr val="bg1"/>
          </a:solidFill>
          <a:ln/>
          <a:effectLst>
            <a:outerShdw sx="100000" sy="100000" kx="0" ky="0" algn="bl" rotWithShape="0" blurRad="101600" dist="25400" dir="5400000">
              <a:srgbClr val="000000">
                <a:alpha val="14000"/>
              </a:srgbClr>
            </a:outerShdw>
          </a:effectLst>
        </p:spPr>
      </p:sp>
      <p:sp>
        <p:nvSpPr>
          <p:cNvPr id="28" name="Stage dot 5"/>
          <p:cNvSpPr/>
          <p:nvPr/>
        </p:nvSpPr>
        <p:spPr>
          <a:xfrm>
            <a:off x="9848088" y="1691640"/>
            <a:ext cx="548640" cy="548640"/>
          </a:xfrm>
          <a:prstGeom prst="ellipse">
            <a:avLst/>
          </a:prstGeom>
          <a:solidFill>
            <a:schemeClr val="accent1"/>
          </a:solidFill>
          <a:ln/>
        </p:spPr>
      </p:sp>
      <p:sp>
        <p:nvSpPr>
          <p:cNvPr id="29" name="Text 27"/>
          <p:cNvSpPr txBox="1"/>
          <p:nvPr/>
        </p:nvSpPr>
        <p:spPr>
          <a:xfrm>
            <a:off x="9848088" y="16916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30" name="Text 28"/>
          <p:cNvSpPr txBox="1"/>
          <p:nvPr/>
        </p:nvSpPr>
        <p:spPr>
          <a:xfrm>
            <a:off x="9848088" y="2468880"/>
            <a:ext cx="1645920" cy="365760"/>
          </a:xfrm>
          <a:prstGeom prst="rect">
            <a:avLst/>
          </a:prstGeom>
          <a:noFill/>
          <a:ln/>
        </p:spPr>
        <p:txBody>
          <a:bodyPr wrap="square" lIns="0" tIns="0" rIns="0" bIns="0" rtlCol="0" anchor="t"/>
          <a:lstStyle/>
          <a:p>
            <a:pPr indent="0" marL="0">
              <a:buNone/>
            </a:pPr>
            <a:r>
              <a:rPr lang="en-US" sz="2000" b="1" dirty="0">
                <a:solidFill>
                  <a:schemeClr val="tx1"/>
                </a:solidFill>
              </a:rPr>
              <a:t>Archive</a:t>
            </a:r>
            <a:endParaRPr lang="en-US" sz="2000" dirty="0"/>
          </a:p>
        </p:txBody>
      </p:sp>
      <p:sp>
        <p:nvSpPr>
          <p:cNvPr id="31" name="Text 29"/>
          <p:cNvSpPr txBox="1"/>
          <p:nvPr/>
        </p:nvSpPr>
        <p:spPr>
          <a:xfrm>
            <a:off x="9848088" y="2926080"/>
            <a:ext cx="1600200" cy="1097280"/>
          </a:xfrm>
          <a:prstGeom prst="rect">
            <a:avLst/>
          </a:prstGeom>
          <a:noFill/>
          <a:ln/>
        </p:spPr>
        <p:txBody>
          <a:bodyPr wrap="square" lIns="0" tIns="0" rIns="0" bIns="0" rtlCol="0" anchor="t"/>
          <a:lstStyle/>
          <a:p>
            <a:pPr indent="0" marL="0">
              <a:buNone/>
            </a:pPr>
            <a:r>
              <a:rPr lang="en-US" sz="1400" dirty="0">
                <a:solidFill>
                  <a:schemeClr val="accent6"/>
                </a:solidFill>
              </a:rPr>
              <a:t>Stores the JAR for deployment</a:t>
            </a:r>
            <a:endParaRPr lang="en-US" sz="1400" dirty="0"/>
          </a:p>
        </p:txBody>
      </p:sp>
      <p:sp>
        <p:nvSpPr>
          <p:cNvPr id="32" name="Callout Pipeline as code"/>
          <p:cNvSpPr/>
          <p:nvPr/>
        </p:nvSpPr>
        <p:spPr>
          <a:xfrm>
            <a:off x="548640" y="4434840"/>
            <a:ext cx="5394960" cy="1600200"/>
          </a:xfrm>
          <a:prstGeom prst="roundRect">
            <a:avLst>
              <a:gd name="adj" fmla="val 5714"/>
            </a:avLst>
          </a:prstGeom>
          <a:solidFill>
            <a:schemeClr val="bg1"/>
          </a:solidFill>
          <a:ln/>
          <a:effectLst>
            <a:outerShdw sx="100000" sy="100000" kx="0" ky="0" algn="bl" rotWithShape="0" blurRad="101600" dist="25400" dir="5400000">
              <a:srgbClr val="000000">
                <a:alpha val="14000"/>
              </a:srgbClr>
            </a:outerShdw>
          </a:effectLst>
        </p:spPr>
      </p:sp>
      <p:sp>
        <p:nvSpPr>
          <p:cNvPr id="33" name="Icon Pipeline as code bg"/>
          <p:cNvSpPr/>
          <p:nvPr/>
        </p:nvSpPr>
        <p:spPr>
          <a:xfrm>
            <a:off x="822960" y="4754880"/>
            <a:ext cx="594360" cy="594360"/>
          </a:xfrm>
          <a:prstGeom prst="ellipse">
            <a:avLst/>
          </a:prstGeom>
          <a:solidFill>
            <a:schemeClr val="accent1"/>
          </a:solidFill>
          <a:ln/>
        </p:spPr>
      </p:sp>
      <p:pic>
        <p:nvPicPr>
          <p:cNvPr id="34" name="Icon Pipeline as code" descr="Icon Pipeline as code">    </p:cNvPr>
          <p:cNvPicPr>
            <a:picLocks noChangeAspect="1"/>
          </p:cNvPicPr>
          <p:nvPr/>
        </p:nvPicPr>
        <p:blipFill>
          <a:blip r:embed="rId1"/>
          <a:stretch>
            <a:fillRect/>
          </a:stretch>
        </p:blipFill>
        <p:spPr>
          <a:xfrm>
            <a:off x="977494" y="4909414"/>
            <a:ext cx="285293" cy="285293"/>
          </a:xfrm>
          <a:prstGeom prst="rect">
            <a:avLst/>
          </a:prstGeom>
        </p:spPr>
      </p:pic>
      <p:sp>
        <p:nvSpPr>
          <p:cNvPr id="35" name="Text 32"/>
          <p:cNvSpPr txBox="1"/>
          <p:nvPr/>
        </p:nvSpPr>
        <p:spPr>
          <a:xfrm>
            <a:off x="1645920" y="4663440"/>
            <a:ext cx="4023360" cy="365760"/>
          </a:xfrm>
          <a:prstGeom prst="rect">
            <a:avLst/>
          </a:prstGeom>
          <a:noFill/>
          <a:ln/>
        </p:spPr>
        <p:txBody>
          <a:bodyPr wrap="square" lIns="0" tIns="0" rIns="0" bIns="0" rtlCol="0" anchor="t"/>
          <a:lstStyle/>
          <a:p>
            <a:pPr indent="0" marL="0">
              <a:buNone/>
            </a:pPr>
            <a:r>
              <a:rPr lang="en-US" sz="1800" b="1" dirty="0">
                <a:solidFill>
                  <a:schemeClr val="tx1"/>
                </a:solidFill>
              </a:rPr>
              <a:t>Pipeline as code</a:t>
            </a:r>
            <a:endParaRPr lang="en-US" sz="1800" dirty="0"/>
          </a:p>
        </p:txBody>
      </p:sp>
      <p:sp>
        <p:nvSpPr>
          <p:cNvPr id="36" name="Text 33"/>
          <p:cNvSpPr txBox="1"/>
          <p:nvPr/>
        </p:nvSpPr>
        <p:spPr>
          <a:xfrm>
            <a:off x="1645920" y="5074920"/>
            <a:ext cx="4023360" cy="822960"/>
          </a:xfrm>
          <a:prstGeom prst="rect">
            <a:avLst/>
          </a:prstGeom>
          <a:noFill/>
          <a:ln/>
        </p:spPr>
        <p:txBody>
          <a:bodyPr wrap="square" lIns="0" tIns="0" rIns="0" bIns="0" rtlCol="0" anchor="t"/>
          <a:lstStyle/>
          <a:p>
            <a:pPr indent="0" marL="0">
              <a:buNone/>
            </a:pPr>
            <a:r>
              <a:rPr lang="en-US" sz="1400" dirty="0">
                <a:solidFill>
                  <a:schemeClr val="accent6"/>
                </a:solidFill>
              </a:rPr>
              <a:t>The whole pipeline lives in the root Jenkinsfile and is versioned with the app.</a:t>
            </a:r>
            <a:endParaRPr lang="en-US" sz="1400" dirty="0"/>
          </a:p>
        </p:txBody>
      </p:sp>
      <p:sp>
        <p:nvSpPr>
          <p:cNvPr id="37" name="Callout Reports and trends"/>
          <p:cNvSpPr/>
          <p:nvPr/>
        </p:nvSpPr>
        <p:spPr>
          <a:xfrm>
            <a:off x="6245352" y="4434840"/>
            <a:ext cx="5394960" cy="1600200"/>
          </a:xfrm>
          <a:prstGeom prst="roundRect">
            <a:avLst>
              <a:gd name="adj" fmla="val 5714"/>
            </a:avLst>
          </a:prstGeom>
          <a:solidFill>
            <a:schemeClr val="bg1"/>
          </a:solidFill>
          <a:ln/>
          <a:effectLst>
            <a:outerShdw sx="100000" sy="100000" kx="0" ky="0" algn="bl" rotWithShape="0" blurRad="101600" dist="25400" dir="5400000">
              <a:srgbClr val="000000">
                <a:alpha val="14000"/>
              </a:srgbClr>
            </a:outerShdw>
          </a:effectLst>
        </p:spPr>
      </p:sp>
      <p:sp>
        <p:nvSpPr>
          <p:cNvPr id="38" name="Icon Reports and trends bg"/>
          <p:cNvSpPr/>
          <p:nvPr/>
        </p:nvSpPr>
        <p:spPr>
          <a:xfrm>
            <a:off x="6519672" y="4754880"/>
            <a:ext cx="594360" cy="594360"/>
          </a:xfrm>
          <a:prstGeom prst="ellipse">
            <a:avLst/>
          </a:prstGeom>
          <a:solidFill>
            <a:schemeClr val="accent2"/>
          </a:solidFill>
          <a:ln/>
        </p:spPr>
      </p:sp>
      <p:pic>
        <p:nvPicPr>
          <p:cNvPr id="39" name="Icon Reports and trends" descr="Icon Reports and trends">    </p:cNvPr>
          <p:cNvPicPr>
            <a:picLocks noChangeAspect="1"/>
          </p:cNvPicPr>
          <p:nvPr/>
        </p:nvPicPr>
        <p:blipFill>
          <a:blip r:embed="rId2"/>
          <a:stretch>
            <a:fillRect/>
          </a:stretch>
        </p:blipFill>
        <p:spPr>
          <a:xfrm>
            <a:off x="6674206" y="4909414"/>
            <a:ext cx="285293" cy="285293"/>
          </a:xfrm>
          <a:prstGeom prst="rect">
            <a:avLst/>
          </a:prstGeom>
        </p:spPr>
      </p:pic>
      <p:sp>
        <p:nvSpPr>
          <p:cNvPr id="40" name="Text 36"/>
          <p:cNvSpPr txBox="1"/>
          <p:nvPr/>
        </p:nvSpPr>
        <p:spPr>
          <a:xfrm>
            <a:off x="7342632" y="4663440"/>
            <a:ext cx="4023360" cy="365760"/>
          </a:xfrm>
          <a:prstGeom prst="rect">
            <a:avLst/>
          </a:prstGeom>
          <a:noFill/>
          <a:ln/>
        </p:spPr>
        <p:txBody>
          <a:bodyPr wrap="square" lIns="0" tIns="0" rIns="0" bIns="0" rtlCol="0" anchor="t"/>
          <a:lstStyle/>
          <a:p>
            <a:pPr indent="0" marL="0">
              <a:buNone/>
            </a:pPr>
            <a:r>
              <a:rPr lang="en-US" sz="1800" b="1" dirty="0">
                <a:solidFill>
                  <a:schemeClr val="tx1"/>
                </a:solidFill>
              </a:rPr>
              <a:t>Reports and trends</a:t>
            </a:r>
            <a:endParaRPr lang="en-US" sz="1800" dirty="0"/>
          </a:p>
        </p:txBody>
      </p:sp>
      <p:sp>
        <p:nvSpPr>
          <p:cNvPr id="41" name="Text 37"/>
          <p:cNvSpPr txBox="1"/>
          <p:nvPr/>
        </p:nvSpPr>
        <p:spPr>
          <a:xfrm>
            <a:off x="7342632" y="5074920"/>
            <a:ext cx="4023360" cy="822960"/>
          </a:xfrm>
          <a:prstGeom prst="rect">
            <a:avLst/>
          </a:prstGeom>
          <a:noFill/>
          <a:ln/>
        </p:spPr>
        <p:txBody>
          <a:bodyPr wrap="square" lIns="0" tIns="0" rIns="0" bIns="0" rtlCol="0" anchor="t"/>
          <a:lstStyle/>
          <a:p>
            <a:pPr indent="0" marL="0">
              <a:buNone/>
            </a:pPr>
            <a:r>
              <a:rPr lang="en-US" sz="1400" dirty="0">
                <a:solidFill>
                  <a:schemeClr val="accent6"/>
                </a:solidFill>
              </a:rPr>
              <a:t>Surefire XML test trends show on the Jenkins dashboard at port 8080.</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68680"/>
          </a:xfrm>
          <a:prstGeom prst="rect">
            <a:avLst/>
          </a:prstGeom>
          <a:noFill/>
          <a:ln/>
        </p:spPr>
        <p:txBody>
          <a:bodyPr wrap="square" lIns="0" tIns="0" rIns="0" bIns="0" rtlCol="0" anchor="ctr"/>
          <a:lstStyle/>
          <a:p>
            <a:pPr indent="0" marL="0">
              <a:buNone/>
            </a:pPr>
            <a:r>
              <a:rPr lang="en-US" sz="3400" b="1" dirty="0">
                <a:solidFill>
                  <a:schemeClr val="tx1"/>
                </a:solidFill>
              </a:rPr>
              <a:t>Selenium UI test automation</a:t>
            </a:r>
            <a:endParaRPr lang="en-US" sz="3400" dirty="0"/>
          </a:p>
        </p:txBody>
      </p:sp>
      <p:sp>
        <p:nvSpPr>
          <p:cNvPr id="3" name="Stat end-to-end test suites"/>
          <p:cNvSpPr/>
          <p:nvPr/>
        </p:nvSpPr>
        <p:spPr>
          <a:xfrm>
            <a:off x="548640" y="1463040"/>
            <a:ext cx="3383280" cy="1371600"/>
          </a:xfrm>
          <a:prstGeom prst="roundRect">
            <a:avLst>
              <a:gd name="adj" fmla="val 6667"/>
            </a:avLst>
          </a:prstGeom>
          <a:solidFill>
            <a:schemeClr val="tx1"/>
          </a:solidFill>
          <a:ln/>
          <a:effectLst>
            <a:outerShdw sx="100000" sy="100000" kx="0" ky="0" algn="bl" rotWithShape="0" blurRad="101600" dist="25400" dir="5400000">
              <a:srgbClr val="000000">
                <a:alpha val="14000"/>
              </a:srgbClr>
            </a:outerShdw>
          </a:effectLst>
        </p:spPr>
      </p:sp>
      <p:sp>
        <p:nvSpPr>
          <p:cNvPr id="4" name="Text 2"/>
          <p:cNvSpPr txBox="1"/>
          <p:nvPr/>
        </p:nvSpPr>
        <p:spPr>
          <a:xfrm>
            <a:off x="777240" y="1463040"/>
            <a:ext cx="1737360" cy="1371600"/>
          </a:xfrm>
          <a:prstGeom prst="rect">
            <a:avLst/>
          </a:prstGeom>
          <a:noFill/>
          <a:ln/>
        </p:spPr>
        <p:txBody>
          <a:bodyPr wrap="square" lIns="0" tIns="0" rIns="0" bIns="0" rtlCol="0" anchor="ctr"/>
          <a:lstStyle/>
          <a:p>
            <a:pPr indent="0" marL="0">
              <a:buNone/>
            </a:pPr>
            <a:r>
              <a:rPr lang="en-US" sz="4000" b="1" dirty="0">
                <a:solidFill>
                  <a:schemeClr val="bg1"/>
                </a:solidFill>
              </a:rPr>
              <a:t>4</a:t>
            </a:r>
            <a:endParaRPr lang="en-US" sz="4000" dirty="0"/>
          </a:p>
        </p:txBody>
      </p:sp>
      <p:sp>
        <p:nvSpPr>
          <p:cNvPr id="5" name="Text 3"/>
          <p:cNvSpPr txBox="1"/>
          <p:nvPr/>
        </p:nvSpPr>
        <p:spPr>
          <a:xfrm>
            <a:off x="2514600" y="1463040"/>
            <a:ext cx="1325880" cy="1371600"/>
          </a:xfrm>
          <a:prstGeom prst="rect">
            <a:avLst/>
          </a:prstGeom>
          <a:noFill/>
          <a:ln/>
        </p:spPr>
        <p:txBody>
          <a:bodyPr wrap="square" lIns="0" tIns="0" rIns="0" bIns="0" rtlCol="0" anchor="ctr"/>
          <a:lstStyle/>
          <a:p>
            <a:pPr indent="0" marL="0">
              <a:buNone/>
            </a:pPr>
            <a:r>
              <a:rPr lang="en-US" sz="1400" dirty="0">
                <a:solidFill>
                  <a:schemeClr val="accent3"/>
                </a:solidFill>
              </a:rPr>
              <a:t>end-to-end test suites</a:t>
            </a:r>
            <a:endParaRPr lang="en-US" sz="1400" dirty="0"/>
          </a:p>
        </p:txBody>
      </p:sp>
      <p:sp>
        <p:nvSpPr>
          <p:cNvPr id="6" name="Stat pass rate"/>
          <p:cNvSpPr/>
          <p:nvPr/>
        </p:nvSpPr>
        <p:spPr>
          <a:xfrm>
            <a:off x="548640" y="3063240"/>
            <a:ext cx="3383280" cy="1371600"/>
          </a:xfrm>
          <a:prstGeom prst="roundRect">
            <a:avLst>
              <a:gd name="adj" fmla="val 6667"/>
            </a:avLst>
          </a:prstGeom>
          <a:solidFill>
            <a:schemeClr val="tx1"/>
          </a:solidFill>
          <a:ln/>
          <a:effectLst>
            <a:outerShdw sx="100000" sy="100000" kx="0" ky="0" algn="bl" rotWithShape="0" blurRad="101600" dist="25400" dir="5400000">
              <a:srgbClr val="000000">
                <a:alpha val="14000"/>
              </a:srgbClr>
            </a:outerShdw>
          </a:effectLst>
        </p:spPr>
      </p:sp>
      <p:sp>
        <p:nvSpPr>
          <p:cNvPr id="7" name="Text 5"/>
          <p:cNvSpPr txBox="1"/>
          <p:nvPr/>
        </p:nvSpPr>
        <p:spPr>
          <a:xfrm>
            <a:off x="777240" y="3063240"/>
            <a:ext cx="1737360" cy="1371600"/>
          </a:xfrm>
          <a:prstGeom prst="rect">
            <a:avLst/>
          </a:prstGeom>
          <a:noFill/>
          <a:ln/>
        </p:spPr>
        <p:txBody>
          <a:bodyPr wrap="square" lIns="0" tIns="0" rIns="0" bIns="0" rtlCol="0" anchor="ctr"/>
          <a:lstStyle/>
          <a:p>
            <a:pPr indent="0" marL="0">
              <a:buNone/>
            </a:pPr>
            <a:r>
              <a:rPr lang="en-US" sz="4000" b="1" dirty="0">
                <a:solidFill>
                  <a:schemeClr val="bg1"/>
                </a:solidFill>
              </a:rPr>
              <a:t>100%</a:t>
            </a:r>
            <a:endParaRPr lang="en-US" sz="4000" dirty="0"/>
          </a:p>
        </p:txBody>
      </p:sp>
      <p:sp>
        <p:nvSpPr>
          <p:cNvPr id="8" name="Text 6"/>
          <p:cNvSpPr txBox="1"/>
          <p:nvPr/>
        </p:nvSpPr>
        <p:spPr>
          <a:xfrm>
            <a:off x="2514600" y="3063240"/>
            <a:ext cx="1325880" cy="1371600"/>
          </a:xfrm>
          <a:prstGeom prst="rect">
            <a:avLst/>
          </a:prstGeom>
          <a:noFill/>
          <a:ln/>
        </p:spPr>
        <p:txBody>
          <a:bodyPr wrap="square" lIns="0" tIns="0" rIns="0" bIns="0" rtlCol="0" anchor="ctr"/>
          <a:lstStyle/>
          <a:p>
            <a:pPr indent="0" marL="0">
              <a:buNone/>
            </a:pPr>
            <a:r>
              <a:rPr lang="en-US" sz="1400" dirty="0">
                <a:solidFill>
                  <a:schemeClr val="accent3"/>
                </a:solidFill>
              </a:rPr>
              <a:t>pass rate</a:t>
            </a:r>
            <a:endParaRPr lang="en-US" sz="1400" dirty="0"/>
          </a:p>
        </p:txBody>
      </p:sp>
      <p:sp>
        <p:nvSpPr>
          <p:cNvPr id="9" name="Stat headless run time"/>
          <p:cNvSpPr/>
          <p:nvPr/>
        </p:nvSpPr>
        <p:spPr>
          <a:xfrm>
            <a:off x="548640" y="4663440"/>
            <a:ext cx="3383280" cy="1371600"/>
          </a:xfrm>
          <a:prstGeom prst="roundRect">
            <a:avLst>
              <a:gd name="adj" fmla="val 6667"/>
            </a:avLst>
          </a:prstGeom>
          <a:solidFill>
            <a:schemeClr val="tx1"/>
          </a:solidFill>
          <a:ln/>
          <a:effectLst>
            <a:outerShdw sx="100000" sy="100000" kx="0" ky="0" algn="bl" rotWithShape="0" blurRad="101600" dist="25400" dir="5400000">
              <a:srgbClr val="000000">
                <a:alpha val="14000"/>
              </a:srgbClr>
            </a:outerShdw>
          </a:effectLst>
        </p:spPr>
      </p:sp>
      <p:sp>
        <p:nvSpPr>
          <p:cNvPr id="10" name="Text 8"/>
          <p:cNvSpPr txBox="1"/>
          <p:nvPr/>
        </p:nvSpPr>
        <p:spPr>
          <a:xfrm>
            <a:off x="777240" y="4663440"/>
            <a:ext cx="1737360" cy="1371600"/>
          </a:xfrm>
          <a:prstGeom prst="rect">
            <a:avLst/>
          </a:prstGeom>
          <a:noFill/>
          <a:ln/>
        </p:spPr>
        <p:txBody>
          <a:bodyPr wrap="square" lIns="0" tIns="0" rIns="0" bIns="0" rtlCol="0" anchor="ctr"/>
          <a:lstStyle/>
          <a:p>
            <a:pPr indent="0" marL="0">
              <a:buNone/>
            </a:pPr>
            <a:r>
              <a:rPr lang="en-US" sz="4000" b="1" dirty="0">
                <a:solidFill>
                  <a:schemeClr val="bg1"/>
                </a:solidFill>
              </a:rPr>
              <a:t>~12 s</a:t>
            </a:r>
            <a:endParaRPr lang="en-US" sz="4000" dirty="0"/>
          </a:p>
        </p:txBody>
      </p:sp>
      <p:sp>
        <p:nvSpPr>
          <p:cNvPr id="11" name="Text 9"/>
          <p:cNvSpPr txBox="1"/>
          <p:nvPr/>
        </p:nvSpPr>
        <p:spPr>
          <a:xfrm>
            <a:off x="2514600" y="4663440"/>
            <a:ext cx="1325880" cy="1371600"/>
          </a:xfrm>
          <a:prstGeom prst="rect">
            <a:avLst/>
          </a:prstGeom>
          <a:noFill/>
          <a:ln/>
        </p:spPr>
        <p:txBody>
          <a:bodyPr wrap="square" lIns="0" tIns="0" rIns="0" bIns="0" rtlCol="0" anchor="ctr"/>
          <a:lstStyle/>
          <a:p>
            <a:pPr indent="0" marL="0">
              <a:buNone/>
            </a:pPr>
            <a:r>
              <a:rPr lang="en-US" sz="1400" dirty="0">
                <a:solidFill>
                  <a:schemeClr val="accent3"/>
                </a:solidFill>
              </a:rPr>
              <a:t>headless run time</a:t>
            </a:r>
            <a:endParaRPr lang="en-US" sz="1400" dirty="0"/>
          </a:p>
        </p:txBody>
      </p:sp>
      <p:sp>
        <p:nvSpPr>
          <p:cNvPr id="12" name="Test Claim submission"/>
          <p:cNvSpPr/>
          <p:nvPr/>
        </p:nvSpPr>
        <p:spPr>
          <a:xfrm>
            <a:off x="4206240" y="1463040"/>
            <a:ext cx="7434072" cy="932688"/>
          </a:xfrm>
          <a:prstGeom prst="roundRect">
            <a:avLst>
              <a:gd name="adj" fmla="val 9804"/>
            </a:avLst>
          </a:prstGeom>
          <a:solidFill>
            <a:schemeClr val="bg1"/>
          </a:solidFill>
          <a:ln/>
          <a:effectLst>
            <a:outerShdw sx="100000" sy="100000" kx="0" ky="0" algn="bl" rotWithShape="0" blurRad="101600" dist="25400" dir="5400000">
              <a:srgbClr val="000000">
                <a:alpha val="14000"/>
              </a:srgbClr>
            </a:outerShdw>
          </a:effectLst>
        </p:spPr>
      </p:sp>
      <p:sp>
        <p:nvSpPr>
          <p:cNvPr id="13" name="Pass icon Claim submission bg"/>
          <p:cNvSpPr/>
          <p:nvPr/>
        </p:nvSpPr>
        <p:spPr>
          <a:xfrm>
            <a:off x="4434840" y="1645920"/>
            <a:ext cx="548640" cy="548640"/>
          </a:xfrm>
          <a:prstGeom prst="ellipse">
            <a:avLst/>
          </a:prstGeom>
          <a:solidFill>
            <a:schemeClr val="accent2"/>
          </a:solidFill>
          <a:ln/>
        </p:spPr>
      </p:sp>
      <p:pic>
        <p:nvPicPr>
          <p:cNvPr id="14" name="Pass icon Claim submission" descr="Pass icon Claim submission">    </p:cNvPr>
          <p:cNvPicPr>
            <a:picLocks noChangeAspect="1"/>
          </p:cNvPicPr>
          <p:nvPr/>
        </p:nvPicPr>
        <p:blipFill>
          <a:blip r:embed="rId1"/>
          <a:stretch>
            <a:fillRect/>
          </a:stretch>
        </p:blipFill>
        <p:spPr>
          <a:xfrm>
            <a:off x="4577486" y="1788566"/>
            <a:ext cx="263347" cy="263347"/>
          </a:xfrm>
          <a:prstGeom prst="rect">
            <a:avLst/>
          </a:prstGeom>
        </p:spPr>
      </p:pic>
      <p:sp>
        <p:nvSpPr>
          <p:cNvPr id="15" name="Text 12"/>
          <p:cNvSpPr txBox="1"/>
          <p:nvPr/>
        </p:nvSpPr>
        <p:spPr>
          <a:xfrm>
            <a:off x="5166360" y="1591056"/>
            <a:ext cx="6217920" cy="292608"/>
          </a:xfrm>
          <a:prstGeom prst="rect">
            <a:avLst/>
          </a:prstGeom>
          <a:noFill/>
          <a:ln/>
        </p:spPr>
        <p:txBody>
          <a:bodyPr wrap="square" lIns="0" tIns="0" rIns="0" bIns="0" rtlCol="0" anchor="t"/>
          <a:lstStyle/>
          <a:p>
            <a:pPr indent="0" marL="0">
              <a:buNone/>
            </a:pPr>
            <a:r>
              <a:rPr lang="en-US" sz="1700" b="1" dirty="0">
                <a:solidFill>
                  <a:schemeClr val="tx1"/>
                </a:solidFill>
              </a:rPr>
              <a:t>Claim submission</a:t>
            </a:r>
            <a:endParaRPr lang="en-US" sz="1700" dirty="0"/>
          </a:p>
        </p:txBody>
      </p:sp>
      <p:sp>
        <p:nvSpPr>
          <p:cNvPr id="16" name="Text 13"/>
          <p:cNvSpPr txBox="1"/>
          <p:nvPr/>
        </p:nvSpPr>
        <p:spPr>
          <a:xfrm>
            <a:off x="5166360" y="1938528"/>
            <a:ext cx="6217920" cy="365760"/>
          </a:xfrm>
          <a:prstGeom prst="rect">
            <a:avLst/>
          </a:prstGeom>
          <a:noFill/>
          <a:ln/>
        </p:spPr>
        <p:txBody>
          <a:bodyPr wrap="square" lIns="0" tIns="0" rIns="0" bIns="0" rtlCol="0" anchor="t"/>
          <a:lstStyle/>
          <a:p>
            <a:pPr indent="0" marL="0">
              <a:buNone/>
            </a:pPr>
            <a:r>
              <a:rPr lang="en-US" sz="1400" dirty="0">
                <a:solidFill>
                  <a:schemeClr val="accent6"/>
                </a:solidFill>
              </a:rPr>
              <a:t>Fills the form, uploads documents and checks the new Claim ID</a:t>
            </a:r>
            <a:endParaRPr lang="en-US" sz="1400" dirty="0"/>
          </a:p>
        </p:txBody>
      </p:sp>
      <p:sp>
        <p:nvSpPr>
          <p:cNvPr id="17" name="Test Reviewer approval"/>
          <p:cNvSpPr/>
          <p:nvPr/>
        </p:nvSpPr>
        <p:spPr>
          <a:xfrm>
            <a:off x="4206240" y="2560320"/>
            <a:ext cx="7434072" cy="932688"/>
          </a:xfrm>
          <a:prstGeom prst="roundRect">
            <a:avLst>
              <a:gd name="adj" fmla="val 9804"/>
            </a:avLst>
          </a:prstGeom>
          <a:solidFill>
            <a:schemeClr val="bg1"/>
          </a:solidFill>
          <a:ln/>
          <a:effectLst>
            <a:outerShdw sx="100000" sy="100000" kx="0" ky="0" algn="bl" rotWithShape="0" blurRad="101600" dist="25400" dir="5400000">
              <a:srgbClr val="000000">
                <a:alpha val="14000"/>
              </a:srgbClr>
            </a:outerShdw>
          </a:effectLst>
        </p:spPr>
      </p:sp>
      <p:sp>
        <p:nvSpPr>
          <p:cNvPr id="18" name="Pass icon Reviewer approval bg"/>
          <p:cNvSpPr/>
          <p:nvPr/>
        </p:nvSpPr>
        <p:spPr>
          <a:xfrm>
            <a:off x="4434840" y="2743200"/>
            <a:ext cx="548640" cy="548640"/>
          </a:xfrm>
          <a:prstGeom prst="ellipse">
            <a:avLst/>
          </a:prstGeom>
          <a:solidFill>
            <a:schemeClr val="accent2"/>
          </a:solidFill>
          <a:ln/>
        </p:spPr>
      </p:sp>
      <p:pic>
        <p:nvPicPr>
          <p:cNvPr id="19" name="Pass icon Reviewer approval" descr="Pass icon Reviewer approval">    </p:cNvPr>
          <p:cNvPicPr>
            <a:picLocks noChangeAspect="1"/>
          </p:cNvPicPr>
          <p:nvPr/>
        </p:nvPicPr>
        <p:blipFill>
          <a:blip r:embed="rId2"/>
          <a:stretch>
            <a:fillRect/>
          </a:stretch>
        </p:blipFill>
        <p:spPr>
          <a:xfrm>
            <a:off x="4577486" y="2885846"/>
            <a:ext cx="263347" cy="263347"/>
          </a:xfrm>
          <a:prstGeom prst="rect">
            <a:avLst/>
          </a:prstGeom>
        </p:spPr>
      </p:pic>
      <p:sp>
        <p:nvSpPr>
          <p:cNvPr id="20" name="Text 16"/>
          <p:cNvSpPr txBox="1"/>
          <p:nvPr/>
        </p:nvSpPr>
        <p:spPr>
          <a:xfrm>
            <a:off x="5166360" y="2688336"/>
            <a:ext cx="6217920" cy="292608"/>
          </a:xfrm>
          <a:prstGeom prst="rect">
            <a:avLst/>
          </a:prstGeom>
          <a:noFill/>
          <a:ln/>
        </p:spPr>
        <p:txBody>
          <a:bodyPr wrap="square" lIns="0" tIns="0" rIns="0" bIns="0" rtlCol="0" anchor="t"/>
          <a:lstStyle/>
          <a:p>
            <a:pPr indent="0" marL="0">
              <a:buNone/>
            </a:pPr>
            <a:r>
              <a:rPr lang="en-US" sz="1700" b="1" dirty="0">
                <a:solidFill>
                  <a:schemeClr val="tx1"/>
                </a:solidFill>
              </a:rPr>
              <a:t>Reviewer approval</a:t>
            </a:r>
            <a:endParaRPr lang="en-US" sz="1700" dirty="0"/>
          </a:p>
        </p:txBody>
      </p:sp>
      <p:sp>
        <p:nvSpPr>
          <p:cNvPr id="21" name="Text 17"/>
          <p:cNvSpPr txBox="1"/>
          <p:nvPr/>
        </p:nvSpPr>
        <p:spPr>
          <a:xfrm>
            <a:off x="5166360" y="3035808"/>
            <a:ext cx="6217920" cy="365760"/>
          </a:xfrm>
          <a:prstGeom prst="rect">
            <a:avLst/>
          </a:prstGeom>
          <a:noFill/>
          <a:ln/>
        </p:spPr>
        <p:txBody>
          <a:bodyPr wrap="square" lIns="0" tIns="0" rIns="0" bIns="0" rtlCol="0" anchor="t"/>
          <a:lstStyle/>
          <a:p>
            <a:pPr indent="0" marL="0">
              <a:buNone/>
            </a:pPr>
            <a:r>
              <a:rPr lang="en-US" sz="1400" dirty="0">
                <a:solidFill>
                  <a:schemeClr val="accent6"/>
                </a:solidFill>
              </a:rPr>
              <a:t>Status moves from PENDING to APPROVED</a:t>
            </a:r>
            <a:endParaRPr lang="en-US" sz="1400" dirty="0"/>
          </a:p>
        </p:txBody>
      </p:sp>
      <p:sp>
        <p:nvSpPr>
          <p:cNvPr id="22" name="Test Reviewer rejection"/>
          <p:cNvSpPr/>
          <p:nvPr/>
        </p:nvSpPr>
        <p:spPr>
          <a:xfrm>
            <a:off x="4206240" y="3657600"/>
            <a:ext cx="7434072" cy="932688"/>
          </a:xfrm>
          <a:prstGeom prst="roundRect">
            <a:avLst>
              <a:gd name="adj" fmla="val 9804"/>
            </a:avLst>
          </a:prstGeom>
          <a:solidFill>
            <a:schemeClr val="bg1"/>
          </a:solidFill>
          <a:ln/>
          <a:effectLst>
            <a:outerShdw sx="100000" sy="100000" kx="0" ky="0" algn="bl" rotWithShape="0" blurRad="101600" dist="25400" dir="5400000">
              <a:srgbClr val="000000">
                <a:alpha val="14000"/>
              </a:srgbClr>
            </a:outerShdw>
          </a:effectLst>
        </p:spPr>
      </p:sp>
      <p:sp>
        <p:nvSpPr>
          <p:cNvPr id="23" name="Pass icon Reviewer rejection bg"/>
          <p:cNvSpPr/>
          <p:nvPr/>
        </p:nvSpPr>
        <p:spPr>
          <a:xfrm>
            <a:off x="4434840" y="3840480"/>
            <a:ext cx="548640" cy="548640"/>
          </a:xfrm>
          <a:prstGeom prst="ellipse">
            <a:avLst/>
          </a:prstGeom>
          <a:solidFill>
            <a:schemeClr val="accent2"/>
          </a:solidFill>
          <a:ln/>
        </p:spPr>
      </p:sp>
      <p:pic>
        <p:nvPicPr>
          <p:cNvPr id="24" name="Pass icon Reviewer rejection" descr="Pass icon Reviewer rejection">    </p:cNvPr>
          <p:cNvPicPr>
            <a:picLocks noChangeAspect="1"/>
          </p:cNvPicPr>
          <p:nvPr/>
        </p:nvPicPr>
        <p:blipFill>
          <a:blip r:embed="rId3"/>
          <a:stretch>
            <a:fillRect/>
          </a:stretch>
        </p:blipFill>
        <p:spPr>
          <a:xfrm>
            <a:off x="4577486" y="3983126"/>
            <a:ext cx="263347" cy="263347"/>
          </a:xfrm>
          <a:prstGeom prst="rect">
            <a:avLst/>
          </a:prstGeom>
        </p:spPr>
      </p:pic>
      <p:sp>
        <p:nvSpPr>
          <p:cNvPr id="25" name="Text 20"/>
          <p:cNvSpPr txBox="1"/>
          <p:nvPr/>
        </p:nvSpPr>
        <p:spPr>
          <a:xfrm>
            <a:off x="5166360" y="3785616"/>
            <a:ext cx="6217920" cy="292608"/>
          </a:xfrm>
          <a:prstGeom prst="rect">
            <a:avLst/>
          </a:prstGeom>
          <a:noFill/>
          <a:ln/>
        </p:spPr>
        <p:txBody>
          <a:bodyPr wrap="square" lIns="0" tIns="0" rIns="0" bIns="0" rtlCol="0" anchor="t"/>
          <a:lstStyle/>
          <a:p>
            <a:pPr indent="0" marL="0">
              <a:buNone/>
            </a:pPr>
            <a:r>
              <a:rPr lang="en-US" sz="1700" b="1" dirty="0">
                <a:solidFill>
                  <a:schemeClr val="tx1"/>
                </a:solidFill>
              </a:rPr>
              <a:t>Reviewer rejection</a:t>
            </a:r>
            <a:endParaRPr lang="en-US" sz="1700" dirty="0"/>
          </a:p>
        </p:txBody>
      </p:sp>
      <p:sp>
        <p:nvSpPr>
          <p:cNvPr id="26" name="Text 21"/>
          <p:cNvSpPr txBox="1"/>
          <p:nvPr/>
        </p:nvSpPr>
        <p:spPr>
          <a:xfrm>
            <a:off x="5166360" y="4133088"/>
            <a:ext cx="6217920" cy="365760"/>
          </a:xfrm>
          <a:prstGeom prst="rect">
            <a:avLst/>
          </a:prstGeom>
          <a:noFill/>
          <a:ln/>
        </p:spPr>
        <p:txBody>
          <a:bodyPr wrap="square" lIns="0" tIns="0" rIns="0" bIns="0" rtlCol="0" anchor="t"/>
          <a:lstStyle/>
          <a:p>
            <a:pPr indent="0" marL="0">
              <a:buNone/>
            </a:pPr>
            <a:r>
              <a:rPr lang="en-US" sz="1400" dirty="0">
                <a:solidFill>
                  <a:schemeClr val="accent6"/>
                </a:solidFill>
              </a:rPr>
              <a:t>A reason is required before REJECTED is saved</a:t>
            </a:r>
            <a:endParaRPr lang="en-US" sz="1400" dirty="0"/>
          </a:p>
        </p:txBody>
      </p:sp>
      <p:sp>
        <p:nvSpPr>
          <p:cNvPr id="27" name="Test Form validation"/>
          <p:cNvSpPr/>
          <p:nvPr/>
        </p:nvSpPr>
        <p:spPr>
          <a:xfrm>
            <a:off x="4206240" y="4754880"/>
            <a:ext cx="7434072" cy="932688"/>
          </a:xfrm>
          <a:prstGeom prst="roundRect">
            <a:avLst>
              <a:gd name="adj" fmla="val 9804"/>
            </a:avLst>
          </a:prstGeom>
          <a:solidFill>
            <a:schemeClr val="bg1"/>
          </a:solidFill>
          <a:ln/>
          <a:effectLst>
            <a:outerShdw sx="100000" sy="100000" kx="0" ky="0" algn="bl" rotWithShape="0" blurRad="101600" dist="25400" dir="5400000">
              <a:srgbClr val="000000">
                <a:alpha val="14000"/>
              </a:srgbClr>
            </a:outerShdw>
          </a:effectLst>
        </p:spPr>
      </p:sp>
      <p:sp>
        <p:nvSpPr>
          <p:cNvPr id="28" name="Pass icon Form validation bg"/>
          <p:cNvSpPr/>
          <p:nvPr/>
        </p:nvSpPr>
        <p:spPr>
          <a:xfrm>
            <a:off x="4434840" y="4937760"/>
            <a:ext cx="548640" cy="548640"/>
          </a:xfrm>
          <a:prstGeom prst="ellipse">
            <a:avLst/>
          </a:prstGeom>
          <a:solidFill>
            <a:schemeClr val="accent2"/>
          </a:solidFill>
          <a:ln/>
        </p:spPr>
      </p:sp>
      <p:pic>
        <p:nvPicPr>
          <p:cNvPr id="29" name="Pass icon Form validation" descr="Pass icon Form validation">    </p:cNvPr>
          <p:cNvPicPr>
            <a:picLocks noChangeAspect="1"/>
          </p:cNvPicPr>
          <p:nvPr/>
        </p:nvPicPr>
        <p:blipFill>
          <a:blip r:embed="rId4"/>
          <a:stretch>
            <a:fillRect/>
          </a:stretch>
        </p:blipFill>
        <p:spPr>
          <a:xfrm>
            <a:off x="4577486" y="5080406"/>
            <a:ext cx="263347" cy="263347"/>
          </a:xfrm>
          <a:prstGeom prst="rect">
            <a:avLst/>
          </a:prstGeom>
        </p:spPr>
      </p:pic>
      <p:sp>
        <p:nvSpPr>
          <p:cNvPr id="30" name="Text 24"/>
          <p:cNvSpPr txBox="1"/>
          <p:nvPr/>
        </p:nvSpPr>
        <p:spPr>
          <a:xfrm>
            <a:off x="5166360" y="4882896"/>
            <a:ext cx="6217920" cy="292608"/>
          </a:xfrm>
          <a:prstGeom prst="rect">
            <a:avLst/>
          </a:prstGeom>
          <a:noFill/>
          <a:ln/>
        </p:spPr>
        <p:txBody>
          <a:bodyPr wrap="square" lIns="0" tIns="0" rIns="0" bIns="0" rtlCol="0" anchor="t"/>
          <a:lstStyle/>
          <a:p>
            <a:pPr indent="0" marL="0">
              <a:buNone/>
            </a:pPr>
            <a:r>
              <a:rPr lang="en-US" sz="1700" b="1" dirty="0">
                <a:solidFill>
                  <a:schemeClr val="tx1"/>
                </a:solidFill>
              </a:rPr>
              <a:t>Form validation</a:t>
            </a:r>
            <a:endParaRPr lang="en-US" sz="1700" dirty="0"/>
          </a:p>
        </p:txBody>
      </p:sp>
      <p:sp>
        <p:nvSpPr>
          <p:cNvPr id="31" name="Text 25"/>
          <p:cNvSpPr txBox="1"/>
          <p:nvPr/>
        </p:nvSpPr>
        <p:spPr>
          <a:xfrm>
            <a:off x="5166360" y="5230368"/>
            <a:ext cx="6217920" cy="365760"/>
          </a:xfrm>
          <a:prstGeom prst="rect">
            <a:avLst/>
          </a:prstGeom>
          <a:noFill/>
          <a:ln/>
        </p:spPr>
        <p:txBody>
          <a:bodyPr wrap="square" lIns="0" tIns="0" rIns="0" bIns="0" rtlCol="0" anchor="t"/>
          <a:lstStyle/>
          <a:p>
            <a:pPr indent="0" marL="0">
              <a:buNone/>
            </a:pPr>
            <a:r>
              <a:rPr lang="en-US" sz="1400" dirty="0">
                <a:solidFill>
                  <a:schemeClr val="accent6"/>
                </a:solidFill>
              </a:rPr>
              <a:t>Missing inputs trigger validation and an HTTP 400</a:t>
            </a:r>
            <a:endParaRPr lang="en-US" sz="1400" dirty="0"/>
          </a:p>
        </p:txBody>
      </p:sp>
      <p:sp>
        <p:nvSpPr>
          <p:cNvPr id="32" name="Text 26"/>
          <p:cNvSpPr txBox="1"/>
          <p:nvPr/>
        </p:nvSpPr>
        <p:spPr>
          <a:xfrm>
            <a:off x="4206240" y="5897880"/>
            <a:ext cx="7434072" cy="365760"/>
          </a:xfrm>
          <a:prstGeom prst="rect">
            <a:avLst/>
          </a:prstGeom>
          <a:noFill/>
          <a:ln/>
        </p:spPr>
        <p:txBody>
          <a:bodyPr wrap="square" lIns="0" tIns="0" rIns="0" bIns="0" rtlCol="0" anchor="t"/>
          <a:lstStyle/>
          <a:p>
            <a:pPr indent="0" marL="0">
              <a:buNone/>
            </a:pPr>
            <a:r>
              <a:rPr lang="en-US" sz="1400" dirty="0">
                <a:solidFill>
                  <a:schemeClr val="accent6"/>
                </a:solidFill>
              </a:rPr>
              <a:t>Selenium WebDriver 4 with headless Chrome, run inside Jenkins before deployment.</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68680"/>
          </a:xfrm>
          <a:prstGeom prst="rect">
            <a:avLst/>
          </a:prstGeom>
          <a:noFill/>
          <a:ln/>
        </p:spPr>
        <p:txBody>
          <a:bodyPr wrap="square" lIns="0" tIns="0" rIns="0" bIns="0" rtlCol="0" anchor="ctr"/>
          <a:lstStyle/>
          <a:p>
            <a:pPr indent="0" marL="0">
              <a:buNone/>
            </a:pPr>
            <a:r>
              <a:rPr lang="en-US" sz="3400" b="1" dirty="0">
                <a:solidFill>
                  <a:schemeClr val="tx1"/>
                </a:solidFill>
              </a:rPr>
              <a:t>Docker: multi-stage and hardened</a:t>
            </a:r>
            <a:endParaRPr lang="en-US" sz="3400" dirty="0"/>
          </a:p>
        </p:txBody>
      </p:sp>
      <p:sp>
        <p:nvSpPr>
          <p:cNvPr id="3" name="Builder stage"/>
          <p:cNvSpPr/>
          <p:nvPr/>
        </p:nvSpPr>
        <p:spPr>
          <a:xfrm>
            <a:off x="548640" y="1463040"/>
            <a:ext cx="4937760" cy="1920240"/>
          </a:xfrm>
          <a:prstGeom prst="roundRect">
            <a:avLst>
              <a:gd name="adj" fmla="val 4762"/>
            </a:avLst>
          </a:prstGeom>
          <a:solidFill>
            <a:schemeClr val="tx2"/>
          </a:solidFill>
          <a:ln/>
          <a:effectLst>
            <a:outerShdw sx="100000" sy="100000" kx="0" ky="0" algn="bl" rotWithShape="0" blurRad="101600" dist="25400" dir="5400000">
              <a:srgbClr val="000000">
                <a:alpha val="14000"/>
              </a:srgbClr>
            </a:outerShdw>
          </a:effectLst>
        </p:spPr>
      </p:sp>
      <p:sp>
        <p:nvSpPr>
          <p:cNvPr id="4" name="Text 2"/>
          <p:cNvSpPr txBox="1"/>
          <p:nvPr/>
        </p:nvSpPr>
        <p:spPr>
          <a:xfrm>
            <a:off x="822960" y="1645920"/>
            <a:ext cx="4389120" cy="365760"/>
          </a:xfrm>
          <a:prstGeom prst="rect">
            <a:avLst/>
          </a:prstGeom>
          <a:noFill/>
          <a:ln/>
        </p:spPr>
        <p:txBody>
          <a:bodyPr wrap="square" lIns="0" tIns="0" rIns="0" bIns="0" rtlCol="0" anchor="t"/>
          <a:lstStyle/>
          <a:p>
            <a:pPr indent="0" marL="0">
              <a:buNone/>
            </a:pPr>
            <a:r>
              <a:rPr lang="en-US" sz="2000" b="1" dirty="0">
                <a:solidFill>
                  <a:schemeClr val="bg1"/>
                </a:solidFill>
              </a:rPr>
              <a:t>Stage 1: Builder</a:t>
            </a:r>
            <a:endParaRPr lang="en-US" sz="2000" dirty="0"/>
          </a:p>
        </p:txBody>
      </p:sp>
      <p:sp>
        <p:nvSpPr>
          <p:cNvPr id="5" name="Text 3"/>
          <p:cNvSpPr txBox="1"/>
          <p:nvPr/>
        </p:nvSpPr>
        <p:spPr>
          <a:xfrm>
            <a:off x="822960" y="2148840"/>
            <a:ext cx="4389120" cy="365760"/>
          </a:xfrm>
          <a:prstGeom prst="rect">
            <a:avLst/>
          </a:prstGeom>
          <a:noFill/>
          <a:ln/>
        </p:spPr>
        <p:txBody>
          <a:bodyPr wrap="square" lIns="0" tIns="0" rIns="0" bIns="0" rtlCol="0" anchor="t"/>
          <a:lstStyle/>
          <a:p>
            <a:pPr indent="0" marL="0">
              <a:buNone/>
            </a:pPr>
            <a:r>
              <a:rPr lang="en-US" sz="1400" dirty="0">
                <a:solidFill>
                  <a:schemeClr val="accent3"/>
                </a:solidFill>
                <a:latin typeface="Courier New" pitchFamily="34" charset="0"/>
                <a:ea typeface="Courier New" pitchFamily="34" charset="-122"/>
                <a:cs typeface="Courier New" pitchFamily="34" charset="-120"/>
              </a:rPr>
              <a:t>maven:3.9.6-eclipse-temurin-21</a:t>
            </a:r>
            <a:endParaRPr lang="en-US" sz="1400" dirty="0"/>
          </a:p>
        </p:txBody>
      </p:sp>
      <p:sp>
        <p:nvSpPr>
          <p:cNvPr id="6" name="Text 4"/>
          <p:cNvSpPr txBox="1"/>
          <p:nvPr/>
        </p:nvSpPr>
        <p:spPr>
          <a:xfrm>
            <a:off x="822960" y="2606040"/>
            <a:ext cx="4389120" cy="640080"/>
          </a:xfrm>
          <a:prstGeom prst="rect">
            <a:avLst/>
          </a:prstGeom>
          <a:noFill/>
          <a:ln/>
        </p:spPr>
        <p:txBody>
          <a:bodyPr wrap="square" lIns="0" tIns="0" rIns="0" bIns="0" rtlCol="0" anchor="t"/>
          <a:lstStyle/>
          <a:p>
            <a:pPr indent="0" marL="0">
              <a:buNone/>
            </a:pPr>
            <a:r>
              <a:rPr lang="en-US" sz="1500" dirty="0">
                <a:solidFill>
                  <a:schemeClr val="bg2"/>
                </a:solidFill>
              </a:rPr>
              <a:t>Compiles the source and packages the JAR. Heavy tools stay here.</a:t>
            </a:r>
            <a:endParaRPr lang="en-US" sz="1500" dirty="0"/>
          </a:p>
        </p:txBody>
      </p:sp>
      <p:sp>
        <p:nvSpPr>
          <p:cNvPr id="7" name="Copy JAR arrow"/>
          <p:cNvSpPr/>
          <p:nvPr/>
        </p:nvSpPr>
        <p:spPr>
          <a:xfrm>
            <a:off x="5669280" y="2103120"/>
            <a:ext cx="868680" cy="548640"/>
          </a:xfrm>
          <a:prstGeom prst="rightArrow">
            <a:avLst/>
          </a:prstGeom>
          <a:solidFill>
            <a:schemeClr val="accent2"/>
          </a:solidFill>
          <a:ln/>
        </p:spPr>
      </p:sp>
      <p:sp>
        <p:nvSpPr>
          <p:cNvPr id="8" name="Text 6"/>
          <p:cNvSpPr txBox="1"/>
          <p:nvPr/>
        </p:nvSpPr>
        <p:spPr>
          <a:xfrm>
            <a:off x="5532120" y="2697480"/>
            <a:ext cx="1143000" cy="320040"/>
          </a:xfrm>
          <a:prstGeom prst="rect">
            <a:avLst/>
          </a:prstGeom>
          <a:noFill/>
          <a:ln/>
        </p:spPr>
        <p:txBody>
          <a:bodyPr wrap="square" lIns="0" tIns="0" rIns="0" bIns="0" rtlCol="0" anchor="t"/>
          <a:lstStyle/>
          <a:p>
            <a:pPr algn="ctr" indent="0" marL="0">
              <a:buNone/>
            </a:pPr>
            <a:r>
              <a:rPr lang="en-US" sz="1400" b="1" dirty="0">
                <a:solidFill>
                  <a:schemeClr val="accent2"/>
                </a:solidFill>
              </a:rPr>
              <a:t>copy JAR</a:t>
            </a:r>
            <a:endParaRPr lang="en-US" sz="1400" dirty="0"/>
          </a:p>
        </p:txBody>
      </p:sp>
      <p:sp>
        <p:nvSpPr>
          <p:cNvPr id="9" name="Runtime stage"/>
          <p:cNvSpPr/>
          <p:nvPr/>
        </p:nvSpPr>
        <p:spPr>
          <a:xfrm>
            <a:off x="6766560" y="1463040"/>
            <a:ext cx="4873752" cy="1920240"/>
          </a:xfrm>
          <a:prstGeom prst="roundRect">
            <a:avLst>
              <a:gd name="adj" fmla="val 4762"/>
            </a:avLst>
          </a:prstGeom>
          <a:solidFill>
            <a:schemeClr val="accent1"/>
          </a:solidFill>
          <a:ln/>
          <a:effectLst>
            <a:outerShdw sx="100000" sy="100000" kx="0" ky="0" algn="bl" rotWithShape="0" blurRad="101600" dist="25400" dir="5400000">
              <a:srgbClr val="000000">
                <a:alpha val="14000"/>
              </a:srgbClr>
            </a:outerShdw>
          </a:effectLst>
        </p:spPr>
      </p:sp>
      <p:sp>
        <p:nvSpPr>
          <p:cNvPr id="10" name="Text 8"/>
          <p:cNvSpPr txBox="1"/>
          <p:nvPr/>
        </p:nvSpPr>
        <p:spPr>
          <a:xfrm>
            <a:off x="7040880" y="1645920"/>
            <a:ext cx="4389120" cy="365760"/>
          </a:xfrm>
          <a:prstGeom prst="rect">
            <a:avLst/>
          </a:prstGeom>
          <a:noFill/>
          <a:ln/>
        </p:spPr>
        <p:txBody>
          <a:bodyPr wrap="square" lIns="0" tIns="0" rIns="0" bIns="0" rtlCol="0" anchor="t"/>
          <a:lstStyle/>
          <a:p>
            <a:pPr indent="0" marL="0">
              <a:buNone/>
            </a:pPr>
            <a:r>
              <a:rPr lang="en-US" sz="2000" b="1" dirty="0">
                <a:solidFill>
                  <a:schemeClr val="bg1"/>
                </a:solidFill>
              </a:rPr>
              <a:t>Stage 2: Runtime</a:t>
            </a:r>
            <a:endParaRPr lang="en-US" sz="2000" dirty="0"/>
          </a:p>
        </p:txBody>
      </p:sp>
      <p:sp>
        <p:nvSpPr>
          <p:cNvPr id="11" name="Text 9"/>
          <p:cNvSpPr txBox="1"/>
          <p:nvPr/>
        </p:nvSpPr>
        <p:spPr>
          <a:xfrm>
            <a:off x="7040880" y="2148840"/>
            <a:ext cx="4389120" cy="36576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eclipse-temurin:21-jre-alpine</a:t>
            </a:r>
            <a:endParaRPr lang="en-US" sz="1400" dirty="0"/>
          </a:p>
        </p:txBody>
      </p:sp>
      <p:sp>
        <p:nvSpPr>
          <p:cNvPr id="12" name="Text 10"/>
          <p:cNvSpPr txBox="1"/>
          <p:nvPr/>
        </p:nvSpPr>
        <p:spPr>
          <a:xfrm>
            <a:off x="7040880" y="2606040"/>
            <a:ext cx="4389120" cy="640080"/>
          </a:xfrm>
          <a:prstGeom prst="rect">
            <a:avLst/>
          </a:prstGeom>
          <a:noFill/>
          <a:ln/>
        </p:spPr>
        <p:txBody>
          <a:bodyPr wrap="square" lIns="0" tIns="0" rIns="0" bIns="0" rtlCol="0" anchor="t"/>
          <a:lstStyle/>
          <a:p>
            <a:pPr indent="0" marL="0">
              <a:buNone/>
            </a:pPr>
            <a:r>
              <a:rPr lang="en-US" sz="1500" dirty="0">
                <a:solidFill>
                  <a:schemeClr val="bg1"/>
                </a:solidFill>
              </a:rPr>
              <a:t>Holds only the JAR on a minimal JRE. This is what ships.</a:t>
            </a:r>
            <a:endParaRPr lang="en-US" sz="1500" dirty="0"/>
          </a:p>
        </p:txBody>
      </p:sp>
      <p:sp>
        <p:nvSpPr>
          <p:cNvPr id="13" name="Benefit 60%+ smaller"/>
          <p:cNvSpPr/>
          <p:nvPr/>
        </p:nvSpPr>
        <p:spPr>
          <a:xfrm>
            <a:off x="548640" y="3703320"/>
            <a:ext cx="3566160" cy="2331720"/>
          </a:xfrm>
          <a:prstGeom prst="roundRect">
            <a:avLst>
              <a:gd name="adj" fmla="val 3922"/>
            </a:avLst>
          </a:prstGeom>
          <a:solidFill>
            <a:schemeClr val="bg1"/>
          </a:solidFill>
          <a:ln/>
          <a:effectLst>
            <a:outerShdw sx="100000" sy="100000" kx="0" ky="0" algn="bl" rotWithShape="0" blurRad="101600" dist="25400" dir="5400000">
              <a:srgbClr val="000000">
                <a:alpha val="14000"/>
              </a:srgbClr>
            </a:outerShdw>
          </a:effectLst>
        </p:spPr>
      </p:sp>
      <p:sp>
        <p:nvSpPr>
          <p:cNvPr id="14" name="Icon 60%+ smaller bg"/>
          <p:cNvSpPr/>
          <p:nvPr/>
        </p:nvSpPr>
        <p:spPr>
          <a:xfrm>
            <a:off x="822960" y="3931920"/>
            <a:ext cx="594360" cy="594360"/>
          </a:xfrm>
          <a:prstGeom prst="ellipse">
            <a:avLst/>
          </a:prstGeom>
          <a:solidFill>
            <a:schemeClr val="accent1"/>
          </a:solidFill>
          <a:ln/>
        </p:spPr>
      </p:sp>
      <p:pic>
        <p:nvPicPr>
          <p:cNvPr id="15" name="Icon 60%+ smaller" descr="Icon 60%+ smaller">    </p:cNvPr>
          <p:cNvPicPr>
            <a:picLocks noChangeAspect="1"/>
          </p:cNvPicPr>
          <p:nvPr/>
        </p:nvPicPr>
        <p:blipFill>
          <a:blip r:embed="rId1"/>
          <a:stretch>
            <a:fillRect/>
          </a:stretch>
        </p:blipFill>
        <p:spPr>
          <a:xfrm>
            <a:off x="977494" y="4086454"/>
            <a:ext cx="285293" cy="285293"/>
          </a:xfrm>
          <a:prstGeom prst="rect">
            <a:avLst/>
          </a:prstGeom>
        </p:spPr>
      </p:pic>
      <p:sp>
        <p:nvSpPr>
          <p:cNvPr id="16" name="Text 13"/>
          <p:cNvSpPr txBox="1"/>
          <p:nvPr/>
        </p:nvSpPr>
        <p:spPr>
          <a:xfrm>
            <a:off x="822960" y="4663440"/>
            <a:ext cx="3108960" cy="365760"/>
          </a:xfrm>
          <a:prstGeom prst="rect">
            <a:avLst/>
          </a:prstGeom>
          <a:noFill/>
          <a:ln/>
        </p:spPr>
        <p:txBody>
          <a:bodyPr wrap="square" lIns="0" tIns="0" rIns="0" bIns="0" rtlCol="0" anchor="t"/>
          <a:lstStyle/>
          <a:p>
            <a:pPr indent="0" marL="0">
              <a:buNone/>
            </a:pPr>
            <a:r>
              <a:rPr lang="en-US" sz="1800" b="1" dirty="0">
                <a:solidFill>
                  <a:schemeClr val="tx1"/>
                </a:solidFill>
              </a:rPr>
              <a:t>60%+ smaller</a:t>
            </a:r>
            <a:endParaRPr lang="en-US" sz="1800" dirty="0"/>
          </a:p>
        </p:txBody>
      </p:sp>
      <p:sp>
        <p:nvSpPr>
          <p:cNvPr id="17" name="Text 14"/>
          <p:cNvSpPr txBox="1"/>
          <p:nvPr/>
        </p:nvSpPr>
        <p:spPr>
          <a:xfrm>
            <a:off x="822960" y="5074920"/>
            <a:ext cx="3108960" cy="822960"/>
          </a:xfrm>
          <a:prstGeom prst="rect">
            <a:avLst/>
          </a:prstGeom>
          <a:noFill/>
          <a:ln/>
        </p:spPr>
        <p:txBody>
          <a:bodyPr wrap="square" lIns="0" tIns="0" rIns="0" bIns="0" rtlCol="0" anchor="t"/>
          <a:lstStyle/>
          <a:p>
            <a:pPr indent="0" marL="0">
              <a:buNone/>
            </a:pPr>
            <a:r>
              <a:rPr lang="en-US" sz="1400" dirty="0">
                <a:solidFill>
                  <a:schemeClr val="accent6"/>
                </a:solidFill>
              </a:rPr>
              <a:t>No compiler, source code or Maven cache in the final image.</a:t>
            </a:r>
            <a:endParaRPr lang="en-US" sz="1400" dirty="0"/>
          </a:p>
        </p:txBody>
      </p:sp>
      <p:sp>
        <p:nvSpPr>
          <p:cNvPr id="18" name="Benefit Non-root user"/>
          <p:cNvSpPr/>
          <p:nvPr/>
        </p:nvSpPr>
        <p:spPr>
          <a:xfrm>
            <a:off x="4311396" y="3703320"/>
            <a:ext cx="3566160" cy="2331720"/>
          </a:xfrm>
          <a:prstGeom prst="roundRect">
            <a:avLst>
              <a:gd name="adj" fmla="val 3922"/>
            </a:avLst>
          </a:prstGeom>
          <a:solidFill>
            <a:schemeClr val="bg1"/>
          </a:solidFill>
          <a:ln/>
          <a:effectLst>
            <a:outerShdw sx="100000" sy="100000" kx="0" ky="0" algn="bl" rotWithShape="0" blurRad="101600" dist="25400" dir="5400000">
              <a:srgbClr val="000000">
                <a:alpha val="14000"/>
              </a:srgbClr>
            </a:outerShdw>
          </a:effectLst>
        </p:spPr>
      </p:sp>
      <p:sp>
        <p:nvSpPr>
          <p:cNvPr id="19" name="Icon Non-root user bg"/>
          <p:cNvSpPr/>
          <p:nvPr/>
        </p:nvSpPr>
        <p:spPr>
          <a:xfrm>
            <a:off x="4585716" y="3931920"/>
            <a:ext cx="594360" cy="594360"/>
          </a:xfrm>
          <a:prstGeom prst="ellipse">
            <a:avLst/>
          </a:prstGeom>
          <a:solidFill>
            <a:schemeClr val="accent2"/>
          </a:solidFill>
          <a:ln/>
        </p:spPr>
      </p:sp>
      <p:pic>
        <p:nvPicPr>
          <p:cNvPr id="20" name="Icon Non-root user" descr="Icon Non-root user">    </p:cNvPr>
          <p:cNvPicPr>
            <a:picLocks noChangeAspect="1"/>
          </p:cNvPicPr>
          <p:nvPr/>
        </p:nvPicPr>
        <p:blipFill>
          <a:blip r:embed="rId2"/>
          <a:stretch>
            <a:fillRect/>
          </a:stretch>
        </p:blipFill>
        <p:spPr>
          <a:xfrm>
            <a:off x="4740250" y="4086454"/>
            <a:ext cx="285293" cy="285293"/>
          </a:xfrm>
          <a:prstGeom prst="rect">
            <a:avLst/>
          </a:prstGeom>
        </p:spPr>
      </p:pic>
      <p:sp>
        <p:nvSpPr>
          <p:cNvPr id="21" name="Text 17"/>
          <p:cNvSpPr txBox="1"/>
          <p:nvPr/>
        </p:nvSpPr>
        <p:spPr>
          <a:xfrm>
            <a:off x="4585716" y="4663440"/>
            <a:ext cx="3108960" cy="365760"/>
          </a:xfrm>
          <a:prstGeom prst="rect">
            <a:avLst/>
          </a:prstGeom>
          <a:noFill/>
          <a:ln/>
        </p:spPr>
        <p:txBody>
          <a:bodyPr wrap="square" lIns="0" tIns="0" rIns="0" bIns="0" rtlCol="0" anchor="t"/>
          <a:lstStyle/>
          <a:p>
            <a:pPr indent="0" marL="0">
              <a:buNone/>
            </a:pPr>
            <a:r>
              <a:rPr lang="en-US" sz="1800" b="1" dirty="0">
                <a:solidFill>
                  <a:schemeClr val="tx1"/>
                </a:solidFill>
              </a:rPr>
              <a:t>Non-root user</a:t>
            </a:r>
            <a:endParaRPr lang="en-US" sz="1800" dirty="0"/>
          </a:p>
        </p:txBody>
      </p:sp>
      <p:sp>
        <p:nvSpPr>
          <p:cNvPr id="22" name="Text 18"/>
          <p:cNvSpPr txBox="1"/>
          <p:nvPr/>
        </p:nvSpPr>
        <p:spPr>
          <a:xfrm>
            <a:off x="4585716" y="5074920"/>
            <a:ext cx="3108960" cy="822960"/>
          </a:xfrm>
          <a:prstGeom prst="rect">
            <a:avLst/>
          </a:prstGeom>
          <a:noFill/>
          <a:ln/>
        </p:spPr>
        <p:txBody>
          <a:bodyPr wrap="square" lIns="0" tIns="0" rIns="0" bIns="0" rtlCol="0" anchor="t"/>
          <a:lstStyle/>
          <a:p>
            <a:pPr indent="0" marL="0">
              <a:buNone/>
            </a:pPr>
            <a:r>
              <a:rPr lang="en-US" sz="1400" dirty="0">
                <a:solidFill>
                  <a:schemeClr val="accent6"/>
                </a:solidFill>
              </a:rPr>
              <a:t>Runs as devops (uid 1001), which follows least privilege.</a:t>
            </a:r>
            <a:endParaRPr lang="en-US" sz="1400" dirty="0"/>
          </a:p>
        </p:txBody>
      </p:sp>
      <p:sp>
        <p:nvSpPr>
          <p:cNvPr id="23" name="Benefit Health check"/>
          <p:cNvSpPr/>
          <p:nvPr/>
        </p:nvSpPr>
        <p:spPr>
          <a:xfrm>
            <a:off x="8074152" y="3703320"/>
            <a:ext cx="3566160" cy="2331720"/>
          </a:xfrm>
          <a:prstGeom prst="roundRect">
            <a:avLst>
              <a:gd name="adj" fmla="val 3922"/>
            </a:avLst>
          </a:prstGeom>
          <a:solidFill>
            <a:schemeClr val="bg1"/>
          </a:solidFill>
          <a:ln/>
          <a:effectLst>
            <a:outerShdw sx="100000" sy="100000" kx="0" ky="0" algn="bl" rotWithShape="0" blurRad="101600" dist="25400" dir="5400000">
              <a:srgbClr val="000000">
                <a:alpha val="14000"/>
              </a:srgbClr>
            </a:outerShdw>
          </a:effectLst>
        </p:spPr>
      </p:sp>
      <p:sp>
        <p:nvSpPr>
          <p:cNvPr id="24" name="Icon Health check bg"/>
          <p:cNvSpPr/>
          <p:nvPr/>
        </p:nvSpPr>
        <p:spPr>
          <a:xfrm>
            <a:off x="8348472" y="3931920"/>
            <a:ext cx="594360" cy="594360"/>
          </a:xfrm>
          <a:prstGeom prst="ellipse">
            <a:avLst/>
          </a:prstGeom>
          <a:solidFill>
            <a:schemeClr val="accent1"/>
          </a:solidFill>
          <a:ln/>
        </p:spPr>
      </p:sp>
      <p:pic>
        <p:nvPicPr>
          <p:cNvPr id="25" name="Icon Health check" descr="Icon Health check">    </p:cNvPr>
          <p:cNvPicPr>
            <a:picLocks noChangeAspect="1"/>
          </p:cNvPicPr>
          <p:nvPr/>
        </p:nvPicPr>
        <p:blipFill>
          <a:blip r:embed="rId3"/>
          <a:stretch>
            <a:fillRect/>
          </a:stretch>
        </p:blipFill>
        <p:spPr>
          <a:xfrm>
            <a:off x="8503006" y="4086454"/>
            <a:ext cx="285293" cy="285293"/>
          </a:xfrm>
          <a:prstGeom prst="rect">
            <a:avLst/>
          </a:prstGeom>
        </p:spPr>
      </p:pic>
      <p:sp>
        <p:nvSpPr>
          <p:cNvPr id="26" name="Text 21"/>
          <p:cNvSpPr txBox="1"/>
          <p:nvPr/>
        </p:nvSpPr>
        <p:spPr>
          <a:xfrm>
            <a:off x="8348472" y="4663440"/>
            <a:ext cx="3108960" cy="365760"/>
          </a:xfrm>
          <a:prstGeom prst="rect">
            <a:avLst/>
          </a:prstGeom>
          <a:noFill/>
          <a:ln/>
        </p:spPr>
        <p:txBody>
          <a:bodyPr wrap="square" lIns="0" tIns="0" rIns="0" bIns="0" rtlCol="0" anchor="t"/>
          <a:lstStyle/>
          <a:p>
            <a:pPr indent="0" marL="0">
              <a:buNone/>
            </a:pPr>
            <a:r>
              <a:rPr lang="en-US" sz="1800" b="1" dirty="0">
                <a:solidFill>
                  <a:schemeClr val="tx1"/>
                </a:solidFill>
              </a:rPr>
              <a:t>Health check</a:t>
            </a:r>
            <a:endParaRPr lang="en-US" sz="1800" dirty="0"/>
          </a:p>
        </p:txBody>
      </p:sp>
      <p:sp>
        <p:nvSpPr>
          <p:cNvPr id="27" name="Text 22"/>
          <p:cNvSpPr txBox="1"/>
          <p:nvPr/>
        </p:nvSpPr>
        <p:spPr>
          <a:xfrm>
            <a:off x="8348472" y="5074920"/>
            <a:ext cx="3108960" cy="822960"/>
          </a:xfrm>
          <a:prstGeom prst="rect">
            <a:avLst/>
          </a:prstGeom>
          <a:noFill/>
          <a:ln/>
        </p:spPr>
        <p:txBody>
          <a:bodyPr wrap="square" lIns="0" tIns="0" rIns="0" bIns="0" rtlCol="0" anchor="t"/>
          <a:lstStyle/>
          <a:p>
            <a:pPr indent="0" marL="0">
              <a:buNone/>
            </a:pPr>
            <a:r>
              <a:rPr lang="en-US" sz="1400" dirty="0">
                <a:solidFill>
                  <a:schemeClr val="accent6"/>
                </a:solidFill>
              </a:rPr>
              <a:t>HEALTHCHECK calls /actuator/health or /index.html.</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68680"/>
          </a:xfrm>
          <a:prstGeom prst="rect">
            <a:avLst/>
          </a:prstGeom>
          <a:noFill/>
          <a:ln/>
        </p:spPr>
        <p:txBody>
          <a:bodyPr wrap="square" lIns="0" tIns="0" rIns="0" bIns="0" rtlCol="0" anchor="ctr"/>
          <a:lstStyle/>
          <a:p>
            <a:pPr indent="0" marL="0">
              <a:buNone/>
            </a:pPr>
            <a:r>
              <a:rPr lang="en-US" sz="3400" b="1" dirty="0">
                <a:solidFill>
                  <a:schemeClr val="tx1"/>
                </a:solidFill>
              </a:rPr>
              <a:t>Continuous deployment and health checks</a:t>
            </a:r>
            <a:endParaRPr lang="en-US" sz="3400" dirty="0"/>
          </a:p>
        </p:txBody>
      </p:sp>
      <p:sp>
        <p:nvSpPr>
          <p:cNvPr id="3" name="Deploy step 1"/>
          <p:cNvSpPr/>
          <p:nvPr/>
        </p:nvSpPr>
        <p:spPr>
          <a:xfrm>
            <a:off x="548640" y="1463040"/>
            <a:ext cx="5577840" cy="960120"/>
          </a:xfrm>
          <a:prstGeom prst="roundRect">
            <a:avLst>
              <a:gd name="adj" fmla="val 9524"/>
            </a:avLst>
          </a:prstGeom>
          <a:solidFill>
            <a:schemeClr val="bg1"/>
          </a:solidFill>
          <a:ln/>
          <a:effectLst>
            <a:outerShdw sx="100000" sy="100000" kx="0" ky="0" algn="bl" rotWithShape="0" blurRad="101600" dist="25400" dir="5400000">
              <a:srgbClr val="000000">
                <a:alpha val="14000"/>
              </a:srgbClr>
            </a:outerShdw>
          </a:effectLst>
        </p:spPr>
      </p:sp>
      <p:sp>
        <p:nvSpPr>
          <p:cNvPr id="4" name="Step dot 1"/>
          <p:cNvSpPr/>
          <p:nvPr/>
        </p:nvSpPr>
        <p:spPr>
          <a:xfrm>
            <a:off x="777240" y="1645920"/>
            <a:ext cx="594360" cy="594360"/>
          </a:xfrm>
          <a:prstGeom prst="ellipse">
            <a:avLst/>
          </a:prstGeom>
          <a:solidFill>
            <a:schemeClr val="accent1"/>
          </a:solidFill>
          <a:ln/>
        </p:spPr>
      </p:sp>
      <p:sp>
        <p:nvSpPr>
          <p:cNvPr id="5" name="Text 3"/>
          <p:cNvSpPr txBox="1"/>
          <p:nvPr/>
        </p:nvSpPr>
        <p:spPr>
          <a:xfrm>
            <a:off x="777240" y="164592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4"/>
          <p:cNvSpPr txBox="1"/>
          <p:nvPr/>
        </p:nvSpPr>
        <p:spPr>
          <a:xfrm>
            <a:off x="1600200" y="1463040"/>
            <a:ext cx="4343400" cy="960120"/>
          </a:xfrm>
          <a:prstGeom prst="rect">
            <a:avLst/>
          </a:prstGeom>
          <a:noFill/>
          <a:ln/>
        </p:spPr>
        <p:txBody>
          <a:bodyPr wrap="square" lIns="0" tIns="0" rIns="0" bIns="0" rtlCol="0" anchor="ctr"/>
          <a:lstStyle/>
          <a:p>
            <a:pPr indent="0" marL="0">
              <a:buNone/>
            </a:pPr>
            <a:r>
              <a:rPr lang="en-US" sz="1600" dirty="0">
                <a:solidFill>
                  <a:schemeClr val="tx1"/>
                </a:solidFill>
              </a:rPr>
              <a:t>Build the tagged image travel-insurance:latest</a:t>
            </a:r>
            <a:endParaRPr lang="en-US" sz="1600" dirty="0"/>
          </a:p>
        </p:txBody>
      </p:sp>
      <p:sp>
        <p:nvSpPr>
          <p:cNvPr id="7" name="Deploy step 2"/>
          <p:cNvSpPr/>
          <p:nvPr/>
        </p:nvSpPr>
        <p:spPr>
          <a:xfrm>
            <a:off x="548640" y="2606040"/>
            <a:ext cx="5577840" cy="960120"/>
          </a:xfrm>
          <a:prstGeom prst="roundRect">
            <a:avLst>
              <a:gd name="adj" fmla="val 9524"/>
            </a:avLst>
          </a:prstGeom>
          <a:solidFill>
            <a:schemeClr val="bg1"/>
          </a:solidFill>
          <a:ln/>
          <a:effectLst>
            <a:outerShdw sx="100000" sy="100000" kx="0" ky="0" algn="bl" rotWithShape="0" blurRad="101600" dist="25400" dir="5400000">
              <a:srgbClr val="000000">
                <a:alpha val="14000"/>
              </a:srgbClr>
            </a:outerShdw>
          </a:effectLst>
        </p:spPr>
      </p:sp>
      <p:sp>
        <p:nvSpPr>
          <p:cNvPr id="8" name="Step dot 2"/>
          <p:cNvSpPr/>
          <p:nvPr/>
        </p:nvSpPr>
        <p:spPr>
          <a:xfrm>
            <a:off x="777240" y="2788920"/>
            <a:ext cx="594360" cy="594360"/>
          </a:xfrm>
          <a:prstGeom prst="ellipse">
            <a:avLst/>
          </a:prstGeom>
          <a:solidFill>
            <a:schemeClr val="accent1"/>
          </a:solidFill>
          <a:ln/>
        </p:spPr>
      </p:sp>
      <p:sp>
        <p:nvSpPr>
          <p:cNvPr id="9" name="Text 7"/>
          <p:cNvSpPr txBox="1"/>
          <p:nvPr/>
        </p:nvSpPr>
        <p:spPr>
          <a:xfrm>
            <a:off x="777240" y="278892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0" name="Text 8"/>
          <p:cNvSpPr txBox="1"/>
          <p:nvPr/>
        </p:nvSpPr>
        <p:spPr>
          <a:xfrm>
            <a:off x="1600200" y="2606040"/>
            <a:ext cx="4343400" cy="960120"/>
          </a:xfrm>
          <a:prstGeom prst="rect">
            <a:avLst/>
          </a:prstGeom>
          <a:noFill/>
          <a:ln/>
        </p:spPr>
        <p:txBody>
          <a:bodyPr wrap="square" lIns="0" tIns="0" rIns="0" bIns="0" rtlCol="0" anchor="ctr"/>
          <a:lstStyle/>
          <a:p>
            <a:pPr indent="0" marL="0">
              <a:buNone/>
            </a:pPr>
            <a:r>
              <a:rPr lang="en-US" sz="1600" dirty="0">
                <a:solidFill>
                  <a:schemeClr val="tx1"/>
                </a:solidFill>
              </a:rPr>
              <a:t>Stop and remove the old container</a:t>
            </a:r>
            <a:endParaRPr lang="en-US" sz="1600" dirty="0"/>
          </a:p>
        </p:txBody>
      </p:sp>
      <p:sp>
        <p:nvSpPr>
          <p:cNvPr id="11" name="Deploy step 3"/>
          <p:cNvSpPr/>
          <p:nvPr/>
        </p:nvSpPr>
        <p:spPr>
          <a:xfrm>
            <a:off x="548640" y="3749040"/>
            <a:ext cx="5577840" cy="960120"/>
          </a:xfrm>
          <a:prstGeom prst="roundRect">
            <a:avLst>
              <a:gd name="adj" fmla="val 9524"/>
            </a:avLst>
          </a:prstGeom>
          <a:solidFill>
            <a:schemeClr val="bg1"/>
          </a:solidFill>
          <a:ln/>
          <a:effectLst>
            <a:outerShdw sx="100000" sy="100000" kx="0" ky="0" algn="bl" rotWithShape="0" blurRad="101600" dist="25400" dir="5400000">
              <a:srgbClr val="000000">
                <a:alpha val="14000"/>
              </a:srgbClr>
            </a:outerShdw>
          </a:effectLst>
        </p:spPr>
      </p:sp>
      <p:sp>
        <p:nvSpPr>
          <p:cNvPr id="12" name="Step dot 3"/>
          <p:cNvSpPr/>
          <p:nvPr/>
        </p:nvSpPr>
        <p:spPr>
          <a:xfrm>
            <a:off x="777240" y="3931920"/>
            <a:ext cx="594360" cy="594360"/>
          </a:xfrm>
          <a:prstGeom prst="ellipse">
            <a:avLst/>
          </a:prstGeom>
          <a:solidFill>
            <a:schemeClr val="accent1"/>
          </a:solidFill>
          <a:ln/>
        </p:spPr>
      </p:sp>
      <p:sp>
        <p:nvSpPr>
          <p:cNvPr id="13" name="Text 11"/>
          <p:cNvSpPr txBox="1"/>
          <p:nvPr/>
        </p:nvSpPr>
        <p:spPr>
          <a:xfrm>
            <a:off x="777240" y="393192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4" name="Text 12"/>
          <p:cNvSpPr txBox="1"/>
          <p:nvPr/>
        </p:nvSpPr>
        <p:spPr>
          <a:xfrm>
            <a:off x="1600200" y="3749040"/>
            <a:ext cx="4343400" cy="960120"/>
          </a:xfrm>
          <a:prstGeom prst="rect">
            <a:avLst/>
          </a:prstGeom>
          <a:noFill/>
          <a:ln/>
        </p:spPr>
        <p:txBody>
          <a:bodyPr wrap="square" lIns="0" tIns="0" rIns="0" bIns="0" rtlCol="0" anchor="ctr"/>
          <a:lstStyle/>
          <a:p>
            <a:pPr indent="0" marL="0">
              <a:buNone/>
            </a:pPr>
            <a:r>
              <a:rPr lang="en-US" sz="1600" dirty="0">
                <a:solidFill>
                  <a:schemeClr val="tx1"/>
                </a:solidFill>
              </a:rPr>
              <a:t>Start the new container on port 8081</a:t>
            </a:r>
            <a:endParaRPr lang="en-US" sz="1600" dirty="0"/>
          </a:p>
        </p:txBody>
      </p:sp>
      <p:sp>
        <p:nvSpPr>
          <p:cNvPr id="15" name="Deploy step 4"/>
          <p:cNvSpPr/>
          <p:nvPr/>
        </p:nvSpPr>
        <p:spPr>
          <a:xfrm>
            <a:off x="548640" y="4892040"/>
            <a:ext cx="5577840" cy="960120"/>
          </a:xfrm>
          <a:prstGeom prst="roundRect">
            <a:avLst>
              <a:gd name="adj" fmla="val 9524"/>
            </a:avLst>
          </a:prstGeom>
          <a:solidFill>
            <a:schemeClr val="bg1"/>
          </a:solidFill>
          <a:ln/>
          <a:effectLst>
            <a:outerShdw sx="100000" sy="100000" kx="0" ky="0" algn="bl" rotWithShape="0" blurRad="101600" dist="25400" dir="5400000">
              <a:srgbClr val="000000">
                <a:alpha val="14000"/>
              </a:srgbClr>
            </a:outerShdw>
          </a:effectLst>
        </p:spPr>
      </p:sp>
      <p:sp>
        <p:nvSpPr>
          <p:cNvPr id="16" name="Step dot 4"/>
          <p:cNvSpPr/>
          <p:nvPr/>
        </p:nvSpPr>
        <p:spPr>
          <a:xfrm>
            <a:off x="777240" y="5074920"/>
            <a:ext cx="594360" cy="594360"/>
          </a:xfrm>
          <a:prstGeom prst="ellipse">
            <a:avLst/>
          </a:prstGeom>
          <a:solidFill>
            <a:schemeClr val="accent1"/>
          </a:solidFill>
          <a:ln/>
        </p:spPr>
      </p:sp>
      <p:sp>
        <p:nvSpPr>
          <p:cNvPr id="17" name="Text 15"/>
          <p:cNvSpPr txBox="1"/>
          <p:nvPr/>
        </p:nvSpPr>
        <p:spPr>
          <a:xfrm>
            <a:off x="777240" y="507492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8" name="Text 16"/>
          <p:cNvSpPr txBox="1"/>
          <p:nvPr/>
        </p:nvSpPr>
        <p:spPr>
          <a:xfrm>
            <a:off x="1600200" y="4892040"/>
            <a:ext cx="4343400" cy="960120"/>
          </a:xfrm>
          <a:prstGeom prst="rect">
            <a:avLst/>
          </a:prstGeom>
          <a:noFill/>
          <a:ln/>
        </p:spPr>
        <p:txBody>
          <a:bodyPr wrap="square" lIns="0" tIns="0" rIns="0" bIns="0" rtlCol="0" anchor="ctr"/>
          <a:lstStyle/>
          <a:p>
            <a:pPr indent="0" marL="0">
              <a:buNone/>
            </a:pPr>
            <a:r>
              <a:rPr lang="en-US" sz="1600" dirty="0">
                <a:solidFill>
                  <a:schemeClr val="tx1"/>
                </a:solidFill>
              </a:rPr>
              <a:t>Run a curl health check. Fail the build if there is no answer</a:t>
            </a:r>
            <a:endParaRPr lang="en-US" sz="1600" dirty="0"/>
          </a:p>
        </p:txBody>
      </p:sp>
      <p:sp>
        <p:nvSpPr>
          <p:cNvPr id="19" name="Deploy code"/>
          <p:cNvSpPr/>
          <p:nvPr/>
        </p:nvSpPr>
        <p:spPr>
          <a:xfrm>
            <a:off x="6400800" y="1463040"/>
            <a:ext cx="5239512" cy="3200400"/>
          </a:xfrm>
          <a:prstGeom prst="roundRect">
            <a:avLst>
              <a:gd name="adj" fmla="val 2857"/>
            </a:avLst>
          </a:prstGeom>
          <a:solidFill>
            <a:schemeClr val="tx1"/>
          </a:solidFill>
          <a:ln/>
          <a:effectLst>
            <a:outerShdw sx="100000" sy="100000" kx="0" ky="0" algn="bl" rotWithShape="0" blurRad="101600" dist="25400" dir="5400000">
              <a:srgbClr val="000000">
                <a:alpha val="14000"/>
              </a:srgbClr>
            </a:outerShdw>
          </a:effectLst>
        </p:spPr>
      </p:sp>
      <p:sp>
        <p:nvSpPr>
          <p:cNvPr id="20" name="Deploy code text"/>
          <p:cNvSpPr txBox="1"/>
          <p:nvPr/>
        </p:nvSpPr>
        <p:spPr>
          <a:xfrm>
            <a:off x="6629400" y="1645920"/>
            <a:ext cx="4782312" cy="2834640"/>
          </a:xfrm>
          <a:prstGeom prst="rect">
            <a:avLst/>
          </a:prstGeom>
          <a:noFill/>
          <a:ln/>
        </p:spPr>
        <p:txBody>
          <a:bodyPr wrap="square" lIns="0" tIns="0" rIns="0" bIns="0" rtlCol="0" anchor="t"/>
          <a:lstStyle/>
          <a:p>
            <a:pPr indent="0" marL="0">
              <a:spcAft>
                <a:spcPts val="400"/>
              </a:spcAft>
              <a:buNone/>
            </a:pPr>
            <a:r>
              <a:rPr lang="en-US" sz="1400" dirty="0">
                <a:solidFill>
                  <a:schemeClr val="accent3"/>
                </a:solidFill>
                <a:latin typeface="Courier New" pitchFamily="34" charset="0"/>
                <a:ea typeface="Courier New" pitchFamily="34" charset="-122"/>
                <a:cs typeface="Courier New" pitchFamily="34" charset="-120"/>
              </a:rPr>
              <a:t># runs after CI and Selenium pass</a:t>
            </a:r>
            <a:endParaRPr lang="en-US" sz="1400" dirty="0"/>
          </a:p>
          <a:p>
            <a:pPr indent="0" marL="0">
              <a:spcAft>
                <a:spcPts val="400"/>
              </a:spcAft>
              <a:buNone/>
            </a:pPr>
            <a:r>
              <a:rPr lang="en-US" sz="1400" dirty="0">
                <a:solidFill>
                  <a:schemeClr val="bg2"/>
                </a:solidFill>
                <a:latin typeface="Courier New" pitchFamily="34" charset="0"/>
                <a:ea typeface="Courier New" pitchFamily="34" charset="-122"/>
                <a:cs typeface="Courier New" pitchFamily="34" charset="-120"/>
              </a:rPr>
              <a:t>docker build -t travel-insurance:latest .</a:t>
            </a:r>
            <a:endParaRPr lang="en-US" sz="1400" dirty="0"/>
          </a:p>
          <a:p>
            <a:pPr indent="0" marL="0">
              <a:spcAft>
                <a:spcPts val="400"/>
              </a:spcAft>
              <a:buNone/>
            </a:pPr>
            <a:r>
              <a:rPr lang="en-US" sz="1400" dirty="0">
                <a:solidFill>
                  <a:schemeClr val="bg2"/>
                </a:solidFill>
                <a:latin typeface="Courier New" pitchFamily="34" charset="0"/>
                <a:ea typeface="Courier New" pitchFamily="34" charset="-122"/>
                <a:cs typeface="Courier New" pitchFamily="34" charset="-120"/>
              </a:rPr>
              <a:t>docker rm -f travel-insurance</a:t>
            </a:r>
            <a:endParaRPr lang="en-US" sz="1400" dirty="0"/>
          </a:p>
          <a:p>
            <a:pPr indent="0" marL="0">
              <a:spcAft>
                <a:spcPts val="400"/>
              </a:spcAft>
              <a:buNone/>
            </a:pPr>
            <a:r>
              <a:rPr lang="en-US" sz="1400" dirty="0">
                <a:solidFill>
                  <a:schemeClr val="bg2"/>
                </a:solidFill>
                <a:latin typeface="Courier New" pitchFamily="34" charset="0"/>
                <a:ea typeface="Courier New" pitchFamily="34" charset="-122"/>
                <a:cs typeface="Courier New" pitchFamily="34" charset="-120"/>
              </a:rPr>
              <a:t>docker run -d --name travel-insurance \</a:t>
            </a:r>
            <a:endParaRPr lang="en-US" sz="1400" dirty="0"/>
          </a:p>
          <a:p>
            <a:pPr indent="0" marL="0">
              <a:spcAft>
                <a:spcPts val="400"/>
              </a:spcAft>
              <a:buNone/>
            </a:pPr>
            <a:r>
              <a:rPr lang="en-US" sz="1400" dirty="0">
                <a:solidFill>
                  <a:schemeClr val="bg2"/>
                </a:solidFill>
                <a:latin typeface="Courier New" pitchFamily="34" charset="0"/>
                <a:ea typeface="Courier New" pitchFamily="34" charset="-122"/>
                <a:cs typeface="Courier New" pitchFamily="34" charset="-120"/>
              </a:rPr>
              <a:t>  -p 8081:8081 travel-insurance:latest</a:t>
            </a:r>
            <a:endParaRPr lang="en-US" sz="1400" dirty="0"/>
          </a:p>
          <a:p>
            <a:pPr indent="0" marL="0">
              <a:spcAft>
                <a:spcPts val="400"/>
              </a:spcAft>
              <a:buNone/>
            </a:pPr>
            <a:r>
              <a:rPr lang="en-US" sz="1400" dirty="0">
                <a:solidFill>
                  <a:schemeClr val="bg2"/>
                </a:solidFill>
                <a:latin typeface="Courier New" pitchFamily="34" charset="0"/>
                <a:ea typeface="Courier New" pitchFamily="34" charset="-122"/>
                <a:cs typeface="Courier New" pitchFamily="34" charset="-120"/>
              </a:rPr>
              <a:t>curl -f http://localhost:8081/index.html</a:t>
            </a:r>
            <a:endParaRPr lang="en-US" sz="1400" dirty="0"/>
          </a:p>
        </p:txBody>
      </p:sp>
      <p:sp>
        <p:nvSpPr>
          <p:cNvPr id="21" name="Trigger note"/>
          <p:cNvSpPr/>
          <p:nvPr/>
        </p:nvSpPr>
        <p:spPr>
          <a:xfrm>
            <a:off x="6400800" y="4937760"/>
            <a:ext cx="5239512" cy="1097280"/>
          </a:xfrm>
          <a:prstGeom prst="roundRect">
            <a:avLst>
              <a:gd name="adj" fmla="val 8333"/>
            </a:avLst>
          </a:prstGeom>
          <a:solidFill>
            <a:schemeClr val="accent2">
              <a:alpha val="12000"/>
            </a:schemeClr>
          </a:solidFill>
          <a:ln/>
        </p:spPr>
      </p:sp>
      <p:sp>
        <p:nvSpPr>
          <p:cNvPr id="22" name="Text 20"/>
          <p:cNvSpPr txBox="1"/>
          <p:nvPr/>
        </p:nvSpPr>
        <p:spPr>
          <a:xfrm>
            <a:off x="6675120" y="4937760"/>
            <a:ext cx="4709160" cy="1097280"/>
          </a:xfrm>
          <a:prstGeom prst="rect">
            <a:avLst/>
          </a:prstGeom>
          <a:noFill/>
          <a:ln/>
        </p:spPr>
        <p:txBody>
          <a:bodyPr wrap="square" lIns="0" tIns="0" rIns="0" bIns="0" rtlCol="0" anchor="ctr"/>
          <a:lstStyle/>
          <a:p>
            <a:pPr indent="0" marL="0">
              <a:buNone/>
            </a:pPr>
            <a:r>
              <a:rPr lang="en-US" sz="1600" b="1" dirty="0">
                <a:solidFill>
                  <a:schemeClr val="tx1"/>
                </a:solidFill>
              </a:rPr>
              <a:t>Deployment starts only when the build and Selenium tests have passed.</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68680"/>
          </a:xfrm>
          <a:prstGeom prst="rect">
            <a:avLst/>
          </a:prstGeom>
          <a:noFill/>
          <a:ln/>
        </p:spPr>
        <p:txBody>
          <a:bodyPr wrap="square" lIns="0" tIns="0" rIns="0" bIns="0" rtlCol="0" anchor="ctr"/>
          <a:lstStyle/>
          <a:p>
            <a:pPr indent="0" marL="0">
              <a:buNone/>
            </a:pPr>
            <a:r>
              <a:rPr lang="en-US" sz="3400" b="1" dirty="0">
                <a:solidFill>
                  <a:schemeClr val="tx1"/>
                </a:solidFill>
              </a:rPr>
              <a:t>Infrastructure as code with Ansible</a:t>
            </a:r>
            <a:endParaRPr lang="en-US" sz="3400" dirty="0"/>
          </a:p>
        </p:txBody>
      </p:sp>
      <p:sp>
        <p:nvSpPr>
          <p:cNvPr id="3" name="File row inventory/hosts.yml"/>
          <p:cNvSpPr/>
          <p:nvPr/>
        </p:nvSpPr>
        <p:spPr>
          <a:xfrm>
            <a:off x="548640" y="1463040"/>
            <a:ext cx="6766560" cy="960120"/>
          </a:xfrm>
          <a:prstGeom prst="roundRect">
            <a:avLst>
              <a:gd name="adj" fmla="val 9524"/>
            </a:avLst>
          </a:prstGeom>
          <a:solidFill>
            <a:schemeClr val="bg1"/>
          </a:solidFill>
          <a:ln/>
          <a:effectLst>
            <a:outerShdw sx="100000" sy="100000" kx="0" ky="0" algn="bl" rotWithShape="0" blurRad="101600" dist="25400" dir="5400000">
              <a:srgbClr val="000000">
                <a:alpha val="14000"/>
              </a:srgbClr>
            </a:outerShdw>
          </a:effectLst>
        </p:spPr>
      </p:sp>
      <p:sp>
        <p:nvSpPr>
          <p:cNvPr id="4" name="File chip inventory/hosts.yml"/>
          <p:cNvSpPr/>
          <p:nvPr/>
        </p:nvSpPr>
        <p:spPr>
          <a:xfrm>
            <a:off x="731520" y="1645920"/>
            <a:ext cx="3017520" cy="594360"/>
          </a:xfrm>
          <a:prstGeom prst="roundRect">
            <a:avLst>
              <a:gd name="adj" fmla="val 12308"/>
            </a:avLst>
          </a:prstGeom>
          <a:solidFill>
            <a:schemeClr val="tx1"/>
          </a:solidFill>
          <a:ln/>
        </p:spPr>
      </p:sp>
      <p:sp>
        <p:nvSpPr>
          <p:cNvPr id="5" name="Text 3"/>
          <p:cNvSpPr txBox="1"/>
          <p:nvPr/>
        </p:nvSpPr>
        <p:spPr>
          <a:xfrm>
            <a:off x="731520" y="1645920"/>
            <a:ext cx="3017520" cy="594360"/>
          </a:xfrm>
          <a:prstGeom prst="rect">
            <a:avLst/>
          </a:prstGeom>
          <a:noFill/>
          <a:ln/>
        </p:spPr>
        <p:txBody>
          <a:bodyPr wrap="square" lIns="0" tIns="0" rIns="0" bIns="0" rtlCol="0" anchor="ctr"/>
          <a:lstStyle/>
          <a:p>
            <a:pPr algn="ctr" indent="0" marL="0">
              <a:buNone/>
            </a:pPr>
            <a:r>
              <a:rPr lang="en-US" sz="1300" dirty="0">
                <a:solidFill>
                  <a:schemeClr val="bg1"/>
                </a:solidFill>
                <a:latin typeface="Courier New" pitchFamily="34" charset="0"/>
                <a:ea typeface="Courier New" pitchFamily="34" charset="-122"/>
                <a:cs typeface="Courier New" pitchFamily="34" charset="-120"/>
              </a:rPr>
              <a:t>inventory/hosts.yml</a:t>
            </a:r>
            <a:endParaRPr lang="en-US" sz="1300" dirty="0"/>
          </a:p>
        </p:txBody>
      </p:sp>
      <p:sp>
        <p:nvSpPr>
          <p:cNvPr id="6" name="Text 4"/>
          <p:cNvSpPr txBox="1"/>
          <p:nvPr/>
        </p:nvSpPr>
        <p:spPr>
          <a:xfrm>
            <a:off x="3931920" y="1463040"/>
            <a:ext cx="3200400" cy="960120"/>
          </a:xfrm>
          <a:prstGeom prst="rect">
            <a:avLst/>
          </a:prstGeom>
          <a:noFill/>
          <a:ln/>
        </p:spPr>
        <p:txBody>
          <a:bodyPr wrap="square" lIns="0" tIns="0" rIns="0" bIns="0" rtlCol="0" anchor="ctr"/>
          <a:lstStyle/>
          <a:p>
            <a:pPr indent="0" marL="0">
              <a:buNone/>
            </a:pPr>
            <a:r>
              <a:rPr lang="en-US" sz="1400" dirty="0">
                <a:solidFill>
                  <a:schemeClr val="tx1"/>
                </a:solidFill>
              </a:rPr>
              <a:t>Target servers and environments</a:t>
            </a:r>
            <a:endParaRPr lang="en-US" sz="1400" dirty="0"/>
          </a:p>
        </p:txBody>
      </p:sp>
      <p:sp>
        <p:nvSpPr>
          <p:cNvPr id="7" name="File row group_vars/all.yml"/>
          <p:cNvSpPr/>
          <p:nvPr/>
        </p:nvSpPr>
        <p:spPr>
          <a:xfrm>
            <a:off x="548640" y="2606040"/>
            <a:ext cx="6766560" cy="960120"/>
          </a:xfrm>
          <a:prstGeom prst="roundRect">
            <a:avLst>
              <a:gd name="adj" fmla="val 9524"/>
            </a:avLst>
          </a:prstGeom>
          <a:solidFill>
            <a:schemeClr val="bg1"/>
          </a:solidFill>
          <a:ln/>
          <a:effectLst>
            <a:outerShdw sx="100000" sy="100000" kx="0" ky="0" algn="bl" rotWithShape="0" blurRad="101600" dist="25400" dir="5400000">
              <a:srgbClr val="000000">
                <a:alpha val="14000"/>
              </a:srgbClr>
            </a:outerShdw>
          </a:effectLst>
        </p:spPr>
      </p:sp>
      <p:sp>
        <p:nvSpPr>
          <p:cNvPr id="8" name="File chip group_vars/all.yml"/>
          <p:cNvSpPr/>
          <p:nvPr/>
        </p:nvSpPr>
        <p:spPr>
          <a:xfrm>
            <a:off x="731520" y="2788920"/>
            <a:ext cx="3017520" cy="594360"/>
          </a:xfrm>
          <a:prstGeom prst="roundRect">
            <a:avLst>
              <a:gd name="adj" fmla="val 12308"/>
            </a:avLst>
          </a:prstGeom>
          <a:solidFill>
            <a:schemeClr val="tx1"/>
          </a:solidFill>
          <a:ln/>
        </p:spPr>
      </p:sp>
      <p:sp>
        <p:nvSpPr>
          <p:cNvPr id="9" name="Text 7"/>
          <p:cNvSpPr txBox="1"/>
          <p:nvPr/>
        </p:nvSpPr>
        <p:spPr>
          <a:xfrm>
            <a:off x="731520" y="2788920"/>
            <a:ext cx="3017520" cy="594360"/>
          </a:xfrm>
          <a:prstGeom prst="rect">
            <a:avLst/>
          </a:prstGeom>
          <a:noFill/>
          <a:ln/>
        </p:spPr>
        <p:txBody>
          <a:bodyPr wrap="square" lIns="0" tIns="0" rIns="0" bIns="0" rtlCol="0" anchor="ctr"/>
          <a:lstStyle/>
          <a:p>
            <a:pPr algn="ctr" indent="0" marL="0">
              <a:buNone/>
            </a:pPr>
            <a:r>
              <a:rPr lang="en-US" sz="1300" dirty="0">
                <a:solidFill>
                  <a:schemeClr val="bg1"/>
                </a:solidFill>
                <a:latin typeface="Courier New" pitchFamily="34" charset="0"/>
                <a:ea typeface="Courier New" pitchFamily="34" charset="-122"/>
                <a:cs typeface="Courier New" pitchFamily="34" charset="-120"/>
              </a:rPr>
              <a:t>group_vars/all.yml</a:t>
            </a:r>
            <a:endParaRPr lang="en-US" sz="1300" dirty="0"/>
          </a:p>
        </p:txBody>
      </p:sp>
      <p:sp>
        <p:nvSpPr>
          <p:cNvPr id="10" name="Text 8"/>
          <p:cNvSpPr txBox="1"/>
          <p:nvPr/>
        </p:nvSpPr>
        <p:spPr>
          <a:xfrm>
            <a:off x="3931920" y="2606040"/>
            <a:ext cx="3200400" cy="960120"/>
          </a:xfrm>
          <a:prstGeom prst="rect">
            <a:avLst/>
          </a:prstGeom>
          <a:noFill/>
          <a:ln/>
        </p:spPr>
        <p:txBody>
          <a:bodyPr wrap="square" lIns="0" tIns="0" rIns="0" bIns="0" rtlCol="0" anchor="ctr"/>
          <a:lstStyle/>
          <a:p>
            <a:pPr indent="0" marL="0">
              <a:buNone/>
            </a:pPr>
            <a:r>
              <a:rPr lang="en-US" sz="1400" dirty="0">
                <a:solidFill>
                  <a:schemeClr val="tx1"/>
                </a:solidFill>
              </a:rPr>
              <a:t>Shared variables: ports and paths</a:t>
            </a:r>
            <a:endParaRPr lang="en-US" sz="1400" dirty="0"/>
          </a:p>
        </p:txBody>
      </p:sp>
      <p:sp>
        <p:nvSpPr>
          <p:cNvPr id="11" name="File row templates/app.service.j2"/>
          <p:cNvSpPr/>
          <p:nvPr/>
        </p:nvSpPr>
        <p:spPr>
          <a:xfrm>
            <a:off x="548640" y="3749040"/>
            <a:ext cx="6766560" cy="960120"/>
          </a:xfrm>
          <a:prstGeom prst="roundRect">
            <a:avLst>
              <a:gd name="adj" fmla="val 9524"/>
            </a:avLst>
          </a:prstGeom>
          <a:solidFill>
            <a:schemeClr val="bg1"/>
          </a:solidFill>
          <a:ln/>
          <a:effectLst>
            <a:outerShdw sx="100000" sy="100000" kx="0" ky="0" algn="bl" rotWithShape="0" blurRad="101600" dist="25400" dir="5400000">
              <a:srgbClr val="000000">
                <a:alpha val="14000"/>
              </a:srgbClr>
            </a:outerShdw>
          </a:effectLst>
        </p:spPr>
      </p:sp>
      <p:sp>
        <p:nvSpPr>
          <p:cNvPr id="12" name="File chip templates/app.service.j2"/>
          <p:cNvSpPr/>
          <p:nvPr/>
        </p:nvSpPr>
        <p:spPr>
          <a:xfrm>
            <a:off x="731520" y="3931920"/>
            <a:ext cx="3017520" cy="594360"/>
          </a:xfrm>
          <a:prstGeom prst="roundRect">
            <a:avLst>
              <a:gd name="adj" fmla="val 12308"/>
            </a:avLst>
          </a:prstGeom>
          <a:solidFill>
            <a:schemeClr val="tx1"/>
          </a:solidFill>
          <a:ln/>
        </p:spPr>
      </p:sp>
      <p:sp>
        <p:nvSpPr>
          <p:cNvPr id="13" name="Text 11"/>
          <p:cNvSpPr txBox="1"/>
          <p:nvPr/>
        </p:nvSpPr>
        <p:spPr>
          <a:xfrm>
            <a:off x="731520" y="3931920"/>
            <a:ext cx="3017520" cy="594360"/>
          </a:xfrm>
          <a:prstGeom prst="rect">
            <a:avLst/>
          </a:prstGeom>
          <a:noFill/>
          <a:ln/>
        </p:spPr>
        <p:txBody>
          <a:bodyPr wrap="square" lIns="0" tIns="0" rIns="0" bIns="0" rtlCol="0" anchor="ctr"/>
          <a:lstStyle/>
          <a:p>
            <a:pPr algn="ctr" indent="0" marL="0">
              <a:buNone/>
            </a:pPr>
            <a:r>
              <a:rPr lang="en-US" sz="1300" dirty="0">
                <a:solidFill>
                  <a:schemeClr val="bg1"/>
                </a:solidFill>
                <a:latin typeface="Courier New" pitchFamily="34" charset="0"/>
                <a:ea typeface="Courier New" pitchFamily="34" charset="-122"/>
                <a:cs typeface="Courier New" pitchFamily="34" charset="-120"/>
              </a:rPr>
              <a:t>templates/app.service.j2</a:t>
            </a:r>
            <a:endParaRPr lang="en-US" sz="1300" dirty="0"/>
          </a:p>
        </p:txBody>
      </p:sp>
      <p:sp>
        <p:nvSpPr>
          <p:cNvPr id="14" name="Text 12"/>
          <p:cNvSpPr txBox="1"/>
          <p:nvPr/>
        </p:nvSpPr>
        <p:spPr>
          <a:xfrm>
            <a:off x="3931920" y="3749040"/>
            <a:ext cx="3200400" cy="960120"/>
          </a:xfrm>
          <a:prstGeom prst="rect">
            <a:avLst/>
          </a:prstGeom>
          <a:noFill/>
          <a:ln/>
        </p:spPr>
        <p:txBody>
          <a:bodyPr wrap="square" lIns="0" tIns="0" rIns="0" bIns="0" rtlCol="0" anchor="ctr"/>
          <a:lstStyle/>
          <a:p>
            <a:pPr indent="0" marL="0">
              <a:buNone/>
            </a:pPr>
            <a:r>
              <a:rPr lang="en-US" sz="1400" dirty="0">
                <a:solidFill>
                  <a:schemeClr val="tx1"/>
                </a:solidFill>
              </a:rPr>
              <a:t>Jinja2 template for the systemd service</a:t>
            </a:r>
            <a:endParaRPr lang="en-US" sz="1400" dirty="0"/>
          </a:p>
        </p:txBody>
      </p:sp>
      <p:sp>
        <p:nvSpPr>
          <p:cNvPr id="15" name="File row playbooks/deploy.yml"/>
          <p:cNvSpPr/>
          <p:nvPr/>
        </p:nvSpPr>
        <p:spPr>
          <a:xfrm>
            <a:off x="548640" y="4892040"/>
            <a:ext cx="6766560" cy="960120"/>
          </a:xfrm>
          <a:prstGeom prst="roundRect">
            <a:avLst>
              <a:gd name="adj" fmla="val 9524"/>
            </a:avLst>
          </a:prstGeom>
          <a:solidFill>
            <a:schemeClr val="bg1"/>
          </a:solidFill>
          <a:ln/>
          <a:effectLst>
            <a:outerShdw sx="100000" sy="100000" kx="0" ky="0" algn="bl" rotWithShape="0" blurRad="101600" dist="25400" dir="5400000">
              <a:srgbClr val="000000">
                <a:alpha val="14000"/>
              </a:srgbClr>
            </a:outerShdw>
          </a:effectLst>
        </p:spPr>
      </p:sp>
      <p:sp>
        <p:nvSpPr>
          <p:cNvPr id="16" name="File chip playbooks/deploy.yml"/>
          <p:cNvSpPr/>
          <p:nvPr/>
        </p:nvSpPr>
        <p:spPr>
          <a:xfrm>
            <a:off x="731520" y="5074920"/>
            <a:ext cx="3017520" cy="594360"/>
          </a:xfrm>
          <a:prstGeom prst="roundRect">
            <a:avLst>
              <a:gd name="adj" fmla="val 12308"/>
            </a:avLst>
          </a:prstGeom>
          <a:solidFill>
            <a:schemeClr val="tx1"/>
          </a:solidFill>
          <a:ln/>
        </p:spPr>
      </p:sp>
      <p:sp>
        <p:nvSpPr>
          <p:cNvPr id="17" name="Text 15"/>
          <p:cNvSpPr txBox="1"/>
          <p:nvPr/>
        </p:nvSpPr>
        <p:spPr>
          <a:xfrm>
            <a:off x="731520" y="5074920"/>
            <a:ext cx="3017520" cy="594360"/>
          </a:xfrm>
          <a:prstGeom prst="rect">
            <a:avLst/>
          </a:prstGeom>
          <a:noFill/>
          <a:ln/>
        </p:spPr>
        <p:txBody>
          <a:bodyPr wrap="square" lIns="0" tIns="0" rIns="0" bIns="0" rtlCol="0" anchor="ctr"/>
          <a:lstStyle/>
          <a:p>
            <a:pPr algn="ctr" indent="0" marL="0">
              <a:buNone/>
            </a:pPr>
            <a:r>
              <a:rPr lang="en-US" sz="1300" dirty="0">
                <a:solidFill>
                  <a:schemeClr val="bg1"/>
                </a:solidFill>
                <a:latin typeface="Courier New" pitchFamily="34" charset="0"/>
                <a:ea typeface="Courier New" pitchFamily="34" charset="-122"/>
                <a:cs typeface="Courier New" pitchFamily="34" charset="-120"/>
              </a:rPr>
              <a:t>playbooks/deploy.yml</a:t>
            </a:r>
            <a:endParaRPr lang="en-US" sz="1300" dirty="0"/>
          </a:p>
        </p:txBody>
      </p:sp>
      <p:sp>
        <p:nvSpPr>
          <p:cNvPr id="18" name="Text 16"/>
          <p:cNvSpPr txBox="1"/>
          <p:nvPr/>
        </p:nvSpPr>
        <p:spPr>
          <a:xfrm>
            <a:off x="3931920" y="4892040"/>
            <a:ext cx="3200400" cy="960120"/>
          </a:xfrm>
          <a:prstGeom prst="rect">
            <a:avLst/>
          </a:prstGeom>
          <a:noFill/>
          <a:ln/>
        </p:spPr>
        <p:txBody>
          <a:bodyPr wrap="square" lIns="0" tIns="0" rIns="0" bIns="0" rtlCol="0" anchor="ctr"/>
          <a:lstStyle/>
          <a:p>
            <a:pPr indent="0" marL="0">
              <a:buNone/>
            </a:pPr>
            <a:r>
              <a:rPr lang="en-US" sz="1400" dirty="0">
                <a:solidFill>
                  <a:schemeClr val="tx1"/>
                </a:solidFill>
              </a:rPr>
              <a:t>Main provisioning and deployment playbook</a:t>
            </a:r>
            <a:endParaRPr lang="en-US" sz="1400" dirty="0"/>
          </a:p>
        </p:txBody>
      </p:sp>
      <p:sp>
        <p:nvSpPr>
          <p:cNvPr id="19" name="Idempotency card"/>
          <p:cNvSpPr/>
          <p:nvPr/>
        </p:nvSpPr>
        <p:spPr>
          <a:xfrm>
            <a:off x="7635240" y="1463040"/>
            <a:ext cx="4005072" cy="2194560"/>
          </a:xfrm>
          <a:prstGeom prst="roundRect">
            <a:avLst>
              <a:gd name="adj" fmla="val 4167"/>
            </a:avLst>
          </a:prstGeom>
          <a:solidFill>
            <a:schemeClr val="accent1"/>
          </a:solidFill>
          <a:ln/>
          <a:effectLst>
            <a:outerShdw sx="100000" sy="100000" kx="0" ky="0" algn="bl" rotWithShape="0" blurRad="101600" dist="25400" dir="5400000">
              <a:srgbClr val="000000">
                <a:alpha val="14000"/>
              </a:srgbClr>
            </a:outerShdw>
          </a:effectLst>
        </p:spPr>
      </p:sp>
      <p:sp>
        <p:nvSpPr>
          <p:cNvPr id="20" name="Text 18"/>
          <p:cNvSpPr txBox="1"/>
          <p:nvPr/>
        </p:nvSpPr>
        <p:spPr>
          <a:xfrm>
            <a:off x="7909560" y="1645920"/>
            <a:ext cx="3474720" cy="411480"/>
          </a:xfrm>
          <a:prstGeom prst="rect">
            <a:avLst/>
          </a:prstGeom>
          <a:noFill/>
          <a:ln/>
        </p:spPr>
        <p:txBody>
          <a:bodyPr wrap="square" lIns="0" tIns="0" rIns="0" bIns="0" rtlCol="0" anchor="t"/>
          <a:lstStyle/>
          <a:p>
            <a:pPr indent="0" marL="0">
              <a:buNone/>
            </a:pPr>
            <a:r>
              <a:rPr lang="en-US" sz="2200" b="1" dirty="0">
                <a:solidFill>
                  <a:schemeClr val="bg1"/>
                </a:solidFill>
              </a:rPr>
              <a:t>Idempotency</a:t>
            </a:r>
            <a:endParaRPr lang="en-US" sz="2200" dirty="0"/>
          </a:p>
        </p:txBody>
      </p:sp>
      <p:sp>
        <p:nvSpPr>
          <p:cNvPr id="21" name="Text 19"/>
          <p:cNvSpPr txBox="1"/>
          <p:nvPr/>
        </p:nvSpPr>
        <p:spPr>
          <a:xfrm>
            <a:off x="7909560" y="2194560"/>
            <a:ext cx="3474720" cy="1280160"/>
          </a:xfrm>
          <a:prstGeom prst="rect">
            <a:avLst/>
          </a:prstGeom>
          <a:noFill/>
          <a:ln/>
        </p:spPr>
        <p:txBody>
          <a:bodyPr wrap="square" lIns="0" tIns="0" rIns="0" bIns="0" rtlCol="0" anchor="t"/>
          <a:lstStyle/>
          <a:p>
            <a:pPr indent="0" marL="0">
              <a:buNone/>
            </a:pPr>
            <a:r>
              <a:rPr lang="en-US" sz="1600" dirty="0">
                <a:solidFill>
                  <a:schemeClr val="bg1"/>
                </a:solidFill>
              </a:rPr>
              <a:t>Run the playbook once or a hundred times and the server ends in the same state.</a:t>
            </a:r>
            <a:endParaRPr lang="en-US" sz="1600" dirty="0"/>
          </a:p>
        </p:txBody>
      </p:sp>
      <p:sp>
        <p:nvSpPr>
          <p:cNvPr id="22" name="Agentless card"/>
          <p:cNvSpPr/>
          <p:nvPr/>
        </p:nvSpPr>
        <p:spPr>
          <a:xfrm>
            <a:off x="7635240" y="3886200"/>
            <a:ext cx="4005072" cy="2148840"/>
          </a:xfrm>
          <a:prstGeom prst="roundRect">
            <a:avLst>
              <a:gd name="adj" fmla="val 4255"/>
            </a:avLst>
          </a:prstGeom>
          <a:solidFill>
            <a:schemeClr val="bg1"/>
          </a:solidFill>
          <a:ln/>
          <a:effectLst>
            <a:outerShdw sx="100000" sy="100000" kx="0" ky="0" algn="bl" rotWithShape="0" blurRad="101600" dist="25400" dir="5400000">
              <a:srgbClr val="000000">
                <a:alpha val="14000"/>
              </a:srgbClr>
            </a:outerShdw>
          </a:effectLst>
        </p:spPr>
      </p:sp>
      <p:sp>
        <p:nvSpPr>
          <p:cNvPr id="23" name="Text 21"/>
          <p:cNvSpPr txBox="1"/>
          <p:nvPr/>
        </p:nvSpPr>
        <p:spPr>
          <a:xfrm>
            <a:off x="7909560" y="4069080"/>
            <a:ext cx="3474720" cy="411480"/>
          </a:xfrm>
          <a:prstGeom prst="rect">
            <a:avLst/>
          </a:prstGeom>
          <a:noFill/>
          <a:ln/>
        </p:spPr>
        <p:txBody>
          <a:bodyPr wrap="square" lIns="0" tIns="0" rIns="0" bIns="0" rtlCol="0" anchor="t"/>
          <a:lstStyle/>
          <a:p>
            <a:pPr indent="0" marL="0">
              <a:buNone/>
            </a:pPr>
            <a:r>
              <a:rPr lang="en-US" sz="2200" b="1" dirty="0">
                <a:solidFill>
                  <a:schemeClr val="accent2"/>
                </a:solidFill>
              </a:rPr>
              <a:t>Agentless</a:t>
            </a:r>
            <a:endParaRPr lang="en-US" sz="2200" dirty="0"/>
          </a:p>
        </p:txBody>
      </p:sp>
      <p:sp>
        <p:nvSpPr>
          <p:cNvPr id="24" name="Text 22"/>
          <p:cNvSpPr txBox="1"/>
          <p:nvPr/>
        </p:nvSpPr>
        <p:spPr>
          <a:xfrm>
            <a:off x="7909560" y="4617720"/>
            <a:ext cx="3474720" cy="1280160"/>
          </a:xfrm>
          <a:prstGeom prst="rect">
            <a:avLst/>
          </a:prstGeom>
          <a:noFill/>
          <a:ln/>
        </p:spPr>
        <p:txBody>
          <a:bodyPr wrap="square" lIns="0" tIns="0" rIns="0" bIns="0" rtlCol="0" anchor="t"/>
          <a:lstStyle/>
          <a:p>
            <a:pPr indent="0" marL="0">
              <a:buNone/>
            </a:pPr>
            <a:r>
              <a:rPr lang="en-US" sz="1600" dirty="0">
                <a:solidFill>
                  <a:schemeClr val="tx1"/>
                </a:solidFill>
              </a:rPr>
              <a:t>Works over SSH, so nothing extra is installed on the servers.</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68680"/>
          </a:xfrm>
          <a:prstGeom prst="rect">
            <a:avLst/>
          </a:prstGeom>
          <a:noFill/>
          <a:ln/>
        </p:spPr>
        <p:txBody>
          <a:bodyPr wrap="square" lIns="0" tIns="0" rIns="0" bIns="0" rtlCol="0" anchor="ctr"/>
          <a:lstStyle/>
          <a:p>
            <a:pPr indent="0" marL="0">
              <a:buNone/>
            </a:pPr>
            <a:r>
              <a:rPr lang="en-US" sz="3400" b="1" dirty="0">
                <a:solidFill>
                  <a:schemeClr val="tx1"/>
                </a:solidFill>
              </a:rPr>
              <a:t>Automated rollback for reliability</a:t>
            </a:r>
            <a:endParaRPr lang="en-US" sz="3400" dirty="0"/>
          </a:p>
        </p:txBody>
      </p:sp>
      <p:sp>
        <p:nvSpPr>
          <p:cNvPr id="3" name="Flow Back up the current JAR"/>
          <p:cNvSpPr/>
          <p:nvPr/>
        </p:nvSpPr>
        <p:spPr>
          <a:xfrm>
            <a:off x="4270248" y="1463040"/>
            <a:ext cx="3657600" cy="822960"/>
          </a:xfrm>
          <a:prstGeom prst="roundRect">
            <a:avLst>
              <a:gd name="adj" fmla="val 11111"/>
            </a:avLst>
          </a:prstGeom>
          <a:solidFill>
            <a:schemeClr val="bg1"/>
          </a:solidFill>
          <a:ln/>
          <a:effectLst>
            <a:outerShdw sx="100000" sy="100000" kx="0" ky="0" algn="bl" rotWithShape="0" blurRad="101600" dist="25400" dir="5400000">
              <a:srgbClr val="000000">
                <a:alpha val="14000"/>
              </a:srgbClr>
            </a:outerShdw>
          </a:effectLst>
        </p:spPr>
      </p:sp>
      <p:sp>
        <p:nvSpPr>
          <p:cNvPr id="4" name="Text 2"/>
          <p:cNvSpPr txBox="1"/>
          <p:nvPr/>
        </p:nvSpPr>
        <p:spPr>
          <a:xfrm>
            <a:off x="4270248" y="1463040"/>
            <a:ext cx="3657600" cy="822960"/>
          </a:xfrm>
          <a:prstGeom prst="rect">
            <a:avLst/>
          </a:prstGeom>
          <a:noFill/>
          <a:ln/>
        </p:spPr>
        <p:txBody>
          <a:bodyPr wrap="square" lIns="0" tIns="0" rIns="0" bIns="0" rtlCol="0" anchor="ctr"/>
          <a:lstStyle/>
          <a:p>
            <a:pPr algn="ctr" indent="0" marL="0">
              <a:buNone/>
            </a:pPr>
            <a:r>
              <a:rPr lang="en-US" sz="1600" b="1" dirty="0">
                <a:solidFill>
                  <a:schemeClr val="tx1"/>
                </a:solidFill>
              </a:rPr>
              <a:t>Back up the current JAR</a:t>
            </a:r>
            <a:endParaRPr lang="en-US" sz="1400" dirty="0"/>
          </a:p>
          <a:p>
            <a:pPr algn="ctr" indent="0" marL="0">
              <a:buNone/>
            </a:pPr>
            <a:r>
              <a:rPr lang="en-US" sz="1300" dirty="0">
                <a:solidFill>
                  <a:schemeClr val="accent6"/>
                </a:solidFill>
                <a:latin typeface="Courier New" pitchFamily="34" charset="0"/>
                <a:ea typeface="Courier New" pitchFamily="34" charset="-122"/>
                <a:cs typeface="Courier New" pitchFamily="34" charset="-120"/>
              </a:rPr>
              <a:t>app-previous.jar</a:t>
            </a:r>
            <a:endParaRPr lang="en-US" sz="1400" dirty="0"/>
          </a:p>
        </p:txBody>
      </p:sp>
      <p:sp>
        <p:nvSpPr>
          <p:cNvPr id="5" name="Flow arrow 1"/>
          <p:cNvSpPr/>
          <p:nvPr/>
        </p:nvSpPr>
        <p:spPr>
          <a:xfrm>
            <a:off x="5916168" y="2313432"/>
            <a:ext cx="365760" cy="219456"/>
          </a:xfrm>
          <a:prstGeom prst="downArrow">
            <a:avLst/>
          </a:prstGeom>
          <a:solidFill>
            <a:schemeClr val="accent1"/>
          </a:solidFill>
          <a:ln/>
        </p:spPr>
      </p:sp>
      <p:sp>
        <p:nvSpPr>
          <p:cNvPr id="6" name="Flow Deploy the new version"/>
          <p:cNvSpPr/>
          <p:nvPr/>
        </p:nvSpPr>
        <p:spPr>
          <a:xfrm>
            <a:off x="4270248" y="2560320"/>
            <a:ext cx="3657600" cy="822960"/>
          </a:xfrm>
          <a:prstGeom prst="roundRect">
            <a:avLst>
              <a:gd name="adj" fmla="val 11111"/>
            </a:avLst>
          </a:prstGeom>
          <a:solidFill>
            <a:schemeClr val="bg1"/>
          </a:solidFill>
          <a:ln/>
          <a:effectLst>
            <a:outerShdw sx="100000" sy="100000" kx="0" ky="0" algn="bl" rotWithShape="0" blurRad="101600" dist="25400" dir="5400000">
              <a:srgbClr val="000000">
                <a:alpha val="14000"/>
              </a:srgbClr>
            </a:outerShdw>
          </a:effectLst>
        </p:spPr>
      </p:sp>
      <p:sp>
        <p:nvSpPr>
          <p:cNvPr id="7" name="Text 5"/>
          <p:cNvSpPr txBox="1"/>
          <p:nvPr/>
        </p:nvSpPr>
        <p:spPr>
          <a:xfrm>
            <a:off x="4270248" y="2560320"/>
            <a:ext cx="3657600" cy="822960"/>
          </a:xfrm>
          <a:prstGeom prst="rect">
            <a:avLst/>
          </a:prstGeom>
          <a:noFill/>
          <a:ln/>
        </p:spPr>
        <p:txBody>
          <a:bodyPr wrap="square" lIns="0" tIns="0" rIns="0" bIns="0" rtlCol="0" anchor="ctr"/>
          <a:lstStyle/>
          <a:p>
            <a:pPr algn="ctr" indent="0" marL="0">
              <a:buNone/>
            </a:pPr>
            <a:r>
              <a:rPr lang="en-US" sz="1600" b="1" dirty="0">
                <a:solidFill>
                  <a:schemeClr val="tx1"/>
                </a:solidFill>
              </a:rPr>
              <a:t>Deploy the new version</a:t>
            </a:r>
            <a:endParaRPr lang="en-US" sz="1400" dirty="0"/>
          </a:p>
          <a:p>
            <a:pPr algn="ctr" indent="0" marL="0">
              <a:buNone/>
            </a:pPr>
            <a:r>
              <a:rPr lang="en-US" sz="1300" dirty="0">
                <a:solidFill>
                  <a:schemeClr val="accent6"/>
                </a:solidFill>
                <a:latin typeface="Courier New" pitchFamily="34" charset="0"/>
                <a:ea typeface="Courier New" pitchFamily="34" charset="-122"/>
                <a:cs typeface="Courier New" pitchFamily="34" charset="-120"/>
              </a:rPr>
              <a:t>deploy.yml</a:t>
            </a:r>
            <a:endParaRPr lang="en-US" sz="1400" dirty="0"/>
          </a:p>
        </p:txBody>
      </p:sp>
      <p:sp>
        <p:nvSpPr>
          <p:cNvPr id="8" name="Flow arrow 2"/>
          <p:cNvSpPr/>
          <p:nvPr/>
        </p:nvSpPr>
        <p:spPr>
          <a:xfrm>
            <a:off x="5916168" y="3410712"/>
            <a:ext cx="365760" cy="219456"/>
          </a:xfrm>
          <a:prstGeom prst="downArrow">
            <a:avLst/>
          </a:prstGeom>
          <a:solidFill>
            <a:schemeClr val="accent1"/>
          </a:solidFill>
          <a:ln/>
        </p:spPr>
      </p:sp>
      <p:sp>
        <p:nvSpPr>
          <p:cNvPr id="9" name="Flow Health check on port 8081"/>
          <p:cNvSpPr/>
          <p:nvPr/>
        </p:nvSpPr>
        <p:spPr>
          <a:xfrm>
            <a:off x="4270248" y="3657600"/>
            <a:ext cx="3657600" cy="822960"/>
          </a:xfrm>
          <a:prstGeom prst="roundRect">
            <a:avLst>
              <a:gd name="adj" fmla="val 11111"/>
            </a:avLst>
          </a:prstGeom>
          <a:solidFill>
            <a:schemeClr val="bg1"/>
          </a:solidFill>
          <a:ln/>
          <a:effectLst>
            <a:outerShdw sx="100000" sy="100000" kx="0" ky="0" algn="bl" rotWithShape="0" blurRad="101600" dist="25400" dir="5400000">
              <a:srgbClr val="000000">
                <a:alpha val="14000"/>
              </a:srgbClr>
            </a:outerShdw>
          </a:effectLst>
        </p:spPr>
      </p:sp>
      <p:sp>
        <p:nvSpPr>
          <p:cNvPr id="10" name="Text 8"/>
          <p:cNvSpPr txBox="1"/>
          <p:nvPr/>
        </p:nvSpPr>
        <p:spPr>
          <a:xfrm>
            <a:off x="4270248" y="3657600"/>
            <a:ext cx="3657600" cy="822960"/>
          </a:xfrm>
          <a:prstGeom prst="rect">
            <a:avLst/>
          </a:prstGeom>
          <a:noFill/>
          <a:ln/>
        </p:spPr>
        <p:txBody>
          <a:bodyPr wrap="square" lIns="0" tIns="0" rIns="0" bIns="0" rtlCol="0" anchor="ctr"/>
          <a:lstStyle/>
          <a:p>
            <a:pPr algn="ctr" indent="0" marL="0">
              <a:buNone/>
            </a:pPr>
            <a:r>
              <a:rPr lang="en-US" sz="1600" b="1" dirty="0">
                <a:solidFill>
                  <a:schemeClr val="tx1"/>
                </a:solidFill>
              </a:rPr>
              <a:t>Health check on port 8081</a:t>
            </a:r>
            <a:endParaRPr lang="en-US" sz="1400" dirty="0"/>
          </a:p>
          <a:p>
            <a:pPr algn="ctr" indent="0" marL="0">
              <a:buNone/>
            </a:pPr>
            <a:r>
              <a:rPr lang="en-US" sz="1300" dirty="0">
                <a:solidFill>
                  <a:schemeClr val="accent6"/>
                </a:solidFill>
                <a:latin typeface="Courier New" pitchFamily="34" charset="0"/>
                <a:ea typeface="Courier New" pitchFamily="34" charset="-122"/>
                <a:cs typeface="Courier New" pitchFamily="34" charset="-120"/>
              </a:rPr>
              <a:t>health-check.yml</a:t>
            </a:r>
            <a:endParaRPr lang="en-US" sz="1400" dirty="0"/>
          </a:p>
        </p:txBody>
      </p:sp>
      <p:sp>
        <p:nvSpPr>
          <p:cNvPr id="11" name="Branch stem"/>
          <p:cNvSpPr/>
          <p:nvPr/>
        </p:nvSpPr>
        <p:spPr>
          <a:xfrm>
            <a:off x="6099048" y="3840480"/>
            <a:ext cx="0" cy="274320"/>
          </a:xfrm>
          <a:prstGeom prst="line">
            <a:avLst/>
          </a:prstGeom>
          <a:noFill/>
          <a:ln w="25400">
            <a:solidFill>
              <a:schemeClr val="accent6"/>
            </a:solidFill>
            <a:prstDash val="solid"/>
          </a:ln>
        </p:spPr>
      </p:sp>
      <p:sp>
        <p:nvSpPr>
          <p:cNvPr id="12" name="Branch bar"/>
          <p:cNvSpPr/>
          <p:nvPr/>
        </p:nvSpPr>
        <p:spPr>
          <a:xfrm>
            <a:off x="3246120" y="4114800"/>
            <a:ext cx="5705856" cy="0"/>
          </a:xfrm>
          <a:prstGeom prst="line">
            <a:avLst/>
          </a:prstGeom>
          <a:noFill/>
          <a:ln w="25400">
            <a:solidFill>
              <a:schemeClr val="accent6"/>
            </a:solidFill>
            <a:prstDash val="solid"/>
          </a:ln>
        </p:spPr>
      </p:sp>
      <p:sp>
        <p:nvSpPr>
          <p:cNvPr id="13" name="Fail arrow"/>
          <p:cNvSpPr/>
          <p:nvPr/>
        </p:nvSpPr>
        <p:spPr>
          <a:xfrm>
            <a:off x="3246120" y="4114800"/>
            <a:ext cx="0" cy="502920"/>
          </a:xfrm>
          <a:prstGeom prst="line">
            <a:avLst/>
          </a:prstGeom>
          <a:noFill/>
          <a:ln w="25400">
            <a:solidFill>
              <a:schemeClr val="accent4"/>
            </a:solidFill>
            <a:prstDash val="solid"/>
            <a:tailEnd type="triangle"/>
          </a:ln>
        </p:spPr>
      </p:sp>
      <p:sp>
        <p:nvSpPr>
          <p:cNvPr id="14" name="Pass arrow"/>
          <p:cNvSpPr/>
          <p:nvPr/>
        </p:nvSpPr>
        <p:spPr>
          <a:xfrm>
            <a:off x="8951976" y="4114800"/>
            <a:ext cx="0" cy="502920"/>
          </a:xfrm>
          <a:prstGeom prst="line">
            <a:avLst/>
          </a:prstGeom>
          <a:noFill/>
          <a:ln w="25400">
            <a:solidFill>
              <a:schemeClr val="accent2"/>
            </a:solidFill>
            <a:prstDash val="solid"/>
            <a:tailEnd type="triangle"/>
          </a:ln>
        </p:spPr>
      </p:sp>
      <p:sp>
        <p:nvSpPr>
          <p:cNvPr id="15" name="Fail outcome"/>
          <p:cNvSpPr/>
          <p:nvPr/>
        </p:nvSpPr>
        <p:spPr>
          <a:xfrm>
            <a:off x="548640" y="4617720"/>
            <a:ext cx="5394960" cy="1463040"/>
          </a:xfrm>
          <a:prstGeom prst="roundRect">
            <a:avLst>
              <a:gd name="adj" fmla="val 6250"/>
            </a:avLst>
          </a:prstGeom>
          <a:solidFill>
            <a:schemeClr val="accent4">
              <a:alpha val="12000"/>
            </a:schemeClr>
          </a:solidFill>
          <a:ln/>
        </p:spPr>
      </p:sp>
      <p:sp>
        <p:nvSpPr>
          <p:cNvPr id="16" name="Text 14"/>
          <p:cNvSpPr txBox="1"/>
          <p:nvPr/>
        </p:nvSpPr>
        <p:spPr>
          <a:xfrm>
            <a:off x="777240" y="4754880"/>
            <a:ext cx="4937760" cy="1234440"/>
          </a:xfrm>
          <a:prstGeom prst="rect">
            <a:avLst/>
          </a:prstGeom>
          <a:noFill/>
          <a:ln/>
        </p:spPr>
        <p:txBody>
          <a:bodyPr wrap="square" lIns="0" tIns="0" rIns="0" bIns="0" rtlCol="0" anchor="t"/>
          <a:lstStyle/>
          <a:p>
            <a:pPr indent="0" marL="0">
              <a:spcAft>
                <a:spcPts val="600"/>
              </a:spcAft>
              <a:buNone/>
            </a:pPr>
            <a:r>
              <a:rPr lang="en-US" sz="1800" b="1" dirty="0">
                <a:solidFill>
                  <a:schemeClr val="accent4"/>
                </a:solidFill>
              </a:rPr>
              <a:t>Failure or 5xx error</a:t>
            </a:r>
            <a:endParaRPr lang="en-US" sz="1400" dirty="0"/>
          </a:p>
          <a:p>
            <a:pPr indent="0" marL="0">
              <a:spcAft>
                <a:spcPts val="600"/>
              </a:spcAft>
              <a:buNone/>
            </a:pPr>
            <a:r>
              <a:rPr lang="en-US" sz="1400" dirty="0">
                <a:solidFill>
                  <a:schemeClr val="tx1"/>
                </a:solidFill>
              </a:rPr>
              <a:t>rollback.yml restores the backup JAR, restarts the service and logs the incident.</a:t>
            </a:r>
            <a:endParaRPr lang="en-US" sz="1400" dirty="0"/>
          </a:p>
        </p:txBody>
      </p:sp>
      <p:sp>
        <p:nvSpPr>
          <p:cNvPr id="17" name="Pass outcome"/>
          <p:cNvSpPr/>
          <p:nvPr/>
        </p:nvSpPr>
        <p:spPr>
          <a:xfrm>
            <a:off x="6245352" y="4617720"/>
            <a:ext cx="5394960" cy="1463040"/>
          </a:xfrm>
          <a:prstGeom prst="roundRect">
            <a:avLst>
              <a:gd name="adj" fmla="val 6250"/>
            </a:avLst>
          </a:prstGeom>
          <a:solidFill>
            <a:schemeClr val="accent2">
              <a:alpha val="12000"/>
            </a:schemeClr>
          </a:solidFill>
          <a:ln/>
        </p:spPr>
      </p:sp>
      <p:sp>
        <p:nvSpPr>
          <p:cNvPr id="18" name="Text 16"/>
          <p:cNvSpPr txBox="1"/>
          <p:nvPr/>
        </p:nvSpPr>
        <p:spPr>
          <a:xfrm>
            <a:off x="6473952" y="4754880"/>
            <a:ext cx="4937760" cy="1234440"/>
          </a:xfrm>
          <a:prstGeom prst="rect">
            <a:avLst/>
          </a:prstGeom>
          <a:noFill/>
          <a:ln/>
        </p:spPr>
        <p:txBody>
          <a:bodyPr wrap="square" lIns="0" tIns="0" rIns="0" bIns="0" rtlCol="0" anchor="t"/>
          <a:lstStyle/>
          <a:p>
            <a:pPr indent="0" marL="0">
              <a:spcAft>
                <a:spcPts val="600"/>
              </a:spcAft>
              <a:buNone/>
            </a:pPr>
            <a:r>
              <a:rPr lang="en-US" sz="1800" b="1" dirty="0">
                <a:solidFill>
                  <a:schemeClr val="accent2"/>
                </a:solidFill>
              </a:rPr>
              <a:t>200 OK</a:t>
            </a:r>
            <a:endParaRPr lang="en-US" sz="1400" dirty="0"/>
          </a:p>
          <a:p>
            <a:pPr indent="0" marL="0">
              <a:spcAft>
                <a:spcPts val="600"/>
              </a:spcAft>
              <a:buNone/>
            </a:pPr>
            <a:r>
              <a:rPr lang="en-US" sz="1400" dirty="0">
                <a:solidFill>
                  <a:schemeClr val="tx1"/>
                </a:solidFill>
              </a:rPr>
              <a:t>The new version stays live. No manual action is needed.</a:t>
            </a:r>
            <a:endParaRPr lang="en-US" sz="1400" dirty="0"/>
          </a:p>
        </p:txBody>
      </p:sp>
      <p:sp>
        <p:nvSpPr>
          <p:cNvPr id="19" name="Stat recovery"/>
          <p:cNvSpPr/>
          <p:nvPr/>
        </p:nvSpPr>
        <p:spPr>
          <a:xfrm>
            <a:off x="548640" y="1463040"/>
            <a:ext cx="3383280" cy="2286000"/>
          </a:xfrm>
          <a:prstGeom prst="roundRect">
            <a:avLst>
              <a:gd name="adj" fmla="val 4000"/>
            </a:avLst>
          </a:prstGeom>
          <a:solidFill>
            <a:schemeClr val="tx1"/>
          </a:solidFill>
          <a:ln/>
          <a:effectLst>
            <a:outerShdw sx="100000" sy="100000" kx="0" ky="0" algn="bl" rotWithShape="0" blurRad="101600" dist="25400" dir="5400000">
              <a:srgbClr val="000000">
                <a:alpha val="14000"/>
              </a:srgbClr>
            </a:outerShdw>
          </a:effectLst>
        </p:spPr>
      </p:sp>
      <p:sp>
        <p:nvSpPr>
          <p:cNvPr id="20" name="Text 18"/>
          <p:cNvSpPr txBox="1"/>
          <p:nvPr/>
        </p:nvSpPr>
        <p:spPr>
          <a:xfrm>
            <a:off x="548640" y="1691640"/>
            <a:ext cx="3383280" cy="1005840"/>
          </a:xfrm>
          <a:prstGeom prst="rect">
            <a:avLst/>
          </a:prstGeom>
          <a:noFill/>
          <a:ln/>
        </p:spPr>
        <p:txBody>
          <a:bodyPr wrap="square" lIns="0" tIns="0" rIns="0" bIns="0" rtlCol="0" anchor="ctr"/>
          <a:lstStyle/>
          <a:p>
            <a:pPr algn="ctr" indent="0" marL="0">
              <a:buNone/>
            </a:pPr>
            <a:r>
              <a:rPr lang="en-US" sz="4800" b="1" dirty="0">
                <a:solidFill>
                  <a:schemeClr val="bg1"/>
                </a:solidFill>
              </a:rPr>
              <a:t>&lt; 15 s</a:t>
            </a:r>
            <a:endParaRPr lang="en-US" sz="4800" dirty="0"/>
          </a:p>
        </p:txBody>
      </p:sp>
      <p:sp>
        <p:nvSpPr>
          <p:cNvPr id="21" name="Text 19"/>
          <p:cNvSpPr txBox="1"/>
          <p:nvPr/>
        </p:nvSpPr>
        <p:spPr>
          <a:xfrm>
            <a:off x="777240" y="2743200"/>
            <a:ext cx="2926080" cy="731520"/>
          </a:xfrm>
          <a:prstGeom prst="rect">
            <a:avLst/>
          </a:prstGeom>
          <a:noFill/>
          <a:ln/>
        </p:spPr>
        <p:txBody>
          <a:bodyPr wrap="square" lIns="0" tIns="0" rIns="0" bIns="0" rtlCol="0" anchor="t"/>
          <a:lstStyle/>
          <a:p>
            <a:pPr algn="ctr" indent="0" marL="0">
              <a:buNone/>
            </a:pPr>
            <a:r>
              <a:rPr lang="en-US" sz="1500" dirty="0">
                <a:solidFill>
                  <a:schemeClr val="accent3"/>
                </a:solidFill>
              </a:rPr>
              <a:t>to restore the last good version</a:t>
            </a:r>
            <a:endParaRPr lang="en-US" sz="1500" dirty="0"/>
          </a:p>
        </p:txBody>
      </p:sp>
      <p:sp>
        <p:nvSpPr>
          <p:cNvPr id="22" name="Stat manual"/>
          <p:cNvSpPr/>
          <p:nvPr/>
        </p:nvSpPr>
        <p:spPr>
          <a:xfrm>
            <a:off x="8257032" y="1463040"/>
            <a:ext cx="3383280" cy="2286000"/>
          </a:xfrm>
          <a:prstGeom prst="roundRect">
            <a:avLst>
              <a:gd name="adj" fmla="val 4000"/>
            </a:avLst>
          </a:prstGeom>
          <a:solidFill>
            <a:schemeClr val="accent1"/>
          </a:solidFill>
          <a:ln/>
          <a:effectLst>
            <a:outerShdw sx="100000" sy="100000" kx="0" ky="0" algn="bl" rotWithShape="0" blurRad="101600" dist="25400" dir="5400000">
              <a:srgbClr val="000000">
                <a:alpha val="14000"/>
              </a:srgbClr>
            </a:outerShdw>
          </a:effectLst>
        </p:spPr>
      </p:sp>
      <p:sp>
        <p:nvSpPr>
          <p:cNvPr id="23" name="Text 21"/>
          <p:cNvSpPr txBox="1"/>
          <p:nvPr/>
        </p:nvSpPr>
        <p:spPr>
          <a:xfrm>
            <a:off x="8257032" y="1691640"/>
            <a:ext cx="3383280" cy="1005840"/>
          </a:xfrm>
          <a:prstGeom prst="rect">
            <a:avLst/>
          </a:prstGeom>
          <a:noFill/>
          <a:ln/>
        </p:spPr>
        <p:txBody>
          <a:bodyPr wrap="square" lIns="0" tIns="0" rIns="0" bIns="0" rtlCol="0" anchor="ctr"/>
          <a:lstStyle/>
          <a:p>
            <a:pPr algn="ctr" indent="0" marL="0">
              <a:buNone/>
            </a:pPr>
            <a:r>
              <a:rPr lang="en-US" sz="4800" b="1" dirty="0">
                <a:solidFill>
                  <a:schemeClr val="bg1"/>
                </a:solidFill>
              </a:rPr>
              <a:t>0</a:t>
            </a:r>
            <a:endParaRPr lang="en-US" sz="4800" dirty="0"/>
          </a:p>
        </p:txBody>
      </p:sp>
      <p:sp>
        <p:nvSpPr>
          <p:cNvPr id="24" name="Text 22"/>
          <p:cNvSpPr txBox="1"/>
          <p:nvPr/>
        </p:nvSpPr>
        <p:spPr>
          <a:xfrm>
            <a:off x="8485632" y="2743200"/>
            <a:ext cx="2926080" cy="731520"/>
          </a:xfrm>
          <a:prstGeom prst="rect">
            <a:avLst/>
          </a:prstGeom>
          <a:noFill/>
          <a:ln/>
        </p:spPr>
        <p:txBody>
          <a:bodyPr wrap="square" lIns="0" tIns="0" rIns="0" bIns="0" rtlCol="0" anchor="t"/>
          <a:lstStyle/>
          <a:p>
            <a:pPr algn="ctr" indent="0" marL="0">
              <a:buNone/>
            </a:pPr>
            <a:r>
              <a:rPr lang="en-US" sz="1500" dirty="0">
                <a:solidFill>
                  <a:schemeClr val="bg1"/>
                </a:solidFill>
              </a:rPr>
              <a:t>manual steps to recover</a:t>
            </a:r>
            <a:endParaRPr lang="en-US" sz="15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68680"/>
          </a:xfrm>
          <a:prstGeom prst="rect">
            <a:avLst/>
          </a:prstGeom>
          <a:noFill/>
          <a:ln/>
        </p:spPr>
        <p:txBody>
          <a:bodyPr wrap="square" lIns="0" tIns="0" rIns="0" bIns="0" rtlCol="0" anchor="ctr"/>
          <a:lstStyle/>
          <a:p>
            <a:pPr indent="0" marL="0">
              <a:buNone/>
            </a:pPr>
            <a:r>
              <a:rPr lang="en-US" sz="3400" b="1" dirty="0">
                <a:solidFill>
                  <a:schemeClr val="tx1"/>
                </a:solidFill>
              </a:rPr>
              <a:t>Results and DevOps impact</a:t>
            </a:r>
            <a:endParaRPr lang="en-US" sz="3400" dirty="0"/>
          </a:p>
        </p:txBody>
      </p:sp>
      <p:sp>
        <p:nvSpPr>
          <p:cNvPr id="3" name="Stat shorter claim cycle"/>
          <p:cNvSpPr/>
          <p:nvPr/>
        </p:nvSpPr>
        <p:spPr>
          <a:xfrm>
            <a:off x="548640" y="1417320"/>
            <a:ext cx="3566160" cy="1097280"/>
          </a:xfrm>
          <a:prstGeom prst="roundRect">
            <a:avLst>
              <a:gd name="adj" fmla="val 8333"/>
            </a:avLst>
          </a:prstGeom>
          <a:solidFill>
            <a:schemeClr val="accent1"/>
          </a:solidFill>
          <a:ln/>
          <a:effectLst>
            <a:outerShdw sx="100000" sy="100000" kx="0" ky="0" algn="bl" rotWithShape="0" blurRad="101600" dist="25400" dir="5400000">
              <a:srgbClr val="000000">
                <a:alpha val="14000"/>
              </a:srgbClr>
            </a:outerShdw>
          </a:effectLst>
        </p:spPr>
      </p:sp>
      <p:sp>
        <p:nvSpPr>
          <p:cNvPr id="4" name="Text 2"/>
          <p:cNvSpPr txBox="1"/>
          <p:nvPr/>
        </p:nvSpPr>
        <p:spPr>
          <a:xfrm>
            <a:off x="777240" y="1417320"/>
            <a:ext cx="1737360" cy="1097280"/>
          </a:xfrm>
          <a:prstGeom prst="rect">
            <a:avLst/>
          </a:prstGeom>
          <a:noFill/>
          <a:ln/>
        </p:spPr>
        <p:txBody>
          <a:bodyPr wrap="square" lIns="0" tIns="0" rIns="0" bIns="0" rtlCol="0" anchor="ctr"/>
          <a:lstStyle/>
          <a:p>
            <a:pPr indent="0" marL="0">
              <a:buNone/>
            </a:pPr>
            <a:r>
              <a:rPr lang="en-US" sz="3600" b="1" dirty="0">
                <a:solidFill>
                  <a:schemeClr val="bg1"/>
                </a:solidFill>
              </a:rPr>
              <a:t>99%+</a:t>
            </a:r>
            <a:endParaRPr lang="en-US" sz="3600" dirty="0"/>
          </a:p>
        </p:txBody>
      </p:sp>
      <p:sp>
        <p:nvSpPr>
          <p:cNvPr id="5" name="Text 3"/>
          <p:cNvSpPr txBox="1"/>
          <p:nvPr/>
        </p:nvSpPr>
        <p:spPr>
          <a:xfrm>
            <a:off x="2468880" y="1417320"/>
            <a:ext cx="1508760" cy="1097280"/>
          </a:xfrm>
          <a:prstGeom prst="rect">
            <a:avLst/>
          </a:prstGeom>
          <a:noFill/>
          <a:ln/>
        </p:spPr>
        <p:txBody>
          <a:bodyPr wrap="square" lIns="0" tIns="0" rIns="0" bIns="0" rtlCol="0" anchor="ctr"/>
          <a:lstStyle/>
          <a:p>
            <a:pPr indent="0" marL="0">
              <a:buNone/>
            </a:pPr>
            <a:r>
              <a:rPr lang="en-US" sz="1400" dirty="0">
                <a:solidFill>
                  <a:schemeClr val="bg1"/>
                </a:solidFill>
              </a:rPr>
              <a:t>shorter claim cycle</a:t>
            </a:r>
            <a:endParaRPr lang="en-US" sz="1400" dirty="0"/>
          </a:p>
        </p:txBody>
      </p:sp>
      <p:sp>
        <p:nvSpPr>
          <p:cNvPr id="6" name="Stat build and packaging"/>
          <p:cNvSpPr/>
          <p:nvPr/>
        </p:nvSpPr>
        <p:spPr>
          <a:xfrm>
            <a:off x="4311396" y="1417320"/>
            <a:ext cx="3566160" cy="1097280"/>
          </a:xfrm>
          <a:prstGeom prst="roundRect">
            <a:avLst>
              <a:gd name="adj" fmla="val 8333"/>
            </a:avLst>
          </a:prstGeom>
          <a:solidFill>
            <a:schemeClr val="accent2"/>
          </a:solidFill>
          <a:ln/>
          <a:effectLst>
            <a:outerShdw sx="100000" sy="100000" kx="0" ky="0" algn="bl" rotWithShape="0" blurRad="101600" dist="25400" dir="5400000">
              <a:srgbClr val="000000">
                <a:alpha val="14000"/>
              </a:srgbClr>
            </a:outerShdw>
          </a:effectLst>
        </p:spPr>
      </p:sp>
      <p:sp>
        <p:nvSpPr>
          <p:cNvPr id="7" name="Text 5"/>
          <p:cNvSpPr txBox="1"/>
          <p:nvPr/>
        </p:nvSpPr>
        <p:spPr>
          <a:xfrm>
            <a:off x="4539996" y="1417320"/>
            <a:ext cx="1737360" cy="1097280"/>
          </a:xfrm>
          <a:prstGeom prst="rect">
            <a:avLst/>
          </a:prstGeom>
          <a:noFill/>
          <a:ln/>
        </p:spPr>
        <p:txBody>
          <a:bodyPr wrap="square" lIns="0" tIns="0" rIns="0" bIns="0" rtlCol="0" anchor="ctr"/>
          <a:lstStyle/>
          <a:p>
            <a:pPr indent="0" marL="0">
              <a:buNone/>
            </a:pPr>
            <a:r>
              <a:rPr lang="en-US" sz="3600" b="1" dirty="0">
                <a:solidFill>
                  <a:schemeClr val="bg1"/>
                </a:solidFill>
              </a:rPr>
              <a:t>28 s</a:t>
            </a:r>
            <a:endParaRPr lang="en-US" sz="3600" dirty="0"/>
          </a:p>
        </p:txBody>
      </p:sp>
      <p:sp>
        <p:nvSpPr>
          <p:cNvPr id="8" name="Text 6"/>
          <p:cNvSpPr txBox="1"/>
          <p:nvPr/>
        </p:nvSpPr>
        <p:spPr>
          <a:xfrm>
            <a:off x="6231636" y="1417320"/>
            <a:ext cx="1508760" cy="1097280"/>
          </a:xfrm>
          <a:prstGeom prst="rect">
            <a:avLst/>
          </a:prstGeom>
          <a:noFill/>
          <a:ln/>
        </p:spPr>
        <p:txBody>
          <a:bodyPr wrap="square" lIns="0" tIns="0" rIns="0" bIns="0" rtlCol="0" anchor="ctr"/>
          <a:lstStyle/>
          <a:p>
            <a:pPr indent="0" marL="0">
              <a:buNone/>
            </a:pPr>
            <a:r>
              <a:rPr lang="en-US" sz="1400" dirty="0">
                <a:solidFill>
                  <a:schemeClr val="bg1"/>
                </a:solidFill>
              </a:rPr>
              <a:t>build and packaging</a:t>
            </a:r>
            <a:endParaRPr lang="en-US" sz="1400" dirty="0"/>
          </a:p>
        </p:txBody>
      </p:sp>
      <p:sp>
        <p:nvSpPr>
          <p:cNvPr id="9" name="Stat rollback recovery"/>
          <p:cNvSpPr/>
          <p:nvPr/>
        </p:nvSpPr>
        <p:spPr>
          <a:xfrm>
            <a:off x="8074152" y="1417320"/>
            <a:ext cx="3566160" cy="1097280"/>
          </a:xfrm>
          <a:prstGeom prst="roundRect">
            <a:avLst>
              <a:gd name="adj" fmla="val 8333"/>
            </a:avLst>
          </a:prstGeom>
          <a:solidFill>
            <a:schemeClr val="accent1"/>
          </a:solidFill>
          <a:ln/>
          <a:effectLst>
            <a:outerShdw sx="100000" sy="100000" kx="0" ky="0" algn="bl" rotWithShape="0" blurRad="101600" dist="25400" dir="5400000">
              <a:srgbClr val="000000">
                <a:alpha val="14000"/>
              </a:srgbClr>
            </a:outerShdw>
          </a:effectLst>
        </p:spPr>
      </p:sp>
      <p:sp>
        <p:nvSpPr>
          <p:cNvPr id="10" name="Text 8"/>
          <p:cNvSpPr txBox="1"/>
          <p:nvPr/>
        </p:nvSpPr>
        <p:spPr>
          <a:xfrm>
            <a:off x="8302752" y="1417320"/>
            <a:ext cx="1737360" cy="1097280"/>
          </a:xfrm>
          <a:prstGeom prst="rect">
            <a:avLst/>
          </a:prstGeom>
          <a:noFill/>
          <a:ln/>
        </p:spPr>
        <p:txBody>
          <a:bodyPr wrap="square" lIns="0" tIns="0" rIns="0" bIns="0" rtlCol="0" anchor="ctr"/>
          <a:lstStyle/>
          <a:p>
            <a:pPr indent="0" marL="0">
              <a:buNone/>
            </a:pPr>
            <a:r>
              <a:rPr lang="en-US" sz="3600" b="1" dirty="0">
                <a:solidFill>
                  <a:schemeClr val="bg1"/>
                </a:solidFill>
              </a:rPr>
              <a:t>&lt; 15 s</a:t>
            </a:r>
            <a:endParaRPr lang="en-US" sz="3600" dirty="0"/>
          </a:p>
        </p:txBody>
      </p:sp>
      <p:sp>
        <p:nvSpPr>
          <p:cNvPr id="11" name="Text 9"/>
          <p:cNvSpPr txBox="1"/>
          <p:nvPr/>
        </p:nvSpPr>
        <p:spPr>
          <a:xfrm>
            <a:off x="9994392" y="1417320"/>
            <a:ext cx="1508760" cy="1097280"/>
          </a:xfrm>
          <a:prstGeom prst="rect">
            <a:avLst/>
          </a:prstGeom>
          <a:noFill/>
          <a:ln/>
        </p:spPr>
        <p:txBody>
          <a:bodyPr wrap="square" lIns="0" tIns="0" rIns="0" bIns="0" rtlCol="0" anchor="ctr"/>
          <a:lstStyle/>
          <a:p>
            <a:pPr indent="0" marL="0">
              <a:buNone/>
            </a:pPr>
            <a:r>
              <a:rPr lang="en-US" sz="1400" dirty="0">
                <a:solidFill>
                  <a:schemeClr val="bg1"/>
                </a:solidFill>
              </a:rPr>
              <a:t>rollback recovery</a:t>
            </a:r>
            <a:endParaRPr lang="en-US" sz="1400" dirty="0"/>
          </a:p>
        </p:txBody>
      </p:sp>
      <p:graphicFrame>
        <p:nvGraphicFramePr>
          <p:cNvPr id="14" name="Results table"/>
          <p:cNvGraphicFramePr>
            <a:graphicFrameLocks noGrp="1"/>
          </p:cNvGraphicFramePr>
          <p:nvPr>
            <p:extLst>
              <p:ext uri="{D42A27DB-BD31-4B8C-83A1-F6EECF244321}">
                <p14:modId xmlns:p14="http://schemas.microsoft.com/office/powerpoint/2010/main" val="1579011935"/>
              </p:ext>
            </p:extLst>
          </p:nvPr>
        </p:nvGraphicFramePr>
        <p:xfrm>
          <a:off x="548640" y="2788920"/>
          <a:ext cx="11091672" cy="914400"/>
        </p:xfrm>
        <a:graphic>
          <a:graphicData uri="http://schemas.openxmlformats.org/drawingml/2006/table">
            <a:tbl>
              <a:tblPr/>
              <a:tblGrid>
                <a:gridCol w="3291840"/>
                <a:gridCol w="2468880"/>
                <a:gridCol w="2651760"/>
                <a:gridCol w="2679192"/>
              </a:tblGrid>
              <a:tr h="512064">
                <a:tc>
                  <a:txBody>
                    <a:bodyPr/>
                    <a:lstStyle/>
                    <a:p>
                      <a:pPr indent="0" marL="0">
                        <a:buNone/>
                      </a:pPr>
                      <a:r>
                        <a:rPr lang="en-US" sz="1400" b="1" dirty="0">
                          <a:solidFill>
                            <a:srgbClr val="FFFFFF"/>
                          </a:solidFill>
                        </a:rPr>
                        <a:t>Metric</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0F172A"/>
                    </a:solidFill>
                  </a:tcPr>
                </a:tc>
                <a:tc>
                  <a:txBody>
                    <a:bodyPr/>
                    <a:lstStyle/>
                    <a:p>
                      <a:pPr indent="0" marL="0">
                        <a:buNone/>
                      </a:pPr>
                      <a:r>
                        <a:rPr lang="en-US" sz="1400" b="1" dirty="0">
                          <a:solidFill>
                            <a:srgbClr val="FFFFFF"/>
                          </a:solidFill>
                        </a:rPr>
                        <a:t>Manual flow</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0F172A"/>
                    </a:solidFill>
                  </a:tcPr>
                </a:tc>
                <a:tc>
                  <a:txBody>
                    <a:bodyPr/>
                    <a:lstStyle/>
                    <a:p>
                      <a:pPr indent="0" marL="0">
                        <a:buNone/>
                      </a:pPr>
                      <a:r>
                        <a:rPr lang="en-US" sz="1400" b="1" dirty="0">
                          <a:solidFill>
                            <a:srgbClr val="FFFFFF"/>
                          </a:solidFill>
                        </a:rPr>
                        <a:t>DevOps pipeline</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0F172A"/>
                    </a:solidFill>
                  </a:tcPr>
                </a:tc>
                <a:tc>
                  <a:txBody>
                    <a:bodyPr/>
                    <a:lstStyle/>
                    <a:p>
                      <a:pPr indent="0" marL="0">
                        <a:buNone/>
                      </a:pPr>
                      <a:r>
                        <a:rPr lang="en-US" sz="1400" b="1" dirty="0">
                          <a:solidFill>
                            <a:srgbClr val="FFFFFF"/>
                          </a:solidFill>
                        </a:rPr>
                        <a:t>Improvement</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0F172A"/>
                    </a:solidFill>
                  </a:tcPr>
                </a:tc>
              </a:tr>
              <a:tr h="512064">
                <a:tc>
                  <a:txBody>
                    <a:bodyPr/>
                    <a:lstStyle/>
                    <a:p>
                      <a:pPr indent="0" marL="0">
                        <a:buNone/>
                      </a:pPr>
                      <a:r>
                        <a:rPr lang="en-US" sz="1400" b="1" dirty="0">
                          <a:solidFill>
                            <a:srgbClr val="059669"/>
                          </a:solidFill>
                        </a:rPr>
                        <a:t>Claim processing cycle</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2E8F0"/>
                    </a:solidFill>
                  </a:tcPr>
                </a:tc>
                <a:tc>
                  <a:txBody>
                    <a:bodyPr/>
                    <a:lstStyle/>
                    <a:p>
                      <a:pPr indent="0" marL="0">
                        <a:buNone/>
                      </a:pPr>
                      <a:r>
                        <a:rPr lang="en-US" sz="1400" dirty="0">
                          <a:solidFill>
                            <a:srgbClr val="0F172A"/>
                          </a:solidFill>
                        </a:rPr>
                        <a:t>15-20 days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2E8F0"/>
                    </a:solidFill>
                  </a:tcPr>
                </a:tc>
                <a:tc>
                  <a:txBody>
                    <a:bodyPr/>
                    <a:lstStyle/>
                    <a:p>
                      <a:pPr indent="0" marL="0">
                        <a:buNone/>
                      </a:pPr>
                      <a:r>
                        <a:rPr lang="en-US" sz="1400" dirty="0">
                          <a:solidFill>
                            <a:srgbClr val="0F172A"/>
                          </a:solidFill>
                        </a:rPr>
                        <a:t>3-5 minutes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2E8F0"/>
                    </a:solidFill>
                  </a:tcPr>
                </a:tc>
                <a:tc>
                  <a:txBody>
                    <a:bodyPr/>
                    <a:lstStyle/>
                    <a:p>
                      <a:pPr indent="0" marL="0">
                        <a:buNone/>
                      </a:pPr>
                      <a:r>
                        <a:rPr lang="en-US" sz="1400" b="1" dirty="0">
                          <a:solidFill>
                            <a:srgbClr val="059669"/>
                          </a:solidFill>
                        </a:rPr>
                        <a:t>99%+ reduction</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2E8F0"/>
                    </a:solidFill>
                  </a:tcPr>
                </a:tc>
              </a:tr>
              <a:tr h="512064">
                <a:tc>
                  <a:txBody>
                    <a:bodyPr/>
                    <a:lstStyle/>
                    <a:p>
                      <a:pPr indent="0" marL="0">
                        <a:buNone/>
                      </a:pPr>
                      <a:r>
                        <a:rPr lang="en-US" sz="1400" b="1" dirty="0">
                          <a:solidFill>
                            <a:srgbClr val="059669"/>
                          </a:solidFill>
                        </a:rPr>
                        <a:t>Build and packaging</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0F172A"/>
                          </a:solidFill>
                        </a:rPr>
                        <a:t>10-15 min</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0F172A"/>
                          </a:solidFill>
                        </a:rPr>
                        <a:t>28 seconds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b="1" dirty="0">
                          <a:solidFill>
                            <a:srgbClr val="059669"/>
                          </a:solidFill>
                        </a:rPr>
                        <a:t>95% faster</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512064">
                <a:tc>
                  <a:txBody>
                    <a:bodyPr/>
                    <a:lstStyle/>
                    <a:p>
                      <a:pPr indent="0" marL="0">
                        <a:buNone/>
                      </a:pPr>
                      <a:r>
                        <a:rPr lang="en-US" sz="1400" b="1" dirty="0">
                          <a:solidFill>
                            <a:srgbClr val="059669"/>
                          </a:solidFill>
                        </a:rPr>
                        <a:t>Regression testing</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2E8F0"/>
                    </a:solidFill>
                  </a:tcPr>
                </a:tc>
                <a:tc>
                  <a:txBody>
                    <a:bodyPr/>
                    <a:lstStyle/>
                    <a:p>
                      <a:pPr indent="0" marL="0">
                        <a:buNone/>
                      </a:pPr>
                      <a:r>
                        <a:rPr lang="en-US" sz="1400" dirty="0">
                          <a:solidFill>
                            <a:srgbClr val="0F172A"/>
                          </a:solidFill>
                        </a:rPr>
                        <a:t>2-3 hours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2E8F0"/>
                    </a:solidFill>
                  </a:tcPr>
                </a:tc>
                <a:tc>
                  <a:txBody>
                    <a:bodyPr/>
                    <a:lstStyle/>
                    <a:p>
                      <a:pPr indent="0" marL="0">
                        <a:buNone/>
                      </a:pPr>
                      <a:r>
                        <a:rPr lang="en-US" sz="1400" dirty="0">
                          <a:solidFill>
                            <a:srgbClr val="0F172A"/>
                          </a:solidFill>
                        </a:rPr>
                        <a:t>11.4 seconds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2E8F0"/>
                    </a:solidFill>
                  </a:tcPr>
                </a:tc>
                <a:tc>
                  <a:txBody>
                    <a:bodyPr/>
                    <a:lstStyle/>
                    <a:p>
                      <a:pPr indent="0" marL="0">
                        <a:buNone/>
                      </a:pPr>
                      <a:r>
                        <a:rPr lang="en-US" sz="1400" b="1" dirty="0">
                          <a:solidFill>
                            <a:srgbClr val="059669"/>
                          </a:solidFill>
                        </a:rPr>
                        <a:t>Fully automated</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2E8F0"/>
                    </a:solidFill>
                  </a:tcPr>
                </a:tc>
              </a:tr>
              <a:tr h="512064">
                <a:tc>
                  <a:txBody>
                    <a:bodyPr/>
                    <a:lstStyle/>
                    <a:p>
                      <a:pPr indent="0" marL="0">
                        <a:buNone/>
                      </a:pPr>
                      <a:r>
                        <a:rPr lang="en-US" sz="1400" b="1" dirty="0">
                          <a:solidFill>
                            <a:srgbClr val="059669"/>
                          </a:solidFill>
                        </a:rPr>
                        <a:t>Deployment downtime</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0F172A"/>
                          </a:solidFill>
                        </a:rPr>
                        <a:t>20-30 min</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0F172A"/>
                          </a:solidFill>
                        </a:rPr>
                        <a:t>&lt; 15 seconds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b="1" dirty="0">
                          <a:solidFill>
                            <a:srgbClr val="059669"/>
                          </a:solidFill>
                        </a:rPr>
                        <a:t>90% less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512064">
                <a:tc>
                  <a:txBody>
                    <a:bodyPr/>
                    <a:lstStyle/>
                    <a:p>
                      <a:pPr indent="0" marL="0">
                        <a:buNone/>
                      </a:pPr>
                      <a:r>
                        <a:rPr lang="en-US" sz="1400" b="1" dirty="0">
                          <a:solidFill>
                            <a:srgbClr val="059669"/>
                          </a:solidFill>
                        </a:rPr>
                        <a:t>Rollback recovery</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2E8F0"/>
                    </a:solidFill>
                  </a:tcPr>
                </a:tc>
                <a:tc>
                  <a:txBody>
                    <a:bodyPr/>
                    <a:lstStyle/>
                    <a:p>
                      <a:pPr indent="0" marL="0">
                        <a:buNone/>
                      </a:pPr>
                      <a:r>
                        <a:rPr lang="en-US" sz="1400" dirty="0">
                          <a:solidFill>
                            <a:srgbClr val="0F172A"/>
                          </a:solidFill>
                        </a:rPr>
                        <a:t>Hours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2E8F0"/>
                    </a:solidFill>
                  </a:tcPr>
                </a:tc>
                <a:tc>
                  <a:txBody>
                    <a:bodyPr/>
                    <a:lstStyle/>
                    <a:p>
                      <a:pPr indent="0" marL="0">
                        <a:buNone/>
                      </a:pPr>
                      <a:r>
                        <a:rPr lang="en-US" sz="1400" dirty="0">
                          <a:solidFill>
                            <a:srgbClr val="0F172A"/>
                          </a:solidFill>
                        </a:rPr>
                        <a:t>&lt; 15 seconds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2E8F0"/>
                    </a:solidFill>
                  </a:tcPr>
                </a:tc>
                <a:tc>
                  <a:txBody>
                    <a:bodyPr/>
                    <a:lstStyle/>
                    <a:p>
                      <a:pPr indent="0" marL="0">
                        <a:buNone/>
                      </a:pPr>
                      <a:r>
                        <a:rPr lang="en-US" sz="1400" b="1" dirty="0">
                          <a:solidFill>
                            <a:srgbClr val="059669"/>
                          </a:solidFill>
                        </a:rPr>
                        <a:t>Self-healing</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2E8F0"/>
                    </a:solidFill>
                  </a:tcPr>
                </a:tc>
              </a:tr>
            </a:tbl>
          </a:graphicData>
        </a:graphic>
      </p:graphicFrame>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68680"/>
          </a:xfrm>
          <a:prstGeom prst="rect">
            <a:avLst/>
          </a:prstGeom>
          <a:noFill/>
          <a:ln/>
        </p:spPr>
        <p:txBody>
          <a:bodyPr wrap="square" lIns="0" tIns="0" rIns="0" bIns="0" rtlCol="0" anchor="ctr"/>
          <a:lstStyle/>
          <a:p>
            <a:pPr indent="0" marL="0">
              <a:buNone/>
            </a:pPr>
            <a:r>
              <a:rPr lang="en-US" sz="3400" b="1" dirty="0">
                <a:solidFill>
                  <a:schemeClr val="tx1"/>
                </a:solidFill>
              </a:rPr>
              <a:t>Live portal and pipeline demo</a:t>
            </a:r>
            <a:endParaRPr lang="en-US" sz="3400" dirty="0"/>
          </a:p>
        </p:txBody>
      </p:sp>
      <p:sp>
        <p:nvSpPr>
          <p:cNvPr id="3" name="Demo card Customer claim form"/>
          <p:cNvSpPr/>
          <p:nvPr/>
        </p:nvSpPr>
        <p:spPr>
          <a:xfrm>
            <a:off x="548640" y="1463040"/>
            <a:ext cx="5394960" cy="2286000"/>
          </a:xfrm>
          <a:prstGeom prst="roundRect">
            <a:avLst>
              <a:gd name="adj" fmla="val 4000"/>
            </a:avLst>
          </a:prstGeom>
          <a:solidFill>
            <a:schemeClr val="bg1"/>
          </a:solidFill>
          <a:ln/>
          <a:effectLst>
            <a:outerShdw sx="100000" sy="100000" kx="0" ky="0" algn="bl" rotWithShape="0" blurRad="101600" dist="25400" dir="5400000">
              <a:srgbClr val="000000">
                <a:alpha val="14000"/>
              </a:srgbClr>
            </a:outerShdw>
          </a:effectLst>
        </p:spPr>
      </p:sp>
      <p:sp>
        <p:nvSpPr>
          <p:cNvPr id="4" name="Screenshot frame Customer claim form"/>
          <p:cNvSpPr/>
          <p:nvPr/>
        </p:nvSpPr>
        <p:spPr>
          <a:xfrm>
            <a:off x="777240" y="1691640"/>
            <a:ext cx="2468880" cy="1828800"/>
          </a:xfrm>
          <a:prstGeom prst="roundRect">
            <a:avLst>
              <a:gd name="adj" fmla="val 4000"/>
            </a:avLst>
          </a:prstGeom>
          <a:solidFill>
            <a:schemeClr val="accent1">
              <a:alpha val="10000"/>
            </a:schemeClr>
          </a:solidFill>
          <a:ln w="12700">
            <a:solidFill>
              <a:schemeClr val="accent1"/>
            </a:solidFill>
            <a:prstDash val="dash"/>
          </a:ln>
        </p:spPr>
      </p:sp>
      <p:pic>
        <p:nvPicPr>
          <p:cNvPr id="5" name="Frame icon Customer claim form" descr="Customer claim form">    </p:cNvPr>
          <p:cNvPicPr>
            <a:picLocks noChangeAspect="1"/>
          </p:cNvPicPr>
          <p:nvPr/>
        </p:nvPicPr>
        <p:blipFill>
          <a:blip r:embed="rId1"/>
          <a:stretch>
            <a:fillRect/>
          </a:stretch>
        </p:blipFill>
        <p:spPr>
          <a:xfrm>
            <a:off x="1691640" y="2103120"/>
            <a:ext cx="640080" cy="640080"/>
          </a:xfrm>
          <a:prstGeom prst="rect">
            <a:avLst/>
          </a:prstGeom>
        </p:spPr>
      </p:pic>
      <p:sp>
        <p:nvSpPr>
          <p:cNvPr id="6" name="Text 3"/>
          <p:cNvSpPr txBox="1"/>
          <p:nvPr/>
        </p:nvSpPr>
        <p:spPr>
          <a:xfrm>
            <a:off x="822960" y="2926080"/>
            <a:ext cx="2377440" cy="457200"/>
          </a:xfrm>
          <a:prstGeom prst="rect">
            <a:avLst/>
          </a:prstGeom>
          <a:noFill/>
          <a:ln/>
        </p:spPr>
        <p:txBody>
          <a:bodyPr wrap="square" lIns="0" tIns="0" rIns="0" bIns="0" rtlCol="0" anchor="t"/>
          <a:lstStyle/>
          <a:p>
            <a:pPr algn="ctr" indent="0" marL="0">
              <a:buNone/>
            </a:pPr>
            <a:r>
              <a:rPr lang="en-US" sz="1000" dirty="0">
                <a:solidFill>
                  <a:schemeClr val="accent6"/>
                </a:solidFill>
                <a:latin typeface="Courier New" pitchFamily="34" charset="0"/>
                <a:ea typeface="Courier New" pitchFamily="34" charset="-122"/>
                <a:cs typeface="Courier New" pitchFamily="34" charset="-120"/>
              </a:rPr>
              <a:t>task09_customer_form_filled.png</a:t>
            </a:r>
            <a:endParaRPr lang="en-US" sz="1000" dirty="0"/>
          </a:p>
        </p:txBody>
      </p:sp>
      <p:sp>
        <p:nvSpPr>
          <p:cNvPr id="7" name="Text 4"/>
          <p:cNvSpPr txBox="1"/>
          <p:nvPr/>
        </p:nvSpPr>
        <p:spPr>
          <a:xfrm>
            <a:off x="3474720" y="1737360"/>
            <a:ext cx="2286000" cy="640080"/>
          </a:xfrm>
          <a:prstGeom prst="rect">
            <a:avLst/>
          </a:prstGeom>
          <a:noFill/>
          <a:ln/>
        </p:spPr>
        <p:txBody>
          <a:bodyPr wrap="square" lIns="0" tIns="0" rIns="0" bIns="0" rtlCol="0" anchor="t"/>
          <a:lstStyle/>
          <a:p>
            <a:pPr indent="0" marL="0">
              <a:buNone/>
            </a:pPr>
            <a:r>
              <a:rPr lang="en-US" sz="1700" b="1" dirty="0">
                <a:solidFill>
                  <a:schemeClr val="tx1"/>
                </a:solidFill>
              </a:rPr>
              <a:t>Customer claim form</a:t>
            </a:r>
            <a:endParaRPr lang="en-US" sz="1700" dirty="0"/>
          </a:p>
        </p:txBody>
      </p:sp>
      <p:sp>
        <p:nvSpPr>
          <p:cNvPr id="8" name="Text 5"/>
          <p:cNvSpPr txBox="1"/>
          <p:nvPr/>
        </p:nvSpPr>
        <p:spPr>
          <a:xfrm>
            <a:off x="3474720" y="2468880"/>
            <a:ext cx="2286000" cy="1097280"/>
          </a:xfrm>
          <a:prstGeom prst="rect">
            <a:avLst/>
          </a:prstGeom>
          <a:noFill/>
          <a:ln/>
        </p:spPr>
        <p:txBody>
          <a:bodyPr wrap="square" lIns="0" tIns="0" rIns="0" bIns="0" rtlCol="0" anchor="t"/>
          <a:lstStyle/>
          <a:p>
            <a:pPr indent="0" marL="0">
              <a:buNone/>
            </a:pPr>
            <a:r>
              <a:rPr lang="en-US" sz="1400" dirty="0">
                <a:solidFill>
                  <a:schemeClr val="accent6"/>
                </a:solidFill>
              </a:rPr>
              <a:t>Submission portal with instant client validation</a:t>
            </a:r>
            <a:endParaRPr lang="en-US" sz="1400" dirty="0"/>
          </a:p>
        </p:txBody>
      </p:sp>
      <p:sp>
        <p:nvSpPr>
          <p:cNvPr id="9" name="Demo card Reviewer pending queue"/>
          <p:cNvSpPr/>
          <p:nvPr/>
        </p:nvSpPr>
        <p:spPr>
          <a:xfrm>
            <a:off x="6245352" y="1463040"/>
            <a:ext cx="5394960" cy="2286000"/>
          </a:xfrm>
          <a:prstGeom prst="roundRect">
            <a:avLst>
              <a:gd name="adj" fmla="val 4000"/>
            </a:avLst>
          </a:prstGeom>
          <a:solidFill>
            <a:schemeClr val="bg1"/>
          </a:solidFill>
          <a:ln/>
          <a:effectLst>
            <a:outerShdw sx="100000" sy="100000" kx="0" ky="0" algn="bl" rotWithShape="0" blurRad="101600" dist="25400" dir="5400000">
              <a:srgbClr val="000000">
                <a:alpha val="14000"/>
              </a:srgbClr>
            </a:outerShdw>
          </a:effectLst>
        </p:spPr>
      </p:sp>
      <p:sp>
        <p:nvSpPr>
          <p:cNvPr id="10" name="Screenshot frame Reviewer pending queue"/>
          <p:cNvSpPr/>
          <p:nvPr/>
        </p:nvSpPr>
        <p:spPr>
          <a:xfrm>
            <a:off x="6473952" y="1691640"/>
            <a:ext cx="2468880" cy="1828800"/>
          </a:xfrm>
          <a:prstGeom prst="roundRect">
            <a:avLst>
              <a:gd name="adj" fmla="val 4000"/>
            </a:avLst>
          </a:prstGeom>
          <a:solidFill>
            <a:schemeClr val="accent1">
              <a:alpha val="10000"/>
            </a:schemeClr>
          </a:solidFill>
          <a:ln w="12700">
            <a:solidFill>
              <a:schemeClr val="accent1"/>
            </a:solidFill>
            <a:prstDash val="dash"/>
          </a:ln>
        </p:spPr>
      </p:sp>
      <p:pic>
        <p:nvPicPr>
          <p:cNvPr id="11" name="Frame icon Reviewer pending queue" descr="Reviewer pending queue">    </p:cNvPr>
          <p:cNvPicPr>
            <a:picLocks noChangeAspect="1"/>
          </p:cNvPicPr>
          <p:nvPr/>
        </p:nvPicPr>
        <p:blipFill>
          <a:blip r:embed="rId2"/>
          <a:stretch>
            <a:fillRect/>
          </a:stretch>
        </p:blipFill>
        <p:spPr>
          <a:xfrm>
            <a:off x="7388352" y="2103120"/>
            <a:ext cx="640080" cy="640080"/>
          </a:xfrm>
          <a:prstGeom prst="rect">
            <a:avLst/>
          </a:prstGeom>
        </p:spPr>
      </p:pic>
      <p:sp>
        <p:nvSpPr>
          <p:cNvPr id="12" name="Text 8"/>
          <p:cNvSpPr txBox="1"/>
          <p:nvPr/>
        </p:nvSpPr>
        <p:spPr>
          <a:xfrm>
            <a:off x="6519672" y="2926080"/>
            <a:ext cx="2377440" cy="457200"/>
          </a:xfrm>
          <a:prstGeom prst="rect">
            <a:avLst/>
          </a:prstGeom>
          <a:noFill/>
          <a:ln/>
        </p:spPr>
        <p:txBody>
          <a:bodyPr wrap="square" lIns="0" tIns="0" rIns="0" bIns="0" rtlCol="0" anchor="t"/>
          <a:lstStyle/>
          <a:p>
            <a:pPr algn="ctr" indent="0" marL="0">
              <a:buNone/>
            </a:pPr>
            <a:r>
              <a:rPr lang="en-US" sz="1000" dirty="0">
                <a:solidFill>
                  <a:schemeClr val="accent6"/>
                </a:solidFill>
                <a:latin typeface="Courier New" pitchFamily="34" charset="0"/>
                <a:ea typeface="Courier New" pitchFamily="34" charset="-122"/>
                <a:cs typeface="Courier New" pitchFamily="34" charset="-120"/>
              </a:rPr>
              <a:t>task09_reviewer_pending_queue.png</a:t>
            </a:r>
            <a:endParaRPr lang="en-US" sz="1000" dirty="0"/>
          </a:p>
        </p:txBody>
      </p:sp>
      <p:sp>
        <p:nvSpPr>
          <p:cNvPr id="13" name="Text 9"/>
          <p:cNvSpPr txBox="1"/>
          <p:nvPr/>
        </p:nvSpPr>
        <p:spPr>
          <a:xfrm>
            <a:off x="9171432" y="1737360"/>
            <a:ext cx="2286000" cy="640080"/>
          </a:xfrm>
          <a:prstGeom prst="rect">
            <a:avLst/>
          </a:prstGeom>
          <a:noFill/>
          <a:ln/>
        </p:spPr>
        <p:txBody>
          <a:bodyPr wrap="square" lIns="0" tIns="0" rIns="0" bIns="0" rtlCol="0" anchor="t"/>
          <a:lstStyle/>
          <a:p>
            <a:pPr indent="0" marL="0">
              <a:buNone/>
            </a:pPr>
            <a:r>
              <a:rPr lang="en-US" sz="1700" b="1" dirty="0">
                <a:solidFill>
                  <a:schemeClr val="tx1"/>
                </a:solidFill>
              </a:rPr>
              <a:t>Reviewer pending queue</a:t>
            </a:r>
            <a:endParaRPr lang="en-US" sz="1700" dirty="0"/>
          </a:p>
        </p:txBody>
      </p:sp>
      <p:sp>
        <p:nvSpPr>
          <p:cNvPr id="14" name="Text 10"/>
          <p:cNvSpPr txBox="1"/>
          <p:nvPr/>
        </p:nvSpPr>
        <p:spPr>
          <a:xfrm>
            <a:off x="9171432" y="2468880"/>
            <a:ext cx="2286000" cy="1097280"/>
          </a:xfrm>
          <a:prstGeom prst="rect">
            <a:avLst/>
          </a:prstGeom>
          <a:noFill/>
          <a:ln/>
        </p:spPr>
        <p:txBody>
          <a:bodyPr wrap="square" lIns="0" tIns="0" rIns="0" bIns="0" rtlCol="0" anchor="t"/>
          <a:lstStyle/>
          <a:p>
            <a:pPr indent="0" marL="0">
              <a:buNone/>
            </a:pPr>
            <a:r>
              <a:rPr lang="en-US" sz="1400" dirty="0">
                <a:solidFill>
                  <a:schemeClr val="accent6"/>
                </a:solidFill>
              </a:rPr>
              <a:t>Live list of claims waiting for a decision</a:t>
            </a:r>
            <a:endParaRPr lang="en-US" sz="1400" dirty="0"/>
          </a:p>
        </p:txBody>
      </p:sp>
      <p:sp>
        <p:nvSpPr>
          <p:cNvPr id="15" name="Demo card Decision and rejection flow"/>
          <p:cNvSpPr/>
          <p:nvPr/>
        </p:nvSpPr>
        <p:spPr>
          <a:xfrm>
            <a:off x="548640" y="3931920"/>
            <a:ext cx="5394960" cy="2286000"/>
          </a:xfrm>
          <a:prstGeom prst="roundRect">
            <a:avLst>
              <a:gd name="adj" fmla="val 4000"/>
            </a:avLst>
          </a:prstGeom>
          <a:solidFill>
            <a:schemeClr val="bg1"/>
          </a:solidFill>
          <a:ln/>
          <a:effectLst>
            <a:outerShdw sx="100000" sy="100000" kx="0" ky="0" algn="bl" rotWithShape="0" blurRad="101600" dist="25400" dir="5400000">
              <a:srgbClr val="000000">
                <a:alpha val="14000"/>
              </a:srgbClr>
            </a:outerShdw>
          </a:effectLst>
        </p:spPr>
      </p:sp>
      <p:sp>
        <p:nvSpPr>
          <p:cNvPr id="16" name="Screenshot frame Decision and rejection flow"/>
          <p:cNvSpPr/>
          <p:nvPr/>
        </p:nvSpPr>
        <p:spPr>
          <a:xfrm>
            <a:off x="777240" y="4160520"/>
            <a:ext cx="2468880" cy="1828800"/>
          </a:xfrm>
          <a:prstGeom prst="roundRect">
            <a:avLst>
              <a:gd name="adj" fmla="val 4000"/>
            </a:avLst>
          </a:prstGeom>
          <a:solidFill>
            <a:schemeClr val="accent1">
              <a:alpha val="10000"/>
            </a:schemeClr>
          </a:solidFill>
          <a:ln w="12700">
            <a:solidFill>
              <a:schemeClr val="accent1"/>
            </a:solidFill>
            <a:prstDash val="dash"/>
          </a:ln>
        </p:spPr>
      </p:sp>
      <p:pic>
        <p:nvPicPr>
          <p:cNvPr id="17" name="Frame icon Decision and rejection flow" descr="Decision and rejection flow">    </p:cNvPr>
          <p:cNvPicPr>
            <a:picLocks noChangeAspect="1"/>
          </p:cNvPicPr>
          <p:nvPr/>
        </p:nvPicPr>
        <p:blipFill>
          <a:blip r:embed="rId3"/>
          <a:stretch>
            <a:fillRect/>
          </a:stretch>
        </p:blipFill>
        <p:spPr>
          <a:xfrm>
            <a:off x="1691640" y="4572000"/>
            <a:ext cx="640080" cy="640080"/>
          </a:xfrm>
          <a:prstGeom prst="rect">
            <a:avLst/>
          </a:prstGeom>
        </p:spPr>
      </p:pic>
      <p:sp>
        <p:nvSpPr>
          <p:cNvPr id="18" name="Text 13"/>
          <p:cNvSpPr txBox="1"/>
          <p:nvPr/>
        </p:nvSpPr>
        <p:spPr>
          <a:xfrm>
            <a:off x="822960" y="5394960"/>
            <a:ext cx="2377440" cy="457200"/>
          </a:xfrm>
          <a:prstGeom prst="rect">
            <a:avLst/>
          </a:prstGeom>
          <a:noFill/>
          <a:ln/>
        </p:spPr>
        <p:txBody>
          <a:bodyPr wrap="square" lIns="0" tIns="0" rIns="0" bIns="0" rtlCol="0" anchor="t"/>
          <a:lstStyle/>
          <a:p>
            <a:pPr algn="ctr" indent="0" marL="0">
              <a:buNone/>
            </a:pPr>
            <a:r>
              <a:rPr lang="en-US" sz="1000" dirty="0">
                <a:solidFill>
                  <a:schemeClr val="accent6"/>
                </a:solidFill>
                <a:latin typeface="Courier New" pitchFamily="34" charset="0"/>
                <a:ea typeface="Courier New" pitchFamily="34" charset="-122"/>
                <a:cs typeface="Courier New" pitchFamily="34" charset="-120"/>
              </a:rPr>
              <a:t>task09_reviewer_rejection_flow.png</a:t>
            </a:r>
            <a:endParaRPr lang="en-US" sz="1000" dirty="0"/>
          </a:p>
        </p:txBody>
      </p:sp>
      <p:sp>
        <p:nvSpPr>
          <p:cNvPr id="19" name="Text 14"/>
          <p:cNvSpPr txBox="1"/>
          <p:nvPr/>
        </p:nvSpPr>
        <p:spPr>
          <a:xfrm>
            <a:off x="3474720" y="4206240"/>
            <a:ext cx="2286000" cy="640080"/>
          </a:xfrm>
          <a:prstGeom prst="rect">
            <a:avLst/>
          </a:prstGeom>
          <a:noFill/>
          <a:ln/>
        </p:spPr>
        <p:txBody>
          <a:bodyPr wrap="square" lIns="0" tIns="0" rIns="0" bIns="0" rtlCol="0" anchor="t"/>
          <a:lstStyle/>
          <a:p>
            <a:pPr indent="0" marL="0">
              <a:buNone/>
            </a:pPr>
            <a:r>
              <a:rPr lang="en-US" sz="1700" b="1" dirty="0">
                <a:solidFill>
                  <a:schemeClr val="tx1"/>
                </a:solidFill>
              </a:rPr>
              <a:t>Decision and rejection flow</a:t>
            </a:r>
            <a:endParaRPr lang="en-US" sz="1700" dirty="0"/>
          </a:p>
        </p:txBody>
      </p:sp>
      <p:sp>
        <p:nvSpPr>
          <p:cNvPr id="20" name="Text 15"/>
          <p:cNvSpPr txBox="1"/>
          <p:nvPr/>
        </p:nvSpPr>
        <p:spPr>
          <a:xfrm>
            <a:off x="3474720" y="4937760"/>
            <a:ext cx="2286000" cy="1097280"/>
          </a:xfrm>
          <a:prstGeom prst="rect">
            <a:avLst/>
          </a:prstGeom>
          <a:noFill/>
          <a:ln/>
        </p:spPr>
        <p:txBody>
          <a:bodyPr wrap="square" lIns="0" tIns="0" rIns="0" bIns="0" rtlCol="0" anchor="t"/>
          <a:lstStyle/>
          <a:p>
            <a:pPr indent="0" marL="0">
              <a:buNone/>
            </a:pPr>
            <a:r>
              <a:rPr lang="en-US" sz="1400" dirty="0">
                <a:solidFill>
                  <a:schemeClr val="accent6"/>
                </a:solidFill>
              </a:rPr>
              <a:t>Reviewer must give a reason to reject a claim</a:t>
            </a:r>
            <a:endParaRPr lang="en-US" sz="1400" dirty="0"/>
          </a:p>
        </p:txBody>
      </p:sp>
      <p:sp>
        <p:nvSpPr>
          <p:cNvPr id="21" name="Demo card End-to-end verification"/>
          <p:cNvSpPr/>
          <p:nvPr/>
        </p:nvSpPr>
        <p:spPr>
          <a:xfrm>
            <a:off x="6245352" y="3931920"/>
            <a:ext cx="5394960" cy="2286000"/>
          </a:xfrm>
          <a:prstGeom prst="roundRect">
            <a:avLst>
              <a:gd name="adj" fmla="val 4000"/>
            </a:avLst>
          </a:prstGeom>
          <a:solidFill>
            <a:schemeClr val="bg1"/>
          </a:solidFill>
          <a:ln/>
          <a:effectLst>
            <a:outerShdw sx="100000" sy="100000" kx="0" ky="0" algn="bl" rotWithShape="0" blurRad="101600" dist="25400" dir="5400000">
              <a:srgbClr val="000000">
                <a:alpha val="14000"/>
              </a:srgbClr>
            </a:outerShdw>
          </a:effectLst>
        </p:spPr>
      </p:sp>
      <p:sp>
        <p:nvSpPr>
          <p:cNvPr id="22" name="Screenshot frame End-to-end verification"/>
          <p:cNvSpPr/>
          <p:nvPr/>
        </p:nvSpPr>
        <p:spPr>
          <a:xfrm>
            <a:off x="6473952" y="4160520"/>
            <a:ext cx="2468880" cy="1828800"/>
          </a:xfrm>
          <a:prstGeom prst="roundRect">
            <a:avLst>
              <a:gd name="adj" fmla="val 4000"/>
            </a:avLst>
          </a:prstGeom>
          <a:solidFill>
            <a:schemeClr val="accent1">
              <a:alpha val="10000"/>
            </a:schemeClr>
          </a:solidFill>
          <a:ln w="12700">
            <a:solidFill>
              <a:schemeClr val="accent1"/>
            </a:solidFill>
            <a:prstDash val="dash"/>
          </a:ln>
        </p:spPr>
      </p:sp>
      <p:pic>
        <p:nvPicPr>
          <p:cNvPr id="23" name="Frame icon End-to-end verification" descr="End-to-end verification">    </p:cNvPr>
          <p:cNvPicPr>
            <a:picLocks noChangeAspect="1"/>
          </p:cNvPicPr>
          <p:nvPr/>
        </p:nvPicPr>
        <p:blipFill>
          <a:blip r:embed="rId4"/>
          <a:stretch>
            <a:fillRect/>
          </a:stretch>
        </p:blipFill>
        <p:spPr>
          <a:xfrm>
            <a:off x="7388352" y="4572000"/>
            <a:ext cx="640080" cy="640080"/>
          </a:xfrm>
          <a:prstGeom prst="rect">
            <a:avLst/>
          </a:prstGeom>
        </p:spPr>
      </p:pic>
      <p:sp>
        <p:nvSpPr>
          <p:cNvPr id="24" name="Text 18"/>
          <p:cNvSpPr txBox="1"/>
          <p:nvPr/>
        </p:nvSpPr>
        <p:spPr>
          <a:xfrm>
            <a:off x="6519672" y="5394960"/>
            <a:ext cx="2377440" cy="457200"/>
          </a:xfrm>
          <a:prstGeom prst="rect">
            <a:avLst/>
          </a:prstGeom>
          <a:noFill/>
          <a:ln/>
        </p:spPr>
        <p:txBody>
          <a:bodyPr wrap="square" lIns="0" tIns="0" rIns="0" bIns="0" rtlCol="0" anchor="t"/>
          <a:lstStyle/>
          <a:p>
            <a:pPr algn="ctr" indent="0" marL="0">
              <a:buNone/>
            </a:pPr>
            <a:r>
              <a:rPr lang="en-US" sz="1000" dirty="0">
                <a:solidFill>
                  <a:schemeClr val="accent6"/>
                </a:solidFill>
                <a:latin typeface="Courier New" pitchFamily="34" charset="0"/>
                <a:ea typeface="Courier New" pitchFamily="34" charset="-122"/>
                <a:cs typeface="Courier New" pitchFamily="34" charset="-120"/>
              </a:rPr>
              <a:t>task15_end_to_end_verification.png</a:t>
            </a:r>
            <a:endParaRPr lang="en-US" sz="1000" dirty="0"/>
          </a:p>
        </p:txBody>
      </p:sp>
      <p:sp>
        <p:nvSpPr>
          <p:cNvPr id="25" name="Text 19"/>
          <p:cNvSpPr txBox="1"/>
          <p:nvPr/>
        </p:nvSpPr>
        <p:spPr>
          <a:xfrm>
            <a:off x="9171432" y="4206240"/>
            <a:ext cx="2286000" cy="640080"/>
          </a:xfrm>
          <a:prstGeom prst="rect">
            <a:avLst/>
          </a:prstGeom>
          <a:noFill/>
          <a:ln/>
        </p:spPr>
        <p:txBody>
          <a:bodyPr wrap="square" lIns="0" tIns="0" rIns="0" bIns="0" rtlCol="0" anchor="t"/>
          <a:lstStyle/>
          <a:p>
            <a:pPr indent="0" marL="0">
              <a:buNone/>
            </a:pPr>
            <a:r>
              <a:rPr lang="en-US" sz="1700" b="1" dirty="0">
                <a:solidFill>
                  <a:schemeClr val="tx1"/>
                </a:solidFill>
              </a:rPr>
              <a:t>End-to-end verification</a:t>
            </a:r>
            <a:endParaRPr lang="en-US" sz="1700" dirty="0"/>
          </a:p>
        </p:txBody>
      </p:sp>
      <p:sp>
        <p:nvSpPr>
          <p:cNvPr id="26" name="Text 20"/>
          <p:cNvSpPr txBox="1"/>
          <p:nvPr/>
        </p:nvSpPr>
        <p:spPr>
          <a:xfrm>
            <a:off x="9171432" y="4937760"/>
            <a:ext cx="2286000" cy="1097280"/>
          </a:xfrm>
          <a:prstGeom prst="rect">
            <a:avLst/>
          </a:prstGeom>
          <a:noFill/>
          <a:ln/>
        </p:spPr>
        <p:txBody>
          <a:bodyPr wrap="square" lIns="0" tIns="0" rIns="0" bIns="0" rtlCol="0" anchor="t"/>
          <a:lstStyle/>
          <a:p>
            <a:pPr indent="0" marL="0">
              <a:buNone/>
            </a:pPr>
            <a:r>
              <a:rPr lang="en-US" sz="1400" dirty="0">
                <a:solidFill>
                  <a:schemeClr val="accent6"/>
                </a:solidFill>
              </a:rPr>
              <a:t>All 15 tasks checked in one master summary</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68680"/>
          </a:xfrm>
          <a:prstGeom prst="rect">
            <a:avLst/>
          </a:prstGeom>
          <a:noFill/>
          <a:ln/>
        </p:spPr>
        <p:txBody>
          <a:bodyPr wrap="square" lIns="0" tIns="0" rIns="0" bIns="0" rtlCol="0" anchor="ctr"/>
          <a:lstStyle/>
          <a:p>
            <a:pPr indent="0" marL="0">
              <a:buNone/>
            </a:pPr>
            <a:r>
              <a:rPr lang="en-US" sz="3400" b="1" dirty="0">
                <a:solidFill>
                  <a:schemeClr val="bg1"/>
                </a:solidFill>
              </a:rPr>
              <a:t>Conclusion and future scope</a:t>
            </a:r>
            <a:endParaRPr lang="en-US" sz="3400" dirty="0"/>
          </a:p>
        </p:txBody>
      </p:sp>
      <p:sp>
        <p:nvSpPr>
          <p:cNvPr id="3" name="Icon What we achieved bg"/>
          <p:cNvSpPr/>
          <p:nvPr/>
        </p:nvSpPr>
        <p:spPr>
          <a:xfrm>
            <a:off x="548640" y="1508760"/>
            <a:ext cx="548640" cy="548640"/>
          </a:xfrm>
          <a:prstGeom prst="ellipse">
            <a:avLst/>
          </a:prstGeom>
          <a:solidFill>
            <a:schemeClr val="accent2"/>
          </a:solidFill>
          <a:ln/>
        </p:spPr>
      </p:sp>
      <p:pic>
        <p:nvPicPr>
          <p:cNvPr id="4" name="Icon What we achieved" descr="Icon What we achieved">    </p:cNvPr>
          <p:cNvPicPr>
            <a:picLocks noChangeAspect="1"/>
          </p:cNvPicPr>
          <p:nvPr/>
        </p:nvPicPr>
        <p:blipFill>
          <a:blip r:embed="rId1"/>
          <a:stretch>
            <a:fillRect/>
          </a:stretch>
        </p:blipFill>
        <p:spPr>
          <a:xfrm>
            <a:off x="691286" y="1651406"/>
            <a:ext cx="263347" cy="263347"/>
          </a:xfrm>
          <a:prstGeom prst="rect">
            <a:avLst/>
          </a:prstGeom>
        </p:spPr>
      </p:pic>
      <p:sp>
        <p:nvSpPr>
          <p:cNvPr id="5" name="Text 2"/>
          <p:cNvSpPr txBox="1"/>
          <p:nvPr/>
        </p:nvSpPr>
        <p:spPr>
          <a:xfrm>
            <a:off x="1280160" y="1508760"/>
            <a:ext cx="4389120" cy="548640"/>
          </a:xfrm>
          <a:prstGeom prst="rect">
            <a:avLst/>
          </a:prstGeom>
          <a:noFill/>
          <a:ln/>
        </p:spPr>
        <p:txBody>
          <a:bodyPr wrap="square" lIns="0" tIns="0" rIns="0" bIns="0" rtlCol="0" anchor="ctr"/>
          <a:lstStyle/>
          <a:p>
            <a:pPr indent="0" marL="0">
              <a:buNone/>
            </a:pPr>
            <a:r>
              <a:rPr lang="en-US" sz="2200" b="1" dirty="0">
                <a:solidFill>
                  <a:schemeClr val="bg1"/>
                </a:solidFill>
              </a:rPr>
              <a:t>What we achieved</a:t>
            </a:r>
            <a:endParaRPr lang="en-US" sz="2200" dirty="0"/>
          </a:p>
        </p:txBody>
      </p:sp>
      <p:sp>
        <p:nvSpPr>
          <p:cNvPr id="6" name="What we achieved item 1"/>
          <p:cNvSpPr/>
          <p:nvPr/>
        </p:nvSpPr>
        <p:spPr>
          <a:xfrm>
            <a:off x="548640" y="2286000"/>
            <a:ext cx="5394960" cy="1051560"/>
          </a:xfrm>
          <a:prstGeom prst="roundRect">
            <a:avLst>
              <a:gd name="adj" fmla="val 8696"/>
            </a:avLst>
          </a:prstGeom>
          <a:solidFill>
            <a:schemeClr val="bg1">
              <a:alpha val="10000"/>
            </a:schemeClr>
          </a:solidFill>
          <a:ln/>
        </p:spPr>
      </p:sp>
      <p:sp>
        <p:nvSpPr>
          <p:cNvPr id="7" name="Text 4"/>
          <p:cNvSpPr txBox="1"/>
          <p:nvPr/>
        </p:nvSpPr>
        <p:spPr>
          <a:xfrm>
            <a:off x="822960" y="2286000"/>
            <a:ext cx="4846320" cy="1051560"/>
          </a:xfrm>
          <a:prstGeom prst="rect">
            <a:avLst/>
          </a:prstGeom>
          <a:noFill/>
          <a:ln/>
        </p:spPr>
        <p:txBody>
          <a:bodyPr wrap="square" lIns="0" tIns="0" rIns="0" bIns="0" rtlCol="0" anchor="ctr"/>
          <a:lstStyle/>
          <a:p>
            <a:pPr indent="0" marL="0">
              <a:buNone/>
            </a:pPr>
            <a:r>
              <a:rPr lang="en-US" sz="1600" dirty="0">
                <a:solidFill>
                  <a:schemeClr val="bg1"/>
                </a:solidFill>
              </a:rPr>
              <a:t>All 15 DevOps tasks completed</a:t>
            </a:r>
            <a:endParaRPr lang="en-US" sz="1600" dirty="0"/>
          </a:p>
        </p:txBody>
      </p:sp>
      <p:sp>
        <p:nvSpPr>
          <p:cNvPr id="8" name="What we achieved item 2"/>
          <p:cNvSpPr/>
          <p:nvPr/>
        </p:nvSpPr>
        <p:spPr>
          <a:xfrm>
            <a:off x="548640" y="3611880"/>
            <a:ext cx="5394960" cy="1051560"/>
          </a:xfrm>
          <a:prstGeom prst="roundRect">
            <a:avLst>
              <a:gd name="adj" fmla="val 8696"/>
            </a:avLst>
          </a:prstGeom>
          <a:solidFill>
            <a:schemeClr val="bg1">
              <a:alpha val="10000"/>
            </a:schemeClr>
          </a:solidFill>
          <a:ln/>
        </p:spPr>
      </p:sp>
      <p:sp>
        <p:nvSpPr>
          <p:cNvPr id="9" name="Text 6"/>
          <p:cNvSpPr txBox="1"/>
          <p:nvPr/>
        </p:nvSpPr>
        <p:spPr>
          <a:xfrm>
            <a:off x="822960" y="3611880"/>
            <a:ext cx="4846320" cy="1051560"/>
          </a:xfrm>
          <a:prstGeom prst="rect">
            <a:avLst/>
          </a:prstGeom>
          <a:noFill/>
          <a:ln/>
        </p:spPr>
        <p:txBody>
          <a:bodyPr wrap="square" lIns="0" tIns="0" rIns="0" bIns="0" rtlCol="0" anchor="ctr"/>
          <a:lstStyle/>
          <a:p>
            <a:pPr indent="0" marL="0">
              <a:buNone/>
            </a:pPr>
            <a:r>
              <a:rPr lang="en-US" sz="1600" dirty="0">
                <a:solidFill>
                  <a:schemeClr val="bg1"/>
                </a:solidFill>
              </a:rPr>
              <a:t>A repeatable CI/CD pipeline from commit to deployment</a:t>
            </a:r>
            <a:endParaRPr lang="en-US" sz="1600" dirty="0"/>
          </a:p>
        </p:txBody>
      </p:sp>
      <p:sp>
        <p:nvSpPr>
          <p:cNvPr id="10" name="What we achieved item 3"/>
          <p:cNvSpPr/>
          <p:nvPr/>
        </p:nvSpPr>
        <p:spPr>
          <a:xfrm>
            <a:off x="548640" y="4937760"/>
            <a:ext cx="5394960" cy="1051560"/>
          </a:xfrm>
          <a:prstGeom prst="roundRect">
            <a:avLst>
              <a:gd name="adj" fmla="val 8696"/>
            </a:avLst>
          </a:prstGeom>
          <a:solidFill>
            <a:schemeClr val="bg1">
              <a:alpha val="10000"/>
            </a:schemeClr>
          </a:solidFill>
          <a:ln/>
        </p:spPr>
      </p:sp>
      <p:sp>
        <p:nvSpPr>
          <p:cNvPr id="11" name="Text 8"/>
          <p:cNvSpPr txBox="1"/>
          <p:nvPr/>
        </p:nvSpPr>
        <p:spPr>
          <a:xfrm>
            <a:off x="822960" y="4937760"/>
            <a:ext cx="4846320" cy="1051560"/>
          </a:xfrm>
          <a:prstGeom prst="rect">
            <a:avLst/>
          </a:prstGeom>
          <a:noFill/>
          <a:ln/>
        </p:spPr>
        <p:txBody>
          <a:bodyPr wrap="square" lIns="0" tIns="0" rIns="0" bIns="0" rtlCol="0" anchor="ctr"/>
          <a:lstStyle/>
          <a:p>
            <a:pPr indent="0" marL="0">
              <a:buNone/>
            </a:pPr>
            <a:r>
              <a:rPr lang="en-US" sz="1600" dirty="0">
                <a:solidFill>
                  <a:schemeClr val="bg1"/>
                </a:solidFill>
              </a:rPr>
              <a:t>Self-healing reliability with health checks and rollback</a:t>
            </a:r>
            <a:endParaRPr lang="en-US" sz="1600" dirty="0"/>
          </a:p>
        </p:txBody>
      </p:sp>
      <p:sp>
        <p:nvSpPr>
          <p:cNvPr id="12" name="Icon What comes next bg"/>
          <p:cNvSpPr/>
          <p:nvPr/>
        </p:nvSpPr>
        <p:spPr>
          <a:xfrm>
            <a:off x="6245352" y="1508760"/>
            <a:ext cx="548640" cy="548640"/>
          </a:xfrm>
          <a:prstGeom prst="ellipse">
            <a:avLst/>
          </a:prstGeom>
          <a:solidFill>
            <a:schemeClr val="accent1"/>
          </a:solidFill>
          <a:ln/>
        </p:spPr>
      </p:sp>
      <p:pic>
        <p:nvPicPr>
          <p:cNvPr id="13" name="Icon What comes next" descr="Icon What comes next">    </p:cNvPr>
          <p:cNvPicPr>
            <a:picLocks noChangeAspect="1"/>
          </p:cNvPicPr>
          <p:nvPr/>
        </p:nvPicPr>
        <p:blipFill>
          <a:blip r:embed="rId2"/>
          <a:stretch>
            <a:fillRect/>
          </a:stretch>
        </p:blipFill>
        <p:spPr>
          <a:xfrm>
            <a:off x="6387998" y="1651406"/>
            <a:ext cx="263347" cy="263347"/>
          </a:xfrm>
          <a:prstGeom prst="rect">
            <a:avLst/>
          </a:prstGeom>
        </p:spPr>
      </p:pic>
      <p:sp>
        <p:nvSpPr>
          <p:cNvPr id="14" name="Text 10"/>
          <p:cNvSpPr txBox="1"/>
          <p:nvPr/>
        </p:nvSpPr>
        <p:spPr>
          <a:xfrm>
            <a:off x="6976872" y="1508760"/>
            <a:ext cx="4389120" cy="548640"/>
          </a:xfrm>
          <a:prstGeom prst="rect">
            <a:avLst/>
          </a:prstGeom>
          <a:noFill/>
          <a:ln/>
        </p:spPr>
        <p:txBody>
          <a:bodyPr wrap="square" lIns="0" tIns="0" rIns="0" bIns="0" rtlCol="0" anchor="ctr"/>
          <a:lstStyle/>
          <a:p>
            <a:pPr indent="0" marL="0">
              <a:buNone/>
            </a:pPr>
            <a:r>
              <a:rPr lang="en-US" sz="2200" b="1" dirty="0">
                <a:solidFill>
                  <a:schemeClr val="bg1"/>
                </a:solidFill>
              </a:rPr>
              <a:t>What comes next</a:t>
            </a:r>
            <a:endParaRPr lang="en-US" sz="2200" dirty="0"/>
          </a:p>
        </p:txBody>
      </p:sp>
      <p:sp>
        <p:nvSpPr>
          <p:cNvPr id="15" name="What comes next item 1"/>
          <p:cNvSpPr/>
          <p:nvPr/>
        </p:nvSpPr>
        <p:spPr>
          <a:xfrm>
            <a:off x="6245352" y="2286000"/>
            <a:ext cx="5394960" cy="841248"/>
          </a:xfrm>
          <a:prstGeom prst="roundRect">
            <a:avLst>
              <a:gd name="adj" fmla="val 10870"/>
            </a:avLst>
          </a:prstGeom>
          <a:solidFill>
            <a:schemeClr val="bg1">
              <a:alpha val="10000"/>
            </a:schemeClr>
          </a:solidFill>
          <a:ln/>
        </p:spPr>
      </p:sp>
      <p:sp>
        <p:nvSpPr>
          <p:cNvPr id="16" name="Text 12"/>
          <p:cNvSpPr txBox="1"/>
          <p:nvPr/>
        </p:nvSpPr>
        <p:spPr>
          <a:xfrm>
            <a:off x="6519672" y="2286000"/>
            <a:ext cx="4846320" cy="841248"/>
          </a:xfrm>
          <a:prstGeom prst="rect">
            <a:avLst/>
          </a:prstGeom>
          <a:noFill/>
          <a:ln/>
        </p:spPr>
        <p:txBody>
          <a:bodyPr wrap="square" lIns="0" tIns="0" rIns="0" bIns="0" rtlCol="0" anchor="ctr"/>
          <a:lstStyle/>
          <a:p>
            <a:pPr indent="0" marL="0">
              <a:buNone/>
            </a:pPr>
            <a:r>
              <a:rPr lang="en-US" sz="1600" dirty="0">
                <a:solidFill>
                  <a:schemeClr val="bg1"/>
                </a:solidFill>
              </a:rPr>
              <a:t>Cloud deployment on AWS ECS, EKS or GKE</a:t>
            </a:r>
            <a:endParaRPr lang="en-US" sz="1600" dirty="0"/>
          </a:p>
        </p:txBody>
      </p:sp>
      <p:sp>
        <p:nvSpPr>
          <p:cNvPr id="17" name="What comes next item 2"/>
          <p:cNvSpPr/>
          <p:nvPr/>
        </p:nvSpPr>
        <p:spPr>
          <a:xfrm>
            <a:off x="6245352" y="3310128"/>
            <a:ext cx="5394960" cy="841248"/>
          </a:xfrm>
          <a:prstGeom prst="roundRect">
            <a:avLst>
              <a:gd name="adj" fmla="val 10870"/>
            </a:avLst>
          </a:prstGeom>
          <a:solidFill>
            <a:schemeClr val="bg1">
              <a:alpha val="10000"/>
            </a:schemeClr>
          </a:solidFill>
          <a:ln/>
        </p:spPr>
      </p:sp>
      <p:sp>
        <p:nvSpPr>
          <p:cNvPr id="18" name="Text 14"/>
          <p:cNvSpPr txBox="1"/>
          <p:nvPr/>
        </p:nvSpPr>
        <p:spPr>
          <a:xfrm>
            <a:off x="6519672" y="3310128"/>
            <a:ext cx="4846320" cy="841248"/>
          </a:xfrm>
          <a:prstGeom prst="rect">
            <a:avLst/>
          </a:prstGeom>
          <a:noFill/>
          <a:ln/>
        </p:spPr>
        <p:txBody>
          <a:bodyPr wrap="square" lIns="0" tIns="0" rIns="0" bIns="0" rtlCol="0" anchor="ctr"/>
          <a:lstStyle/>
          <a:p>
            <a:pPr indent="0" marL="0">
              <a:buNone/>
            </a:pPr>
            <a:r>
              <a:rPr lang="en-US" sz="1600" dirty="0">
                <a:solidFill>
                  <a:schemeClr val="bg1"/>
                </a:solidFill>
              </a:rPr>
              <a:t>Kubernetes with Helm charts and autoscaling</a:t>
            </a:r>
            <a:endParaRPr lang="en-US" sz="1600" dirty="0"/>
          </a:p>
        </p:txBody>
      </p:sp>
      <p:sp>
        <p:nvSpPr>
          <p:cNvPr id="19" name="What comes next item 3"/>
          <p:cNvSpPr/>
          <p:nvPr/>
        </p:nvSpPr>
        <p:spPr>
          <a:xfrm>
            <a:off x="6245352" y="4334256"/>
            <a:ext cx="5394960" cy="841248"/>
          </a:xfrm>
          <a:prstGeom prst="roundRect">
            <a:avLst>
              <a:gd name="adj" fmla="val 10870"/>
            </a:avLst>
          </a:prstGeom>
          <a:solidFill>
            <a:schemeClr val="bg1">
              <a:alpha val="10000"/>
            </a:schemeClr>
          </a:solidFill>
          <a:ln/>
        </p:spPr>
      </p:sp>
      <p:sp>
        <p:nvSpPr>
          <p:cNvPr id="20" name="Text 16"/>
          <p:cNvSpPr txBox="1"/>
          <p:nvPr/>
        </p:nvSpPr>
        <p:spPr>
          <a:xfrm>
            <a:off x="6519672" y="4334256"/>
            <a:ext cx="4846320" cy="841248"/>
          </a:xfrm>
          <a:prstGeom prst="rect">
            <a:avLst/>
          </a:prstGeom>
          <a:noFill/>
          <a:ln/>
        </p:spPr>
        <p:txBody>
          <a:bodyPr wrap="square" lIns="0" tIns="0" rIns="0" bIns="0" rtlCol="0" anchor="ctr"/>
          <a:lstStyle/>
          <a:p>
            <a:pPr indent="0" marL="0">
              <a:buNone/>
            </a:pPr>
            <a:r>
              <a:rPr lang="en-US" sz="1600" dirty="0">
                <a:solidFill>
                  <a:schemeClr val="bg1"/>
                </a:solidFill>
              </a:rPr>
              <a:t>Prometheus and Grafana for monitoring</a:t>
            </a:r>
            <a:endParaRPr lang="en-US" sz="1600" dirty="0"/>
          </a:p>
        </p:txBody>
      </p:sp>
      <p:sp>
        <p:nvSpPr>
          <p:cNvPr id="21" name="What comes next item 4"/>
          <p:cNvSpPr/>
          <p:nvPr/>
        </p:nvSpPr>
        <p:spPr>
          <a:xfrm>
            <a:off x="6245352" y="5358384"/>
            <a:ext cx="5394960" cy="841248"/>
          </a:xfrm>
          <a:prstGeom prst="roundRect">
            <a:avLst>
              <a:gd name="adj" fmla="val 10870"/>
            </a:avLst>
          </a:prstGeom>
          <a:solidFill>
            <a:schemeClr val="bg1">
              <a:alpha val="10000"/>
            </a:schemeClr>
          </a:solidFill>
          <a:ln/>
        </p:spPr>
      </p:sp>
      <p:sp>
        <p:nvSpPr>
          <p:cNvPr id="22" name="Text 18"/>
          <p:cNvSpPr txBox="1"/>
          <p:nvPr/>
        </p:nvSpPr>
        <p:spPr>
          <a:xfrm>
            <a:off x="6519672" y="5358384"/>
            <a:ext cx="4846320" cy="841248"/>
          </a:xfrm>
          <a:prstGeom prst="rect">
            <a:avLst/>
          </a:prstGeom>
          <a:noFill/>
          <a:ln/>
        </p:spPr>
        <p:txBody>
          <a:bodyPr wrap="square" lIns="0" tIns="0" rIns="0" bIns="0" rtlCol="0" anchor="ctr"/>
          <a:lstStyle/>
          <a:p>
            <a:pPr indent="0" marL="0">
              <a:buNone/>
            </a:pPr>
            <a:r>
              <a:rPr lang="en-US" sz="1600" dirty="0">
                <a:solidFill>
                  <a:schemeClr val="bg1"/>
                </a:solidFill>
              </a:rPr>
              <a:t>SonarQube and OWASP ZAP for DevSecOps</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pacer"/>
          <p:cNvSpPr/>
          <p:nvPr/>
        </p:nvSpPr>
        <p:spPr>
          <a:xfrm>
            <a:off x="274320" y="228600"/>
            <a:ext cx="9144" cy="9144"/>
          </a:xfrm>
          <a:prstGeom prst="ellipse">
            <a:avLst/>
          </a:prstGeom>
          <a:solidFill>
            <a:schemeClr val="tx1">
              <a:alpha val="0"/>
            </a:schemeClr>
          </a:solidFill>
          <a:ln/>
        </p:spPr>
      </p:sp>
      <p:sp>
        <p:nvSpPr>
          <p:cNvPr id="3" name="Text 1"/>
          <p:cNvSpPr/>
          <p:nvPr>
            <p:ph idx="101" type="title" hasCustomPrompt="1"/>
          </p:nvPr>
        </p:nvSpPr>
        <p:spPr>
          <a:xfrm>
            <a:off x="548640" y="365760"/>
            <a:ext cx="11091672" cy="868680"/>
          </a:xfrm>
          <a:prstGeom prst="rect">
            <a:avLst/>
          </a:prstGeom>
          <a:noFill/>
          <a:ln/>
        </p:spPr>
        <p:txBody>
          <a:bodyPr wrap="square" lIns="0" tIns="0" rIns="0" bIns="0" rtlCol="0" anchor="ctr"/>
          <a:lstStyle/>
          <a:p>
            <a:pPr indent="0" marL="0">
              <a:buNone/>
            </a:pPr>
            <a:r>
              <a:rPr lang="en-US" sz="3400" b="1" dirty="0">
                <a:solidFill>
                  <a:schemeClr val="bg1"/>
                </a:solidFill>
              </a:rPr>
              <a:t>Thank you</a:t>
            </a:r>
            <a:endParaRPr lang="en-US" sz="3400" dirty="0"/>
          </a:p>
        </p:txBody>
      </p:sp>
      <p:sp>
        <p:nvSpPr>
          <p:cNvPr id="4" name="Text 2"/>
          <p:cNvSpPr txBox="1"/>
          <p:nvPr/>
        </p:nvSpPr>
        <p:spPr>
          <a:xfrm>
            <a:off x="548640" y="2560320"/>
            <a:ext cx="5486400" cy="548640"/>
          </a:xfrm>
          <a:prstGeom prst="rect">
            <a:avLst/>
          </a:prstGeom>
          <a:noFill/>
          <a:ln/>
        </p:spPr>
        <p:txBody>
          <a:bodyPr wrap="square" lIns="0" tIns="0" rIns="0" bIns="0" rtlCol="0" anchor="t"/>
          <a:lstStyle/>
          <a:p>
            <a:pPr indent="0" marL="0">
              <a:buNone/>
            </a:pPr>
            <a:r>
              <a:rPr lang="en-US" sz="2600" b="1" dirty="0">
                <a:solidFill>
                  <a:schemeClr val="accent3"/>
                </a:solidFill>
              </a:rPr>
              <a:t>Questions and answers</a:t>
            </a:r>
            <a:endParaRPr lang="en-US" sz="2600" dirty="0"/>
          </a:p>
        </p:txBody>
      </p:sp>
      <p:sp>
        <p:nvSpPr>
          <p:cNvPr id="5" name="Text 3"/>
          <p:cNvSpPr txBox="1"/>
          <p:nvPr/>
        </p:nvSpPr>
        <p:spPr>
          <a:xfrm>
            <a:off x="548640" y="3657600"/>
            <a:ext cx="5669280" cy="1371600"/>
          </a:xfrm>
          <a:prstGeom prst="rect">
            <a:avLst/>
          </a:prstGeom>
          <a:noFill/>
          <a:ln/>
        </p:spPr>
        <p:txBody>
          <a:bodyPr wrap="square" lIns="0" tIns="0" rIns="0" bIns="0" rtlCol="0" anchor="t"/>
          <a:lstStyle/>
          <a:p>
            <a:pPr indent="0" marL="0">
              <a:spcAft>
                <a:spcPts val="800"/>
              </a:spcAft>
              <a:buNone/>
            </a:pPr>
            <a:r>
              <a:rPr lang="en-US" sz="1600" b="1" dirty="0">
                <a:solidFill>
                  <a:schemeClr val="bg1"/>
                </a:solidFill>
              </a:rPr>
              <a:t>Hasnain Khan  |  Roll No: 23102A0075  |  CMPN A</a:t>
            </a:r>
            <a:endParaRPr lang="en-US" sz="1600" dirty="0"/>
          </a:p>
          <a:p>
            <a:pPr indent="0" marL="0">
              <a:spcAft>
                <a:spcPts val="800"/>
              </a:spcAft>
              <a:buNone/>
            </a:pPr>
            <a:r>
              <a:rPr lang="en-US" sz="1600" dirty="0">
                <a:solidFill>
                  <a:schemeClr val="bg1"/>
                </a:solidFill>
              </a:rPr>
              <a:t>Faculty: Dr. Snehal Andhare</a:t>
            </a:r>
            <a:endParaRPr lang="en-US" sz="1600" dirty="0"/>
          </a:p>
          <a:p>
            <a:pPr indent="0" marL="0">
              <a:spcAft>
                <a:spcPts val="800"/>
              </a:spcAft>
              <a:buNone/>
            </a:pPr>
            <a:r>
              <a:rPr lang="en-US" sz="1600" dirty="0">
                <a:solidFill>
                  <a:schemeClr val="accent3"/>
                </a:solidFill>
              </a:rPr>
              <a:t>github.com/Hexecutionerr/travel-insurance-claim-system</a:t>
            </a:r>
            <a:endParaRPr lang="en-US" sz="1600" dirty="0"/>
          </a:p>
        </p:txBody>
      </p:sp>
      <p:sp>
        <p:nvSpPr>
          <p:cNvPr id="6" name="References card"/>
          <p:cNvSpPr/>
          <p:nvPr/>
        </p:nvSpPr>
        <p:spPr>
          <a:xfrm>
            <a:off x="6675120" y="1463040"/>
            <a:ext cx="4965192" cy="4480560"/>
          </a:xfrm>
          <a:prstGeom prst="roundRect">
            <a:avLst>
              <a:gd name="adj" fmla="val 2041"/>
            </a:avLst>
          </a:prstGeom>
          <a:solidFill>
            <a:schemeClr val="bg1">
              <a:alpha val="10000"/>
            </a:schemeClr>
          </a:solidFill>
          <a:ln/>
        </p:spPr>
      </p:sp>
      <p:sp>
        <p:nvSpPr>
          <p:cNvPr id="7" name="Text 5"/>
          <p:cNvSpPr txBox="1"/>
          <p:nvPr/>
        </p:nvSpPr>
        <p:spPr>
          <a:xfrm>
            <a:off x="6995160" y="1737360"/>
            <a:ext cx="4297680" cy="457200"/>
          </a:xfrm>
          <a:prstGeom prst="rect">
            <a:avLst/>
          </a:prstGeom>
          <a:noFill/>
          <a:ln/>
        </p:spPr>
        <p:txBody>
          <a:bodyPr wrap="square" lIns="0" tIns="0" rIns="0" bIns="0" rtlCol="0" anchor="t"/>
          <a:lstStyle/>
          <a:p>
            <a:pPr indent="0" marL="0">
              <a:buNone/>
            </a:pPr>
            <a:r>
              <a:rPr lang="en-US" sz="2200" b="1" dirty="0">
                <a:solidFill>
                  <a:schemeClr val="bg1"/>
                </a:solidFill>
              </a:rPr>
              <a:t>References</a:t>
            </a:r>
            <a:endParaRPr lang="en-US" sz="2200" dirty="0"/>
          </a:p>
        </p:txBody>
      </p:sp>
      <p:sp>
        <p:nvSpPr>
          <p:cNvPr id="8" name="Text 6"/>
          <p:cNvSpPr txBox="1"/>
          <p:nvPr/>
        </p:nvSpPr>
        <p:spPr>
          <a:xfrm>
            <a:off x="6995160" y="2423160"/>
            <a:ext cx="4389120" cy="3291840"/>
          </a:xfrm>
          <a:prstGeom prst="rect">
            <a:avLst/>
          </a:prstGeom>
          <a:noFill/>
          <a:ln/>
        </p:spPr>
        <p:txBody>
          <a:bodyPr wrap="square" lIns="0" tIns="0" rIns="0" bIns="0" rtlCol="0" anchor="t"/>
          <a:lstStyle/>
          <a:p>
            <a:pPr indent="0" marL="0">
              <a:spcAft>
                <a:spcPts val="1200"/>
              </a:spcAft>
              <a:buNone/>
            </a:pPr>
            <a:r>
              <a:rPr lang="en-US" sz="1500" b="1" dirty="0">
                <a:solidFill>
                  <a:schemeClr val="bg1"/>
                </a:solidFill>
              </a:rPr>
              <a:t>Spring Boot:  </a:t>
            </a:r>
            <a:pPr indent="0" marL="0">
              <a:spcAft>
                <a:spcPts val="1200"/>
              </a:spcAft>
              <a:buNone/>
            </a:pPr>
            <a:r>
              <a:rPr lang="en-US" sz="1500" dirty="0">
                <a:solidFill>
                  <a:schemeClr val="accent3"/>
                </a:solidFill>
              </a:rPr>
              <a:t>docs.spring.io</a:t>
            </a:r>
            <a:endParaRPr lang="en-US" sz="1500" dirty="0"/>
          </a:p>
          <a:p>
            <a:pPr indent="0" marL="0">
              <a:spcAft>
                <a:spcPts val="1200"/>
              </a:spcAft>
              <a:buNone/>
            </a:pPr>
            <a:r>
              <a:rPr lang="en-US" sz="1500" b="1" dirty="0">
                <a:solidFill>
                  <a:schemeClr val="bg1"/>
                </a:solidFill>
              </a:rPr>
              <a:t>Jenkins Pipeline:  </a:t>
            </a:r>
            <a:pPr indent="0" marL="0">
              <a:spcAft>
                <a:spcPts val="1200"/>
              </a:spcAft>
              <a:buNone/>
            </a:pPr>
            <a:r>
              <a:rPr lang="en-US" sz="1500" dirty="0">
                <a:solidFill>
                  <a:schemeClr val="accent3"/>
                </a:solidFill>
              </a:rPr>
              <a:t>jenkins.io/doc</a:t>
            </a:r>
            <a:endParaRPr lang="en-US" sz="1500" dirty="0"/>
          </a:p>
          <a:p>
            <a:pPr indent="0" marL="0">
              <a:spcAft>
                <a:spcPts val="1200"/>
              </a:spcAft>
              <a:buNone/>
            </a:pPr>
            <a:r>
              <a:rPr lang="en-US" sz="1500" b="1" dirty="0">
                <a:solidFill>
                  <a:schemeClr val="bg1"/>
                </a:solidFill>
              </a:rPr>
              <a:t>Selenium WebDriver:  </a:t>
            </a:r>
            <a:pPr indent="0" marL="0">
              <a:spcAft>
                <a:spcPts val="1200"/>
              </a:spcAft>
              <a:buNone/>
            </a:pPr>
            <a:r>
              <a:rPr lang="en-US" sz="1500" dirty="0">
                <a:solidFill>
                  <a:schemeClr val="accent3"/>
                </a:solidFill>
              </a:rPr>
              <a:t>selenium.dev</a:t>
            </a:r>
            <a:endParaRPr lang="en-US" sz="1500" dirty="0"/>
          </a:p>
          <a:p>
            <a:pPr indent="0" marL="0">
              <a:spcAft>
                <a:spcPts val="1200"/>
              </a:spcAft>
              <a:buNone/>
            </a:pPr>
            <a:r>
              <a:rPr lang="en-US" sz="1500" b="1" dirty="0">
                <a:solidFill>
                  <a:schemeClr val="bg1"/>
                </a:solidFill>
              </a:rPr>
              <a:t>Docker multi-stage builds:  </a:t>
            </a:r>
            <a:pPr indent="0" marL="0">
              <a:spcAft>
                <a:spcPts val="1200"/>
              </a:spcAft>
              <a:buNone/>
            </a:pPr>
            <a:r>
              <a:rPr lang="en-US" sz="1500" dirty="0">
                <a:solidFill>
                  <a:schemeClr val="accent3"/>
                </a:solidFill>
              </a:rPr>
              <a:t>docs.docker.com</a:t>
            </a:r>
            <a:endParaRPr lang="en-US" sz="1500" dirty="0"/>
          </a:p>
          <a:p>
            <a:pPr indent="0" marL="0">
              <a:spcAft>
                <a:spcPts val="1200"/>
              </a:spcAft>
              <a:buNone/>
            </a:pPr>
            <a:r>
              <a:rPr lang="en-US" sz="1500" b="1" dirty="0">
                <a:solidFill>
                  <a:schemeClr val="bg1"/>
                </a:solidFill>
              </a:rPr>
              <a:t>Ansible user guide:  </a:t>
            </a:r>
            <a:pPr indent="0" marL="0">
              <a:spcAft>
                <a:spcPts val="1200"/>
              </a:spcAft>
              <a:buNone/>
            </a:pPr>
            <a:r>
              <a:rPr lang="en-US" sz="1500" dirty="0">
                <a:solidFill>
                  <a:schemeClr val="accent3"/>
                </a:solidFill>
              </a:rPr>
              <a:t>docs.ansible.com</a:t>
            </a:r>
            <a:endParaRPr lang="en-US" sz="15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DevOps Navy">
  <a:themeElements>
    <a:clrScheme name="DevOps Navy">
      <a:dk1>
        <a:srgbClr val="0F172A"/>
      </a:dk1>
      <a:lt1>
        <a:srgbClr val="FFFFFF"/>
      </a:lt1>
      <a:dk2>
        <a:srgbClr val="1E293B"/>
      </a:dk2>
      <a:lt2>
        <a:srgbClr val="F1F5F9"/>
      </a:lt2>
      <a:accent1>
        <a:srgbClr val="2563EB"/>
      </a:accent1>
      <a:accent2>
        <a:srgbClr val="059669"/>
      </a:accent2>
      <a:accent3>
        <a:srgbClr val="60A5FA"/>
      </a:accent3>
      <a:accent4>
        <a:srgbClr val="DC2626"/>
      </a:accent4>
      <a:accent5>
        <a:srgbClr val="F59E0B"/>
      </a:accent5>
      <a:accent6>
        <a:srgbClr val="64748B"/>
      </a:accent6>
      <a:hlink>
        <a:srgbClr val="2563EB"/>
      </a:hlink>
      <a:folHlink>
        <a:srgbClr val="7C3AED"/>
      </a:folHlink>
    </a:clrScheme>
    <a:fontScheme name="DevOps Navy">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Travel Insurance Claim System - Automated DevOps CI/CD Lifecycle</dc:title>
  <dc:subject>PptxGenJS Presentation</dc:subject>
  <dc:creator>Hasnain Khan</dc:creator>
  <cp:lastModifiedBy>Hasnain Khan</cp:lastModifiedBy>
  <cp:revision>1</cp:revision>
  <dcterms:created xsi:type="dcterms:W3CDTF">2026-10-29T15:37:56Z</dcterms:created>
  <dcterms:modified xsi:type="dcterms:W3CDTF">2026-10-29T15:37:56Z</dcterms:modified>
</cp:coreProperties>
</file>